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 the panel. Introduce yourself, your guide and the project title: Micro-SIEM, a lightweight Security Information and Event Management system built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overview of what the presentation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SIEM in simple terms: collect logs from many places, look for attack patterns, alert the analyst. Commercial tools like Splunk and QRadar are costly and complex; Micro-SIEM shows the same idea in a small, explainable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problem with our solution. Emphasise 'explainable' – every rule is a few lines of Python that can be defended in the viva.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six objectives briefly.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what is included and what is intentionally left out – this shows realistic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each tool was chosen: all open-source and industry-standard; the security logic itself is our own Python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arrows left to right: log sources → Vector → OpenSearch → FastAPI detection engine → dashboards. The demo portal generates the web login and Nginx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six stages with one sentence each. Dashboards refresh every 3 seconds, so alerts appear almost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honest mapping: XSS is a web vulnerability class, not an ATT&amp;CK technique, so it is mapped to OWASP / CWE-79. Colours match the dashboard chart: red for brute force and XSS, blue for suspicious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actors. Role checks are enforced by the server: a viewer calling an admin action gets HTTP 403.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OpenSearch is a document store – JSON documents in indices instead of rows in tables. Three indices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portal is the attack target: login page (all attempts logged) and search page (intentionally reflects input, so XSS can be shown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stat tiles, login doughnut, live activity line chart, and attack vector bar chart – red for brute force / XSS, blue for suspicious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view lists alerts grouped by IP with MITRE ID. Blocking is designed but switched off – it shows a 'Coming Soon' pop-up and is part of future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the testing levels and the three live attack simulations. Eight real bugs were found and fixed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limitations shows understanding. Each one has a clear fix in future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the first two: enabling response actions (already built, switched off) and a password-spraying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in four points, then move to the live demo 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For the live demo: open the admin dashboard, then attack the demo portal from a phone – 6 wrong logins, then the correct one, then an XSS search – and show the alerts appearing.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457200" y="320040"/>
            <a:ext cx="960120" cy="960120"/>
          </a:xfrm>
          <a:prstGeom prst="roundRect">
            <a:avLst>
              <a:gd name="adj" fmla="val 7619"/>
            </a:avLst>
          </a:prstGeom>
          <a:solidFill>
            <a:srgbClr val="FFFFFF"/>
          </a:solidFill>
          <a:ln w="12700">
            <a:solidFill>
              <a:srgbClr val="FFFFFF"/>
            </a:solidFill>
            <a:prstDash val="solid"/>
          </a:ln>
        </p:spPr>
      </p:sp>
      <p:pic>
        <p:nvPicPr>
          <p:cNvPr id="3" name="Image 0" descr="/tmp/claude-1000/-home-rabbit-micro-siem/4a721168-31b6-4dc7-bbda-4fe2daea7bac/scratchpad/logos/word/media/image2.png">    </p:cNvPr>
          <p:cNvPicPr>
            <a:picLocks noChangeAspect="1"/>
          </p:cNvPicPr>
          <p:nvPr/>
        </p:nvPicPr>
        <p:blipFill>
          <a:blip r:embed="rId1"/>
          <a:srcRect l="0" r="0" t="0" b="0"/>
          <a:stretch/>
        </p:blipFill>
        <p:spPr>
          <a:xfrm>
            <a:off x="502920" y="475488"/>
            <a:ext cx="868680" cy="548640"/>
          </a:xfrm>
          <a:prstGeom prst="rect">
            <a:avLst/>
          </a:prstGeom>
        </p:spPr>
      </p:pic>
      <p:sp>
        <p:nvSpPr>
          <p:cNvPr id="4" name="Shape 1"/>
          <p:cNvSpPr/>
          <p:nvPr/>
        </p:nvSpPr>
        <p:spPr>
          <a:xfrm>
            <a:off x="7726680" y="320040"/>
            <a:ext cx="960120" cy="960120"/>
          </a:xfrm>
          <a:prstGeom prst="roundRect">
            <a:avLst>
              <a:gd name="adj" fmla="val 7619"/>
            </a:avLst>
          </a:prstGeom>
          <a:solidFill>
            <a:srgbClr val="FFFFFF"/>
          </a:solidFill>
          <a:ln w="12700">
            <a:solidFill>
              <a:srgbClr val="FFFFFF"/>
            </a:solidFill>
            <a:prstDash val="solid"/>
          </a:ln>
        </p:spPr>
      </p:sp>
      <p:pic>
        <p:nvPicPr>
          <p:cNvPr id="5" name="Image 1" descr="/tmp/claude-1000/-home-rabbit-micro-siem/4a721168-31b6-4dc7-bbda-4fe2daea7bac/scratchpad/logos/word/media/image1.jpeg">    </p:cNvPr>
          <p:cNvPicPr>
            <a:picLocks noChangeAspect="1"/>
          </p:cNvPicPr>
          <p:nvPr/>
        </p:nvPicPr>
        <p:blipFill>
          <a:blip r:embed="rId2"/>
          <a:srcRect l="0" r="0" t="0" b="0"/>
          <a:stretch/>
        </p:blipFill>
        <p:spPr>
          <a:xfrm>
            <a:off x="7818120" y="384048"/>
            <a:ext cx="777240" cy="822960"/>
          </a:xfrm>
          <a:prstGeom prst="rect">
            <a:avLst/>
          </a:prstGeom>
        </p:spPr>
      </p:pic>
      <p:sp>
        <p:nvSpPr>
          <p:cNvPr id="6" name="Text 2"/>
          <p:cNvSpPr txBox="1"/>
          <p:nvPr/>
        </p:nvSpPr>
        <p:spPr>
          <a:xfrm>
            <a:off x="1645920" y="411480"/>
            <a:ext cx="585216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Shree Swami Atmanand Saraswati Institute of Technology, Surat</a:t>
            </a:r>
            <a:endParaRPr lang="en-US" sz="1400" dirty="0"/>
          </a:p>
        </p:txBody>
      </p:sp>
      <p:sp>
        <p:nvSpPr>
          <p:cNvPr id="7" name="Text 3"/>
          <p:cNvSpPr txBox="1"/>
          <p:nvPr/>
        </p:nvSpPr>
        <p:spPr>
          <a:xfrm>
            <a:off x="1645920" y="731520"/>
            <a:ext cx="5852160" cy="274320"/>
          </a:xfrm>
          <a:prstGeom prst="rect">
            <a:avLst/>
          </a:prstGeom>
          <a:noFill/>
          <a:ln/>
        </p:spPr>
        <p:txBody>
          <a:bodyPr wrap="square" lIns="0" tIns="0" rIns="0" bIns="0" rtlCol="0" anchor="ctr"/>
          <a:lstStyle/>
          <a:p>
            <a:pPr algn="ctr" indent="0" marL="0">
              <a:buNone/>
            </a:pPr>
            <a:r>
              <a:rPr lang="en-US" sz="1100" dirty="0">
                <a:solidFill>
                  <a:srgbClr val="B8C7D6"/>
                </a:solidFill>
                <a:latin typeface="Calibri" pitchFamily="34" charset="0"/>
                <a:ea typeface="Calibri" pitchFamily="34" charset="-122"/>
                <a:cs typeface="Calibri" pitchFamily="34" charset="-120"/>
              </a:rPr>
              <a:t>Affiliated with Gujarat Technological University, Ahmedabad</a:t>
            </a:r>
            <a:endParaRPr lang="en-US" sz="1100" dirty="0"/>
          </a:p>
        </p:txBody>
      </p:sp>
      <p:sp>
        <p:nvSpPr>
          <p:cNvPr id="8" name="Text 4"/>
          <p:cNvSpPr txBox="1"/>
          <p:nvPr/>
        </p:nvSpPr>
        <p:spPr>
          <a:xfrm>
            <a:off x="457200" y="1508760"/>
            <a:ext cx="8229600" cy="731520"/>
          </a:xfrm>
          <a:prstGeom prst="rect">
            <a:avLst/>
          </a:prstGeom>
          <a:noFill/>
          <a:ln/>
        </p:spPr>
        <p:txBody>
          <a:bodyPr wrap="square" lIns="0" tIns="0" rIns="0" bIns="0" rtlCol="0" anchor="ctr"/>
          <a:lstStyle/>
          <a:p>
            <a:pPr algn="ctr" indent="0" marL="0">
              <a:buNone/>
            </a:pPr>
            <a:r>
              <a:rPr lang="en-US" sz="4800" b="1" spc="400" kern="0" dirty="0">
                <a:solidFill>
                  <a:srgbClr val="FFFFFF"/>
                </a:solidFill>
                <a:latin typeface="Cambria" pitchFamily="34" charset="0"/>
                <a:ea typeface="Cambria" pitchFamily="34" charset="-122"/>
                <a:cs typeface="Cambria" pitchFamily="34" charset="-120"/>
              </a:rPr>
              <a:t>MICRO-SIEM</a:t>
            </a:r>
            <a:endParaRPr lang="en-US" sz="4800" dirty="0"/>
          </a:p>
        </p:txBody>
      </p:sp>
      <p:sp>
        <p:nvSpPr>
          <p:cNvPr id="9" name="Text 5"/>
          <p:cNvSpPr txBox="1"/>
          <p:nvPr/>
        </p:nvSpPr>
        <p:spPr>
          <a:xfrm>
            <a:off x="457200" y="2240280"/>
            <a:ext cx="8229600" cy="411480"/>
          </a:xfrm>
          <a:prstGeom prst="rect">
            <a:avLst/>
          </a:prstGeom>
          <a:noFill/>
          <a:ln/>
        </p:spPr>
        <p:txBody>
          <a:bodyPr wrap="square" lIns="0" tIns="0" rIns="0" bIns="0" rtlCol="0" anchor="ctr"/>
          <a:lstStyle/>
          <a:p>
            <a:pPr algn="ctr" indent="0" marL="0">
              <a:buNone/>
            </a:pPr>
            <a:r>
              <a:rPr lang="en-US" sz="1800" i="1" dirty="0">
                <a:solidFill>
                  <a:srgbClr val="1FA2A6"/>
                </a:solidFill>
                <a:latin typeface="Calibri" pitchFamily="34" charset="0"/>
                <a:ea typeface="Calibri" pitchFamily="34" charset="-122"/>
                <a:cs typeface="Calibri" pitchFamily="34" charset="-120"/>
              </a:rPr>
              <a:t>A Lightweight Security Information and Event Management System</a:t>
            </a:r>
            <a:endParaRPr lang="en-US" sz="1800" dirty="0"/>
          </a:p>
        </p:txBody>
      </p:sp>
      <p:sp>
        <p:nvSpPr>
          <p:cNvPr id="10" name="Text 6"/>
          <p:cNvSpPr txBox="1"/>
          <p:nvPr/>
        </p:nvSpPr>
        <p:spPr>
          <a:xfrm>
            <a:off x="457200" y="2697480"/>
            <a:ext cx="8229600" cy="274320"/>
          </a:xfrm>
          <a:prstGeom prst="rect">
            <a:avLst/>
          </a:prstGeom>
          <a:noFill/>
          <a:ln/>
        </p:spPr>
        <p:txBody>
          <a:bodyPr wrap="square" lIns="0" tIns="0" rIns="0" bIns="0" rtlCol="0" anchor="ctr"/>
          <a:lstStyle/>
          <a:p>
            <a:pPr algn="ctr" indent="0" marL="0">
              <a:buNone/>
            </a:pPr>
            <a:r>
              <a:rPr lang="en-US" sz="1200" dirty="0">
                <a:solidFill>
                  <a:srgbClr val="B8C7D6"/>
                </a:solidFill>
                <a:latin typeface="Calibri" pitchFamily="34" charset="0"/>
                <a:ea typeface="Calibri" pitchFamily="34" charset="-122"/>
                <a:cs typeface="Calibri" pitchFamily="34" charset="-120"/>
              </a:rPr>
              <a:t>Minor Project (BC05001081)  •  BCA Semester V  •  Academic Year 2026-27</a:t>
            </a:r>
            <a:endParaRPr lang="en-US" sz="1200" dirty="0"/>
          </a:p>
        </p:txBody>
      </p:sp>
      <p:sp>
        <p:nvSpPr>
          <p:cNvPr id="11" name="Shape 7"/>
          <p:cNvSpPr/>
          <p:nvPr/>
        </p:nvSpPr>
        <p:spPr>
          <a:xfrm>
            <a:off x="1371600" y="3246120"/>
            <a:ext cx="2926080" cy="1097280"/>
          </a:xfrm>
          <a:prstGeom prst="roundRect">
            <a:avLst>
              <a:gd name="adj" fmla="val 6667"/>
            </a:avLst>
          </a:prstGeom>
          <a:solidFill>
            <a:srgbClr val="163452"/>
          </a:solidFill>
          <a:ln w="12700">
            <a:solidFill>
              <a:srgbClr val="163452"/>
            </a:solidFill>
            <a:prstDash val="solid"/>
          </a:ln>
        </p:spPr>
      </p:sp>
      <p:sp>
        <p:nvSpPr>
          <p:cNvPr id="12" name="Text 8"/>
          <p:cNvSpPr txBox="1"/>
          <p:nvPr/>
        </p:nvSpPr>
        <p:spPr>
          <a:xfrm>
            <a:off x="1463040" y="3291840"/>
            <a:ext cx="2743200" cy="1005840"/>
          </a:xfrm>
          <a:prstGeom prst="rect">
            <a:avLst/>
          </a:prstGeom>
          <a:noFill/>
          <a:ln/>
        </p:spPr>
        <p:txBody>
          <a:bodyPr wrap="square" lIns="0" tIns="0" rIns="0" bIns="0" rtlCol="0" anchor="ctr"/>
          <a:lstStyle/>
          <a:p>
            <a:pPr algn="ctr" indent="0" marL="0">
              <a:buNone/>
            </a:pPr>
            <a:r>
              <a:rPr lang="en-US" sz="1100" dirty="0">
                <a:solidFill>
                  <a:srgbClr val="B8C7D6"/>
                </a:solidFill>
                <a:latin typeface="Calibri" pitchFamily="34" charset="0"/>
                <a:ea typeface="Calibri" pitchFamily="34" charset="-122"/>
                <a:cs typeface="Calibri" pitchFamily="34" charset="-120"/>
              </a:rPr>
              <a:t>Submitted By</a:t>
            </a:r>
            <a:endParaRPr lang="en-US" sz="1100" dirty="0"/>
          </a:p>
          <a:p>
            <a:pPr algn="ctr" indent="0" marL="0">
              <a:buNone/>
            </a:pPr>
            <a:r>
              <a:rPr lang="en-US" sz="1600" b="1" dirty="0">
                <a:solidFill>
                  <a:srgbClr val="FFFFFF"/>
                </a:solidFill>
                <a:latin typeface="Calibri" pitchFamily="34" charset="0"/>
                <a:ea typeface="Calibri" pitchFamily="34" charset="-122"/>
                <a:cs typeface="Calibri" pitchFamily="34" charset="-120"/>
              </a:rPr>
              <a:t>Student Name</a:t>
            </a:r>
            <a:endParaRPr lang="en-US" sz="1100" dirty="0"/>
          </a:p>
          <a:p>
            <a:pPr algn="ctr" indent="0" marL="0">
              <a:buNone/>
            </a:pPr>
            <a:r>
              <a:rPr lang="en-US" sz="1200" dirty="0">
                <a:solidFill>
                  <a:srgbClr val="FFFFFF"/>
                </a:solidFill>
                <a:latin typeface="Calibri" pitchFamily="34" charset="0"/>
                <a:ea typeface="Calibri" pitchFamily="34" charset="-122"/>
                <a:cs typeface="Calibri" pitchFamily="34" charset="-120"/>
              </a:rPr>
              <a:t>(Enrollment No)</a:t>
            </a:r>
            <a:endParaRPr lang="en-US" sz="1100" dirty="0"/>
          </a:p>
        </p:txBody>
      </p:sp>
      <p:sp>
        <p:nvSpPr>
          <p:cNvPr id="13" name="Shape 9"/>
          <p:cNvSpPr/>
          <p:nvPr/>
        </p:nvSpPr>
        <p:spPr>
          <a:xfrm>
            <a:off x="4846320" y="3246120"/>
            <a:ext cx="2926080" cy="1097280"/>
          </a:xfrm>
          <a:prstGeom prst="roundRect">
            <a:avLst>
              <a:gd name="adj" fmla="val 6667"/>
            </a:avLst>
          </a:prstGeom>
          <a:solidFill>
            <a:srgbClr val="163452"/>
          </a:solidFill>
          <a:ln w="12700">
            <a:solidFill>
              <a:srgbClr val="163452"/>
            </a:solidFill>
            <a:prstDash val="solid"/>
          </a:ln>
        </p:spPr>
      </p:sp>
      <p:sp>
        <p:nvSpPr>
          <p:cNvPr id="14" name="Text 10"/>
          <p:cNvSpPr txBox="1"/>
          <p:nvPr/>
        </p:nvSpPr>
        <p:spPr>
          <a:xfrm>
            <a:off x="4937760" y="3291840"/>
            <a:ext cx="2743200" cy="1005840"/>
          </a:xfrm>
          <a:prstGeom prst="rect">
            <a:avLst/>
          </a:prstGeom>
          <a:noFill/>
          <a:ln/>
        </p:spPr>
        <p:txBody>
          <a:bodyPr wrap="square" lIns="0" tIns="0" rIns="0" bIns="0" rtlCol="0" anchor="ctr"/>
          <a:lstStyle/>
          <a:p>
            <a:pPr algn="ctr" indent="0" marL="0">
              <a:buNone/>
            </a:pPr>
            <a:r>
              <a:rPr lang="en-US" sz="1100" dirty="0">
                <a:solidFill>
                  <a:srgbClr val="B8C7D6"/>
                </a:solidFill>
                <a:latin typeface="Calibri" pitchFamily="34" charset="0"/>
                <a:ea typeface="Calibri" pitchFamily="34" charset="-122"/>
                <a:cs typeface="Calibri" pitchFamily="34" charset="-120"/>
              </a:rPr>
              <a:t>Under the Guidance of</a:t>
            </a:r>
            <a:endParaRPr lang="en-US" sz="1100" dirty="0"/>
          </a:p>
          <a:p>
            <a:pPr algn="ctr" indent="0" marL="0">
              <a:buNone/>
            </a:pPr>
            <a:r>
              <a:rPr lang="en-US" sz="1600" b="1" dirty="0">
                <a:solidFill>
                  <a:srgbClr val="FFFFFF"/>
                </a:solidFill>
                <a:latin typeface="Calibri" pitchFamily="34" charset="0"/>
                <a:ea typeface="Calibri" pitchFamily="34" charset="-122"/>
                <a:cs typeface="Calibri" pitchFamily="34" charset="-120"/>
              </a:rPr>
              <a:t>Internal Guide Name</a:t>
            </a:r>
            <a:endParaRPr lang="en-US" sz="1100" dirty="0"/>
          </a:p>
          <a:p>
            <a:pPr algn="ctr" indent="0" marL="0">
              <a:buNone/>
            </a:pPr>
            <a:r>
              <a:rPr lang="en-US" sz="1200" dirty="0">
                <a:solidFill>
                  <a:srgbClr val="FFFFFF"/>
                </a:solidFill>
                <a:latin typeface="Calibri" pitchFamily="34" charset="0"/>
                <a:ea typeface="Calibri" pitchFamily="34" charset="-122"/>
                <a:cs typeface="Calibri" pitchFamily="34" charset="-120"/>
              </a:rPr>
              <a:t>Department of BCA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Contents</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 / 20</a:t>
            </a:r>
            <a:endParaRPr lang="en-US" sz="900" dirty="0"/>
          </a:p>
        </p:txBody>
      </p:sp>
      <p:sp>
        <p:nvSpPr>
          <p:cNvPr id="6" name="Shape 3"/>
          <p:cNvSpPr/>
          <p:nvPr/>
        </p:nvSpPr>
        <p:spPr>
          <a:xfrm>
            <a:off x="640080" y="1051560"/>
            <a:ext cx="329184" cy="329184"/>
          </a:xfrm>
          <a:prstGeom prst="ellipse">
            <a:avLst/>
          </a:prstGeom>
          <a:solidFill>
            <a:srgbClr val="0B1F33"/>
          </a:solidFill>
          <a:ln w="12700">
            <a:solidFill>
              <a:srgbClr val="0B1F33"/>
            </a:solidFill>
            <a:prstDash val="solid"/>
          </a:ln>
        </p:spPr>
      </p:sp>
      <p:sp>
        <p:nvSpPr>
          <p:cNvPr id="7" name="Text 4"/>
          <p:cNvSpPr txBox="1"/>
          <p:nvPr/>
        </p:nvSpPr>
        <p:spPr>
          <a:xfrm>
            <a:off x="640080" y="10515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097280" y="1051560"/>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Introduction</a:t>
            </a:r>
            <a:endParaRPr lang="en-US" sz="1500" dirty="0"/>
          </a:p>
        </p:txBody>
      </p:sp>
      <p:sp>
        <p:nvSpPr>
          <p:cNvPr id="9" name="Shape 6"/>
          <p:cNvSpPr/>
          <p:nvPr/>
        </p:nvSpPr>
        <p:spPr>
          <a:xfrm>
            <a:off x="640080" y="1499616"/>
            <a:ext cx="329184" cy="329184"/>
          </a:xfrm>
          <a:prstGeom prst="ellipse">
            <a:avLst/>
          </a:prstGeom>
          <a:solidFill>
            <a:srgbClr val="1FA2A6"/>
          </a:solidFill>
          <a:ln w="12700">
            <a:solidFill>
              <a:srgbClr val="1FA2A6"/>
            </a:solidFill>
            <a:prstDash val="solid"/>
          </a:ln>
        </p:spPr>
      </p:sp>
      <p:sp>
        <p:nvSpPr>
          <p:cNvPr id="10" name="Text 7"/>
          <p:cNvSpPr txBox="1"/>
          <p:nvPr/>
        </p:nvSpPr>
        <p:spPr>
          <a:xfrm>
            <a:off x="640080" y="14996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1097280" y="1499616"/>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Problem Statement</a:t>
            </a:r>
            <a:endParaRPr lang="en-US" sz="1500" dirty="0"/>
          </a:p>
        </p:txBody>
      </p:sp>
      <p:sp>
        <p:nvSpPr>
          <p:cNvPr id="12" name="Shape 9"/>
          <p:cNvSpPr/>
          <p:nvPr/>
        </p:nvSpPr>
        <p:spPr>
          <a:xfrm>
            <a:off x="640080" y="1947672"/>
            <a:ext cx="329184" cy="329184"/>
          </a:xfrm>
          <a:prstGeom prst="ellipse">
            <a:avLst/>
          </a:prstGeom>
          <a:solidFill>
            <a:srgbClr val="0B1F33"/>
          </a:solidFill>
          <a:ln w="12700">
            <a:solidFill>
              <a:srgbClr val="0B1F33"/>
            </a:solidFill>
            <a:prstDash val="solid"/>
          </a:ln>
        </p:spPr>
      </p:sp>
      <p:sp>
        <p:nvSpPr>
          <p:cNvPr id="13" name="Text 10"/>
          <p:cNvSpPr txBox="1"/>
          <p:nvPr/>
        </p:nvSpPr>
        <p:spPr>
          <a:xfrm>
            <a:off x="640080" y="1947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1"/>
          <p:cNvSpPr txBox="1"/>
          <p:nvPr/>
        </p:nvSpPr>
        <p:spPr>
          <a:xfrm>
            <a:off x="1097280" y="1947672"/>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Objectives</a:t>
            </a:r>
            <a:endParaRPr lang="en-US" sz="1500" dirty="0"/>
          </a:p>
        </p:txBody>
      </p:sp>
      <p:sp>
        <p:nvSpPr>
          <p:cNvPr id="15" name="Shape 12"/>
          <p:cNvSpPr/>
          <p:nvPr/>
        </p:nvSpPr>
        <p:spPr>
          <a:xfrm>
            <a:off x="640080" y="2395728"/>
            <a:ext cx="329184" cy="329184"/>
          </a:xfrm>
          <a:prstGeom prst="ellipse">
            <a:avLst/>
          </a:prstGeom>
          <a:solidFill>
            <a:srgbClr val="1FA2A6"/>
          </a:solidFill>
          <a:ln w="12700">
            <a:solidFill>
              <a:srgbClr val="1FA2A6"/>
            </a:solidFill>
            <a:prstDash val="solid"/>
          </a:ln>
        </p:spPr>
      </p:sp>
      <p:sp>
        <p:nvSpPr>
          <p:cNvPr id="16" name="Text 13"/>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4"/>
          <p:cNvSpPr txBox="1"/>
          <p:nvPr/>
        </p:nvSpPr>
        <p:spPr>
          <a:xfrm>
            <a:off x="1097280" y="2395728"/>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Scope</a:t>
            </a:r>
            <a:endParaRPr lang="en-US" sz="1500" dirty="0"/>
          </a:p>
        </p:txBody>
      </p:sp>
      <p:sp>
        <p:nvSpPr>
          <p:cNvPr id="18" name="Shape 15"/>
          <p:cNvSpPr/>
          <p:nvPr/>
        </p:nvSpPr>
        <p:spPr>
          <a:xfrm>
            <a:off x="640080" y="2843784"/>
            <a:ext cx="329184" cy="329184"/>
          </a:xfrm>
          <a:prstGeom prst="ellipse">
            <a:avLst/>
          </a:prstGeom>
          <a:solidFill>
            <a:srgbClr val="0B1F33"/>
          </a:solidFill>
          <a:ln w="12700">
            <a:solidFill>
              <a:srgbClr val="0B1F33"/>
            </a:solidFill>
            <a:prstDash val="solid"/>
          </a:ln>
        </p:spPr>
      </p:sp>
      <p:sp>
        <p:nvSpPr>
          <p:cNvPr id="19" name="Text 16"/>
          <p:cNvSpPr txBox="1"/>
          <p:nvPr/>
        </p:nvSpPr>
        <p:spPr>
          <a:xfrm>
            <a:off x="640080" y="2843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0" name="Text 17"/>
          <p:cNvSpPr txBox="1"/>
          <p:nvPr/>
        </p:nvSpPr>
        <p:spPr>
          <a:xfrm>
            <a:off x="1097280" y="2843784"/>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Technology Stack</a:t>
            </a:r>
            <a:endParaRPr lang="en-US" sz="1500" dirty="0"/>
          </a:p>
        </p:txBody>
      </p:sp>
      <p:sp>
        <p:nvSpPr>
          <p:cNvPr id="21" name="Shape 18"/>
          <p:cNvSpPr/>
          <p:nvPr/>
        </p:nvSpPr>
        <p:spPr>
          <a:xfrm>
            <a:off x="640080" y="3291840"/>
            <a:ext cx="329184" cy="329184"/>
          </a:xfrm>
          <a:prstGeom prst="ellipse">
            <a:avLst/>
          </a:prstGeom>
          <a:solidFill>
            <a:srgbClr val="1FA2A6"/>
          </a:solidFill>
          <a:ln w="12700">
            <a:solidFill>
              <a:srgbClr val="1FA2A6"/>
            </a:solidFill>
            <a:prstDash val="solid"/>
          </a:ln>
        </p:spPr>
      </p:sp>
      <p:sp>
        <p:nvSpPr>
          <p:cNvPr id="22" name="Text 19"/>
          <p:cNvSpPr txBox="1"/>
          <p:nvPr/>
        </p:nvSpPr>
        <p:spPr>
          <a:xfrm>
            <a:off x="640080" y="3291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3" name="Text 20"/>
          <p:cNvSpPr txBox="1"/>
          <p:nvPr/>
        </p:nvSpPr>
        <p:spPr>
          <a:xfrm>
            <a:off x="1097280" y="3291840"/>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System Architecture</a:t>
            </a:r>
            <a:endParaRPr lang="en-US" sz="1500" dirty="0"/>
          </a:p>
        </p:txBody>
      </p:sp>
      <p:sp>
        <p:nvSpPr>
          <p:cNvPr id="24" name="Shape 21"/>
          <p:cNvSpPr/>
          <p:nvPr/>
        </p:nvSpPr>
        <p:spPr>
          <a:xfrm>
            <a:off x="640080" y="3739896"/>
            <a:ext cx="329184" cy="329184"/>
          </a:xfrm>
          <a:prstGeom prst="ellipse">
            <a:avLst/>
          </a:prstGeom>
          <a:solidFill>
            <a:srgbClr val="0B1F33"/>
          </a:solidFill>
          <a:ln w="12700">
            <a:solidFill>
              <a:srgbClr val="0B1F33"/>
            </a:solidFill>
            <a:prstDash val="solid"/>
          </a:ln>
        </p:spPr>
      </p:sp>
      <p:sp>
        <p:nvSpPr>
          <p:cNvPr id="25" name="Text 22"/>
          <p:cNvSpPr txBox="1"/>
          <p:nvPr/>
        </p:nvSpPr>
        <p:spPr>
          <a:xfrm>
            <a:off x="640080" y="3739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26" name="Text 23"/>
          <p:cNvSpPr txBox="1"/>
          <p:nvPr/>
        </p:nvSpPr>
        <p:spPr>
          <a:xfrm>
            <a:off x="1097280" y="3739896"/>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Working Flow</a:t>
            </a:r>
            <a:endParaRPr lang="en-US" sz="1500" dirty="0"/>
          </a:p>
        </p:txBody>
      </p:sp>
      <p:sp>
        <p:nvSpPr>
          <p:cNvPr id="27" name="Shape 24"/>
          <p:cNvSpPr/>
          <p:nvPr/>
        </p:nvSpPr>
        <p:spPr>
          <a:xfrm>
            <a:off x="640080" y="4187952"/>
            <a:ext cx="329184" cy="329184"/>
          </a:xfrm>
          <a:prstGeom prst="ellipse">
            <a:avLst/>
          </a:prstGeom>
          <a:solidFill>
            <a:srgbClr val="1FA2A6"/>
          </a:solidFill>
          <a:ln w="12700">
            <a:solidFill>
              <a:srgbClr val="1FA2A6"/>
            </a:solidFill>
            <a:prstDash val="solid"/>
          </a:ln>
        </p:spPr>
      </p:sp>
      <p:sp>
        <p:nvSpPr>
          <p:cNvPr id="28" name="Text 25"/>
          <p:cNvSpPr txBox="1"/>
          <p:nvPr/>
        </p:nvSpPr>
        <p:spPr>
          <a:xfrm>
            <a:off x="640080" y="41879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29" name="Text 26"/>
          <p:cNvSpPr txBox="1"/>
          <p:nvPr/>
        </p:nvSpPr>
        <p:spPr>
          <a:xfrm>
            <a:off x="1097280" y="4187952"/>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Detection Rules</a:t>
            </a:r>
            <a:endParaRPr lang="en-US" sz="1500" dirty="0"/>
          </a:p>
        </p:txBody>
      </p:sp>
      <p:sp>
        <p:nvSpPr>
          <p:cNvPr id="30" name="Shape 27"/>
          <p:cNvSpPr/>
          <p:nvPr/>
        </p:nvSpPr>
        <p:spPr>
          <a:xfrm>
            <a:off x="4754880" y="1051560"/>
            <a:ext cx="329184" cy="329184"/>
          </a:xfrm>
          <a:prstGeom prst="ellipse">
            <a:avLst/>
          </a:prstGeom>
          <a:solidFill>
            <a:srgbClr val="0B1F33"/>
          </a:solidFill>
          <a:ln w="12700">
            <a:solidFill>
              <a:srgbClr val="0B1F33"/>
            </a:solidFill>
            <a:prstDash val="solid"/>
          </a:ln>
        </p:spPr>
      </p:sp>
      <p:sp>
        <p:nvSpPr>
          <p:cNvPr id="31" name="Text 28"/>
          <p:cNvSpPr txBox="1"/>
          <p:nvPr/>
        </p:nvSpPr>
        <p:spPr>
          <a:xfrm>
            <a:off x="4754880" y="10515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2" name="Text 29"/>
          <p:cNvSpPr txBox="1"/>
          <p:nvPr/>
        </p:nvSpPr>
        <p:spPr>
          <a:xfrm>
            <a:off x="5212080" y="1051560"/>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Actors &amp; Use Cases</a:t>
            </a:r>
            <a:endParaRPr lang="en-US" sz="1500" dirty="0"/>
          </a:p>
        </p:txBody>
      </p:sp>
      <p:sp>
        <p:nvSpPr>
          <p:cNvPr id="33" name="Shape 30"/>
          <p:cNvSpPr/>
          <p:nvPr/>
        </p:nvSpPr>
        <p:spPr>
          <a:xfrm>
            <a:off x="4754880" y="1499616"/>
            <a:ext cx="329184" cy="329184"/>
          </a:xfrm>
          <a:prstGeom prst="ellipse">
            <a:avLst/>
          </a:prstGeom>
          <a:solidFill>
            <a:srgbClr val="1FA2A6"/>
          </a:solidFill>
          <a:ln w="12700">
            <a:solidFill>
              <a:srgbClr val="1FA2A6"/>
            </a:solidFill>
            <a:prstDash val="solid"/>
          </a:ln>
        </p:spPr>
      </p:sp>
      <p:sp>
        <p:nvSpPr>
          <p:cNvPr id="34" name="Text 31"/>
          <p:cNvSpPr txBox="1"/>
          <p:nvPr/>
        </p:nvSpPr>
        <p:spPr>
          <a:xfrm>
            <a:off x="4754880" y="14996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35" name="Text 32"/>
          <p:cNvSpPr txBox="1"/>
          <p:nvPr/>
        </p:nvSpPr>
        <p:spPr>
          <a:xfrm>
            <a:off x="5212080" y="1499616"/>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Database Design</a:t>
            </a:r>
            <a:endParaRPr lang="en-US" sz="1500" dirty="0"/>
          </a:p>
        </p:txBody>
      </p:sp>
      <p:sp>
        <p:nvSpPr>
          <p:cNvPr id="36" name="Shape 33"/>
          <p:cNvSpPr/>
          <p:nvPr/>
        </p:nvSpPr>
        <p:spPr>
          <a:xfrm>
            <a:off x="4754880" y="1947672"/>
            <a:ext cx="329184" cy="329184"/>
          </a:xfrm>
          <a:prstGeom prst="ellipse">
            <a:avLst/>
          </a:prstGeom>
          <a:solidFill>
            <a:srgbClr val="0B1F33"/>
          </a:solidFill>
          <a:ln w="12700">
            <a:solidFill>
              <a:srgbClr val="0B1F33"/>
            </a:solidFill>
            <a:prstDash val="solid"/>
          </a:ln>
        </p:spPr>
      </p:sp>
      <p:sp>
        <p:nvSpPr>
          <p:cNvPr id="37" name="Text 34"/>
          <p:cNvSpPr txBox="1"/>
          <p:nvPr/>
        </p:nvSpPr>
        <p:spPr>
          <a:xfrm>
            <a:off x="4754880" y="1947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38" name="Text 35"/>
          <p:cNvSpPr txBox="1"/>
          <p:nvPr/>
        </p:nvSpPr>
        <p:spPr>
          <a:xfrm>
            <a:off x="5212080" y="1947672"/>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Screenshots</a:t>
            </a:r>
            <a:endParaRPr lang="en-US" sz="1500" dirty="0"/>
          </a:p>
        </p:txBody>
      </p:sp>
      <p:sp>
        <p:nvSpPr>
          <p:cNvPr id="39" name="Shape 36"/>
          <p:cNvSpPr/>
          <p:nvPr/>
        </p:nvSpPr>
        <p:spPr>
          <a:xfrm>
            <a:off x="4754880" y="2395728"/>
            <a:ext cx="329184" cy="329184"/>
          </a:xfrm>
          <a:prstGeom prst="ellipse">
            <a:avLst/>
          </a:prstGeom>
          <a:solidFill>
            <a:srgbClr val="1FA2A6"/>
          </a:solidFill>
          <a:ln w="12700">
            <a:solidFill>
              <a:srgbClr val="1FA2A6"/>
            </a:solidFill>
            <a:prstDash val="solid"/>
          </a:ln>
        </p:spPr>
      </p:sp>
      <p:sp>
        <p:nvSpPr>
          <p:cNvPr id="40" name="Text 37"/>
          <p:cNvSpPr txBox="1"/>
          <p:nvPr/>
        </p:nvSpPr>
        <p:spPr>
          <a:xfrm>
            <a:off x="4754880" y="23957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1" name="Text 38"/>
          <p:cNvSpPr txBox="1"/>
          <p:nvPr/>
        </p:nvSpPr>
        <p:spPr>
          <a:xfrm>
            <a:off x="5212080" y="2395728"/>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Testing</a:t>
            </a:r>
            <a:endParaRPr lang="en-US" sz="1500" dirty="0"/>
          </a:p>
        </p:txBody>
      </p:sp>
      <p:sp>
        <p:nvSpPr>
          <p:cNvPr id="42" name="Shape 39"/>
          <p:cNvSpPr/>
          <p:nvPr/>
        </p:nvSpPr>
        <p:spPr>
          <a:xfrm>
            <a:off x="4754880" y="2843784"/>
            <a:ext cx="329184" cy="329184"/>
          </a:xfrm>
          <a:prstGeom prst="ellipse">
            <a:avLst/>
          </a:prstGeom>
          <a:solidFill>
            <a:srgbClr val="0B1F33"/>
          </a:solidFill>
          <a:ln w="12700">
            <a:solidFill>
              <a:srgbClr val="0B1F33"/>
            </a:solidFill>
            <a:prstDash val="solid"/>
          </a:ln>
        </p:spPr>
      </p:sp>
      <p:sp>
        <p:nvSpPr>
          <p:cNvPr id="43" name="Text 40"/>
          <p:cNvSpPr txBox="1"/>
          <p:nvPr/>
        </p:nvSpPr>
        <p:spPr>
          <a:xfrm>
            <a:off x="4754880" y="2843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4" name="Text 41"/>
          <p:cNvSpPr txBox="1"/>
          <p:nvPr/>
        </p:nvSpPr>
        <p:spPr>
          <a:xfrm>
            <a:off x="5212080" y="2843784"/>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Limitations</a:t>
            </a:r>
            <a:endParaRPr lang="en-US" sz="1500" dirty="0"/>
          </a:p>
        </p:txBody>
      </p:sp>
      <p:sp>
        <p:nvSpPr>
          <p:cNvPr id="45" name="Shape 42"/>
          <p:cNvSpPr/>
          <p:nvPr/>
        </p:nvSpPr>
        <p:spPr>
          <a:xfrm>
            <a:off x="4754880" y="3291840"/>
            <a:ext cx="329184" cy="329184"/>
          </a:xfrm>
          <a:prstGeom prst="ellipse">
            <a:avLst/>
          </a:prstGeom>
          <a:solidFill>
            <a:srgbClr val="1FA2A6"/>
          </a:solidFill>
          <a:ln w="12700">
            <a:solidFill>
              <a:srgbClr val="1FA2A6"/>
            </a:solidFill>
            <a:prstDash val="solid"/>
          </a:ln>
        </p:spPr>
      </p:sp>
      <p:sp>
        <p:nvSpPr>
          <p:cNvPr id="46" name="Text 43"/>
          <p:cNvSpPr txBox="1"/>
          <p:nvPr/>
        </p:nvSpPr>
        <p:spPr>
          <a:xfrm>
            <a:off x="4754880" y="3291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7" name="Text 44"/>
          <p:cNvSpPr txBox="1"/>
          <p:nvPr/>
        </p:nvSpPr>
        <p:spPr>
          <a:xfrm>
            <a:off x="5212080" y="3291840"/>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Future Scope</a:t>
            </a:r>
            <a:endParaRPr lang="en-US" sz="1500" dirty="0"/>
          </a:p>
        </p:txBody>
      </p:sp>
      <p:sp>
        <p:nvSpPr>
          <p:cNvPr id="48" name="Shape 45"/>
          <p:cNvSpPr/>
          <p:nvPr/>
        </p:nvSpPr>
        <p:spPr>
          <a:xfrm>
            <a:off x="4754880" y="3739896"/>
            <a:ext cx="329184" cy="329184"/>
          </a:xfrm>
          <a:prstGeom prst="ellipse">
            <a:avLst/>
          </a:prstGeom>
          <a:solidFill>
            <a:srgbClr val="0B1F33"/>
          </a:solidFill>
          <a:ln w="12700">
            <a:solidFill>
              <a:srgbClr val="0B1F33"/>
            </a:solidFill>
            <a:prstDash val="solid"/>
          </a:ln>
        </p:spPr>
      </p:sp>
      <p:sp>
        <p:nvSpPr>
          <p:cNvPr id="49" name="Text 46"/>
          <p:cNvSpPr txBox="1"/>
          <p:nvPr/>
        </p:nvSpPr>
        <p:spPr>
          <a:xfrm>
            <a:off x="4754880" y="3739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50" name="Text 47"/>
          <p:cNvSpPr txBox="1"/>
          <p:nvPr/>
        </p:nvSpPr>
        <p:spPr>
          <a:xfrm>
            <a:off x="5212080" y="3739896"/>
            <a:ext cx="3291840" cy="329184"/>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Conclusion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Introduction – What is a SIEM?</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 / 20</a:t>
            </a:r>
            <a:endParaRPr lang="en-US" sz="900" dirty="0"/>
          </a:p>
        </p:txBody>
      </p:sp>
      <p:sp>
        <p:nvSpPr>
          <p:cNvPr id="6" name="Text 3"/>
          <p:cNvSpPr txBox="1"/>
          <p:nvPr/>
        </p:nvSpPr>
        <p:spPr>
          <a:xfrm>
            <a:off x="457200" y="1051560"/>
            <a:ext cx="4754880" cy="1188720"/>
          </a:xfrm>
          <a:prstGeom prst="rect">
            <a:avLst/>
          </a:prstGeom>
          <a:noFill/>
          <a:ln/>
        </p:spPr>
        <p:txBody>
          <a:bodyPr wrap="square" lIns="0" tIns="0" rIns="0" bIns="0" rtlCol="0" anchor="ctr"/>
          <a:lstStyle/>
          <a:p>
            <a:pPr indent="0" marL="0">
              <a:buNone/>
            </a:pPr>
            <a:r>
              <a:rPr lang="en-US" sz="1500" dirty="0">
                <a:solidFill>
                  <a:srgbClr val="1B2733"/>
                </a:solidFill>
                <a:latin typeface="Calibri" pitchFamily="34" charset="0"/>
                <a:ea typeface="Calibri" pitchFamily="34" charset="-122"/>
                <a:cs typeface="Calibri" pitchFamily="34" charset="-120"/>
              </a:rPr>
              <a:t>A Security Information and Event Management (SIEM) system collects logs from many sources into one place, analyses them with detection rules, and raises alerts so that security analysts can respond to attacks quickly.</a:t>
            </a:r>
            <a:endParaRPr lang="en-US" sz="1500" dirty="0"/>
          </a:p>
        </p:txBody>
      </p:sp>
      <p:sp>
        <p:nvSpPr>
          <p:cNvPr id="7" name="Text 4"/>
          <p:cNvSpPr txBox="1"/>
          <p:nvPr/>
        </p:nvSpPr>
        <p:spPr>
          <a:xfrm>
            <a:off x="457200" y="2331720"/>
            <a:ext cx="4754880" cy="21945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Logs hold the first evidence of almost every attack</a:t>
            </a:r>
            <a:endParaRPr lang="en-US" sz="1500" dirty="0"/>
          </a:p>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Evidence is scattered across files and formats</a:t>
            </a:r>
            <a:endParaRPr lang="en-US" sz="1500" dirty="0"/>
          </a:p>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Commercial SIEMs are costly and complex</a:t>
            </a:r>
            <a:endParaRPr lang="en-US" sz="1500" dirty="0"/>
          </a:p>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Micro-SIEM: a small, working, explainable SIEM</a:t>
            </a:r>
            <a:endParaRPr lang="en-US" sz="1500" dirty="0"/>
          </a:p>
        </p:txBody>
      </p:sp>
      <p:sp>
        <p:nvSpPr>
          <p:cNvPr id="8" name="Shape 5"/>
          <p:cNvSpPr/>
          <p:nvPr/>
        </p:nvSpPr>
        <p:spPr>
          <a:xfrm>
            <a:off x="5669280" y="1051560"/>
            <a:ext cx="3017520" cy="1005840"/>
          </a:xfrm>
          <a:prstGeom prst="roundRect">
            <a:avLst>
              <a:gd name="adj" fmla="val 7273"/>
            </a:avLst>
          </a:prstGeom>
          <a:solidFill>
            <a:srgbClr val="F2F6F9"/>
          </a:solidFill>
          <a:ln w="12700">
            <a:solidFill>
              <a:srgbClr val="F2F6F9"/>
            </a:solidFill>
            <a:prstDash val="solid"/>
          </a:ln>
        </p:spPr>
      </p:sp>
      <p:sp>
        <p:nvSpPr>
          <p:cNvPr id="9" name="Text 6"/>
          <p:cNvSpPr txBox="1"/>
          <p:nvPr/>
        </p:nvSpPr>
        <p:spPr>
          <a:xfrm>
            <a:off x="5806440" y="1051560"/>
            <a:ext cx="1005840" cy="1005840"/>
          </a:xfrm>
          <a:prstGeom prst="rect">
            <a:avLst/>
          </a:prstGeom>
          <a:noFill/>
          <a:ln/>
        </p:spPr>
        <p:txBody>
          <a:bodyPr wrap="square" lIns="0" tIns="0" rIns="0" bIns="0" rtlCol="0" anchor="ctr"/>
          <a:lstStyle/>
          <a:p>
            <a:pPr algn="ctr" indent="0" marL="0">
              <a:buNone/>
            </a:pPr>
            <a:r>
              <a:rPr lang="en-US" sz="4400" b="1" dirty="0">
                <a:solidFill>
                  <a:srgbClr val="0B1F33"/>
                </a:solidFill>
                <a:latin typeface="Cambria" pitchFamily="34" charset="0"/>
                <a:ea typeface="Cambria" pitchFamily="34" charset="-122"/>
                <a:cs typeface="Cambria" pitchFamily="34" charset="-120"/>
              </a:rPr>
              <a:t>3</a:t>
            </a:r>
            <a:endParaRPr lang="en-US" sz="4400" dirty="0"/>
          </a:p>
        </p:txBody>
      </p:sp>
      <p:sp>
        <p:nvSpPr>
          <p:cNvPr id="10" name="Text 7"/>
          <p:cNvSpPr txBox="1"/>
          <p:nvPr/>
        </p:nvSpPr>
        <p:spPr>
          <a:xfrm>
            <a:off x="6858000" y="1051560"/>
            <a:ext cx="1737360" cy="1005840"/>
          </a:xfrm>
          <a:prstGeom prst="rect">
            <a:avLst/>
          </a:prstGeom>
          <a:noFill/>
          <a:ln/>
        </p:spPr>
        <p:txBody>
          <a:bodyPr wrap="square" lIns="0" tIns="0" rIns="0" bIns="0" rtlCol="0" anchor="ctr"/>
          <a:lstStyle/>
          <a:p>
            <a:pPr indent="0" marL="0">
              <a:buNone/>
            </a:pPr>
            <a:r>
              <a:rPr lang="en-US" sz="1600" b="1" dirty="0">
                <a:solidFill>
                  <a:srgbClr val="1B2733"/>
                </a:solidFill>
                <a:latin typeface="Calibri" pitchFamily="34" charset="0"/>
                <a:ea typeface="Calibri" pitchFamily="34" charset="-122"/>
                <a:cs typeface="Calibri" pitchFamily="34" charset="-120"/>
              </a:rPr>
              <a:t>log sources</a:t>
            </a:r>
            <a:endParaRPr lang="en-US" sz="1600" dirty="0"/>
          </a:p>
        </p:txBody>
      </p:sp>
      <p:sp>
        <p:nvSpPr>
          <p:cNvPr id="11" name="Shape 8"/>
          <p:cNvSpPr/>
          <p:nvPr/>
        </p:nvSpPr>
        <p:spPr>
          <a:xfrm>
            <a:off x="5669280" y="2240280"/>
            <a:ext cx="3017520" cy="1005840"/>
          </a:xfrm>
          <a:prstGeom prst="roundRect">
            <a:avLst>
              <a:gd name="adj" fmla="val 7273"/>
            </a:avLst>
          </a:prstGeom>
          <a:solidFill>
            <a:srgbClr val="F2F6F9"/>
          </a:solidFill>
          <a:ln w="12700">
            <a:solidFill>
              <a:srgbClr val="F2F6F9"/>
            </a:solidFill>
            <a:prstDash val="solid"/>
          </a:ln>
        </p:spPr>
      </p:sp>
      <p:sp>
        <p:nvSpPr>
          <p:cNvPr id="12" name="Text 9"/>
          <p:cNvSpPr txBox="1"/>
          <p:nvPr/>
        </p:nvSpPr>
        <p:spPr>
          <a:xfrm>
            <a:off x="5806440" y="2240280"/>
            <a:ext cx="1005840" cy="1005840"/>
          </a:xfrm>
          <a:prstGeom prst="rect">
            <a:avLst/>
          </a:prstGeom>
          <a:noFill/>
          <a:ln/>
        </p:spPr>
        <p:txBody>
          <a:bodyPr wrap="square" lIns="0" tIns="0" rIns="0" bIns="0" rtlCol="0" anchor="ctr"/>
          <a:lstStyle/>
          <a:p>
            <a:pPr algn="ctr" indent="0" marL="0">
              <a:buNone/>
            </a:pPr>
            <a:r>
              <a:rPr lang="en-US" sz="4400" b="1" dirty="0">
                <a:solidFill>
                  <a:srgbClr val="E63946"/>
                </a:solidFill>
                <a:latin typeface="Cambria" pitchFamily="34" charset="0"/>
                <a:ea typeface="Cambria" pitchFamily="34" charset="-122"/>
                <a:cs typeface="Cambria" pitchFamily="34" charset="-120"/>
              </a:rPr>
              <a:t>4</a:t>
            </a:r>
            <a:endParaRPr lang="en-US" sz="4400" dirty="0"/>
          </a:p>
        </p:txBody>
      </p:sp>
      <p:sp>
        <p:nvSpPr>
          <p:cNvPr id="13" name="Text 10"/>
          <p:cNvSpPr txBox="1"/>
          <p:nvPr/>
        </p:nvSpPr>
        <p:spPr>
          <a:xfrm>
            <a:off x="6858000" y="2240280"/>
            <a:ext cx="1737360" cy="1005840"/>
          </a:xfrm>
          <a:prstGeom prst="rect">
            <a:avLst/>
          </a:prstGeom>
          <a:noFill/>
          <a:ln/>
        </p:spPr>
        <p:txBody>
          <a:bodyPr wrap="square" lIns="0" tIns="0" rIns="0" bIns="0" rtlCol="0" anchor="ctr"/>
          <a:lstStyle/>
          <a:p>
            <a:pPr indent="0" marL="0">
              <a:buNone/>
            </a:pPr>
            <a:r>
              <a:rPr lang="en-US" sz="1600" b="1" dirty="0">
                <a:solidFill>
                  <a:srgbClr val="1B2733"/>
                </a:solidFill>
                <a:latin typeface="Calibri" pitchFamily="34" charset="0"/>
                <a:ea typeface="Calibri" pitchFamily="34" charset="-122"/>
                <a:cs typeface="Calibri" pitchFamily="34" charset="-120"/>
              </a:rPr>
              <a:t>detection rules</a:t>
            </a:r>
            <a:endParaRPr lang="en-US" sz="1600" dirty="0"/>
          </a:p>
        </p:txBody>
      </p:sp>
      <p:sp>
        <p:nvSpPr>
          <p:cNvPr id="14" name="Shape 11"/>
          <p:cNvSpPr/>
          <p:nvPr/>
        </p:nvSpPr>
        <p:spPr>
          <a:xfrm>
            <a:off x="5669280" y="3429000"/>
            <a:ext cx="3017520" cy="1005840"/>
          </a:xfrm>
          <a:prstGeom prst="roundRect">
            <a:avLst>
              <a:gd name="adj" fmla="val 7273"/>
            </a:avLst>
          </a:prstGeom>
          <a:solidFill>
            <a:srgbClr val="F2F6F9"/>
          </a:solidFill>
          <a:ln w="12700">
            <a:solidFill>
              <a:srgbClr val="F2F6F9"/>
            </a:solidFill>
            <a:prstDash val="solid"/>
          </a:ln>
        </p:spPr>
      </p:sp>
      <p:sp>
        <p:nvSpPr>
          <p:cNvPr id="15" name="Text 12"/>
          <p:cNvSpPr txBox="1"/>
          <p:nvPr/>
        </p:nvSpPr>
        <p:spPr>
          <a:xfrm>
            <a:off x="5806440" y="3429000"/>
            <a:ext cx="1005840" cy="1005840"/>
          </a:xfrm>
          <a:prstGeom prst="rect">
            <a:avLst/>
          </a:prstGeom>
          <a:noFill/>
          <a:ln/>
        </p:spPr>
        <p:txBody>
          <a:bodyPr wrap="square" lIns="0" tIns="0" rIns="0" bIns="0" rtlCol="0" anchor="ctr"/>
          <a:lstStyle/>
          <a:p>
            <a:pPr algn="ctr" indent="0" marL="0">
              <a:buNone/>
            </a:pPr>
            <a:r>
              <a:rPr lang="en-US" sz="4400" b="1" dirty="0">
                <a:solidFill>
                  <a:srgbClr val="1FA2A6"/>
                </a:solidFill>
                <a:latin typeface="Cambria" pitchFamily="34" charset="0"/>
                <a:ea typeface="Cambria" pitchFamily="34" charset="-122"/>
                <a:cs typeface="Cambria" pitchFamily="34" charset="-120"/>
              </a:rPr>
              <a:t>6</a:t>
            </a:r>
            <a:endParaRPr lang="en-US" sz="4400" dirty="0"/>
          </a:p>
        </p:txBody>
      </p:sp>
      <p:sp>
        <p:nvSpPr>
          <p:cNvPr id="16" name="Text 13"/>
          <p:cNvSpPr txBox="1"/>
          <p:nvPr/>
        </p:nvSpPr>
        <p:spPr>
          <a:xfrm>
            <a:off x="6858000" y="3429000"/>
            <a:ext cx="1737360" cy="1005840"/>
          </a:xfrm>
          <a:prstGeom prst="rect">
            <a:avLst/>
          </a:prstGeom>
          <a:noFill/>
          <a:ln/>
        </p:spPr>
        <p:txBody>
          <a:bodyPr wrap="square" lIns="0" tIns="0" rIns="0" bIns="0" rtlCol="0" anchor="ctr"/>
          <a:lstStyle/>
          <a:p>
            <a:pPr indent="0" marL="0">
              <a:buNone/>
            </a:pPr>
            <a:r>
              <a:rPr lang="en-US" sz="1600" b="1" dirty="0">
                <a:solidFill>
                  <a:srgbClr val="1B2733"/>
                </a:solidFill>
                <a:latin typeface="Calibri" pitchFamily="34" charset="0"/>
                <a:ea typeface="Calibri" pitchFamily="34" charset="-122"/>
                <a:cs typeface="Calibri" pitchFamily="34" charset="-120"/>
              </a:rPr>
              <a:t>Docker containers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Problem Statement</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 / 20</a:t>
            </a:r>
            <a:endParaRPr lang="en-US" sz="900" dirty="0"/>
          </a:p>
        </p:txBody>
      </p:sp>
      <p:sp>
        <p:nvSpPr>
          <p:cNvPr id="6" name="Shape 3"/>
          <p:cNvSpPr/>
          <p:nvPr/>
        </p:nvSpPr>
        <p:spPr>
          <a:xfrm>
            <a:off x="457200" y="1051560"/>
            <a:ext cx="3931920" cy="3474720"/>
          </a:xfrm>
          <a:prstGeom prst="roundRect">
            <a:avLst>
              <a:gd name="adj" fmla="val 2105"/>
            </a:avLst>
          </a:prstGeom>
          <a:solidFill>
            <a:srgbClr val="FDECEE"/>
          </a:solidFill>
          <a:ln w="12700">
            <a:solidFill>
              <a:srgbClr val="FDECEE"/>
            </a:solidFill>
            <a:prstDash val="solid"/>
          </a:ln>
        </p:spPr>
      </p:sp>
      <p:sp>
        <p:nvSpPr>
          <p:cNvPr id="7" name="Shape 4"/>
          <p:cNvSpPr/>
          <p:nvPr/>
        </p:nvSpPr>
        <p:spPr>
          <a:xfrm>
            <a:off x="685800" y="1234440"/>
            <a:ext cx="457200" cy="457200"/>
          </a:xfrm>
          <a:prstGeom prst="ellipse">
            <a:avLst/>
          </a:prstGeom>
          <a:solidFill>
            <a:srgbClr val="E63946"/>
          </a:solidFill>
          <a:ln w="12700">
            <a:solidFill>
              <a:srgbClr val="E63946"/>
            </a:solidFill>
            <a:prstDash val="solid"/>
          </a:ln>
        </p:spPr>
      </p:sp>
      <p:sp>
        <p:nvSpPr>
          <p:cNvPr id="8" name="Text 5"/>
          <p:cNvSpPr txBox="1"/>
          <p:nvPr/>
        </p:nvSpPr>
        <p:spPr>
          <a:xfrm>
            <a:off x="685800" y="1234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9" name="Text 6"/>
          <p:cNvSpPr txBox="1"/>
          <p:nvPr/>
        </p:nvSpPr>
        <p:spPr>
          <a:xfrm>
            <a:off x="1280160" y="1234440"/>
            <a:ext cx="2926080" cy="457200"/>
          </a:xfrm>
          <a:prstGeom prst="rect">
            <a:avLst/>
          </a:prstGeom>
          <a:noFill/>
          <a:ln/>
        </p:spPr>
        <p:txBody>
          <a:bodyPr wrap="square" lIns="0" tIns="0" rIns="0" bIns="0" rtlCol="0" anchor="ctr"/>
          <a:lstStyle/>
          <a:p>
            <a:pPr indent="0" marL="0">
              <a:buNone/>
            </a:pPr>
            <a:r>
              <a:rPr lang="en-US" sz="2000" b="1" dirty="0">
                <a:solidFill>
                  <a:srgbClr val="E63946"/>
                </a:solidFill>
                <a:latin typeface="Cambria" pitchFamily="34" charset="0"/>
                <a:ea typeface="Cambria" pitchFamily="34" charset="-122"/>
                <a:cs typeface="Cambria" pitchFamily="34" charset="-120"/>
              </a:rPr>
              <a:t>The Problem</a:t>
            </a:r>
            <a:endParaRPr lang="en-US" sz="2000" dirty="0"/>
          </a:p>
        </p:txBody>
      </p:sp>
      <p:sp>
        <p:nvSpPr>
          <p:cNvPr id="10" name="Text 7"/>
          <p:cNvSpPr txBox="1"/>
          <p:nvPr/>
        </p:nvSpPr>
        <p:spPr>
          <a:xfrm>
            <a:off x="731520" y="1920240"/>
            <a:ext cx="3474720" cy="24688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Nobody reads logs in real time</a:t>
            </a:r>
            <a:endParaRPr lang="en-US" sz="1500" dirty="0"/>
          </a:p>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Attacks like password guessing go unnoticed</a:t>
            </a:r>
            <a:endParaRPr lang="en-US" sz="1500" dirty="0"/>
          </a:p>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Logs are spread across many files and formats</a:t>
            </a:r>
            <a:endParaRPr lang="en-US" sz="1500" dirty="0"/>
          </a:p>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Existing SIEMs are expensive, heavy and work like black boxes</a:t>
            </a:r>
            <a:endParaRPr lang="en-US" sz="1500" dirty="0"/>
          </a:p>
        </p:txBody>
      </p:sp>
      <p:sp>
        <p:nvSpPr>
          <p:cNvPr id="11" name="Shape 8"/>
          <p:cNvSpPr/>
          <p:nvPr/>
        </p:nvSpPr>
        <p:spPr>
          <a:xfrm>
            <a:off x="4754880" y="1051560"/>
            <a:ext cx="3931920" cy="3474720"/>
          </a:xfrm>
          <a:prstGeom prst="roundRect">
            <a:avLst>
              <a:gd name="adj" fmla="val 2105"/>
            </a:avLst>
          </a:prstGeom>
          <a:solidFill>
            <a:srgbClr val="E3F4F4"/>
          </a:solidFill>
          <a:ln w="12700">
            <a:solidFill>
              <a:srgbClr val="E3F4F4"/>
            </a:solidFill>
            <a:prstDash val="solid"/>
          </a:ln>
        </p:spPr>
      </p:sp>
      <p:sp>
        <p:nvSpPr>
          <p:cNvPr id="12" name="Shape 9"/>
          <p:cNvSpPr/>
          <p:nvPr/>
        </p:nvSpPr>
        <p:spPr>
          <a:xfrm>
            <a:off x="4983480" y="1234440"/>
            <a:ext cx="457200" cy="457200"/>
          </a:xfrm>
          <a:prstGeom prst="ellipse">
            <a:avLst/>
          </a:prstGeom>
          <a:solidFill>
            <a:srgbClr val="1FA2A6"/>
          </a:solidFill>
          <a:ln w="12700">
            <a:solidFill>
              <a:srgbClr val="1FA2A6"/>
            </a:solidFill>
            <a:prstDash val="solid"/>
          </a:ln>
        </p:spPr>
      </p:sp>
      <p:sp>
        <p:nvSpPr>
          <p:cNvPr id="13" name="Text 10"/>
          <p:cNvSpPr txBox="1"/>
          <p:nvPr/>
        </p:nvSpPr>
        <p:spPr>
          <a:xfrm>
            <a:off x="4983480" y="1234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4" name="Text 11"/>
          <p:cNvSpPr txBox="1"/>
          <p:nvPr/>
        </p:nvSpPr>
        <p:spPr>
          <a:xfrm>
            <a:off x="5577840" y="1234440"/>
            <a:ext cx="2926080" cy="457200"/>
          </a:xfrm>
          <a:prstGeom prst="rect">
            <a:avLst/>
          </a:prstGeom>
          <a:noFill/>
          <a:ln/>
        </p:spPr>
        <p:txBody>
          <a:bodyPr wrap="square" lIns="0" tIns="0" rIns="0" bIns="0" rtlCol="0" anchor="ctr"/>
          <a:lstStyle/>
          <a:p>
            <a:pPr indent="0" marL="0">
              <a:buNone/>
            </a:pPr>
            <a:r>
              <a:rPr lang="en-US" sz="2000" b="1" dirty="0">
                <a:solidFill>
                  <a:srgbClr val="1FA2A6"/>
                </a:solidFill>
                <a:latin typeface="Cambria" pitchFamily="34" charset="0"/>
                <a:ea typeface="Cambria" pitchFamily="34" charset="-122"/>
                <a:cs typeface="Cambria" pitchFamily="34" charset="-120"/>
              </a:rPr>
              <a:t>Our Solution</a:t>
            </a:r>
            <a:endParaRPr lang="en-US" sz="2000" dirty="0"/>
          </a:p>
        </p:txBody>
      </p:sp>
      <p:sp>
        <p:nvSpPr>
          <p:cNvPr id="15" name="Text 12"/>
          <p:cNvSpPr txBox="1"/>
          <p:nvPr/>
        </p:nvSpPr>
        <p:spPr>
          <a:xfrm>
            <a:off x="5029200" y="1920240"/>
            <a:ext cx="3474720" cy="24688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Centralise live logs automatically</a:t>
            </a:r>
            <a:endParaRPr lang="en-US" sz="1500" dirty="0"/>
          </a:p>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Detect attacks with clear, readable rules</a:t>
            </a:r>
            <a:endParaRPr lang="en-US" sz="1500" dirty="0"/>
          </a:p>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Alert on role-based live dashboards</a:t>
            </a:r>
            <a:endParaRPr lang="en-US" sz="1500" dirty="0"/>
          </a:p>
          <a:p>
            <a:pPr marL="177800" indent="-177800">
              <a:spcAft>
                <a:spcPts val="600"/>
              </a:spcAft>
              <a:buSzPct val="100000"/>
              <a:buChar char="•"/>
            </a:pPr>
            <a:r>
              <a:rPr lang="en-US" sz="1500" dirty="0">
                <a:solidFill>
                  <a:srgbClr val="1B2733"/>
                </a:solidFill>
                <a:latin typeface="Calibri" pitchFamily="34" charset="0"/>
                <a:ea typeface="Calibri" pitchFamily="34" charset="-122"/>
                <a:cs typeface="Calibri" pitchFamily="34" charset="-120"/>
              </a:rPr>
              <a:t>Open-source and one-command deployment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Objectives</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 / 20</a:t>
            </a:r>
            <a:endParaRPr lang="en-US" sz="900" dirty="0"/>
          </a:p>
        </p:txBody>
      </p:sp>
      <p:sp>
        <p:nvSpPr>
          <p:cNvPr id="6" name="Shape 3"/>
          <p:cNvSpPr/>
          <p:nvPr/>
        </p:nvSpPr>
        <p:spPr>
          <a:xfrm>
            <a:off x="457200" y="1097280"/>
            <a:ext cx="2606040" cy="1600200"/>
          </a:xfrm>
          <a:prstGeom prst="roundRect">
            <a:avLst>
              <a:gd name="adj" fmla="val 4571"/>
            </a:avLst>
          </a:prstGeom>
          <a:solidFill>
            <a:srgbClr val="F2F6F9"/>
          </a:solidFill>
          <a:ln w="12700">
            <a:solidFill>
              <a:srgbClr val="F2F6F9"/>
            </a:solidFill>
            <a:prstDash val="solid"/>
          </a:ln>
        </p:spPr>
      </p:sp>
      <p:sp>
        <p:nvSpPr>
          <p:cNvPr id="7" name="Shape 4"/>
          <p:cNvSpPr/>
          <p:nvPr/>
        </p:nvSpPr>
        <p:spPr>
          <a:xfrm>
            <a:off x="640080" y="1280160"/>
            <a:ext cx="384048" cy="384048"/>
          </a:xfrm>
          <a:prstGeom prst="ellipse">
            <a:avLst/>
          </a:prstGeom>
          <a:solidFill>
            <a:srgbClr val="0B1F33"/>
          </a:solidFill>
          <a:ln w="12700">
            <a:solidFill>
              <a:srgbClr val="0B1F33"/>
            </a:solidFill>
            <a:prstDash val="solid"/>
          </a:ln>
        </p:spPr>
      </p:sp>
      <p:sp>
        <p:nvSpPr>
          <p:cNvPr id="8" name="Text 5"/>
          <p:cNvSpPr txBox="1"/>
          <p:nvPr/>
        </p:nvSpPr>
        <p:spPr>
          <a:xfrm>
            <a:off x="64008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640080" y="1755648"/>
            <a:ext cx="2286000" cy="365760"/>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Complete pipeline</a:t>
            </a:r>
            <a:endParaRPr lang="en-US" sz="1600" dirty="0"/>
          </a:p>
        </p:txBody>
      </p:sp>
      <p:sp>
        <p:nvSpPr>
          <p:cNvPr id="10" name="Text 7"/>
          <p:cNvSpPr txBox="1"/>
          <p:nvPr/>
        </p:nvSpPr>
        <p:spPr>
          <a:xfrm>
            <a:off x="640080" y="2103120"/>
            <a:ext cx="2286000" cy="502920"/>
          </a:xfrm>
          <a:prstGeom prst="rect">
            <a:avLst/>
          </a:prstGeom>
          <a:noFill/>
          <a:ln/>
        </p:spPr>
        <p:txBody>
          <a:bodyPr wrap="square" lIns="0" tIns="0" rIns="0" bIns="0" rtlCol="0" anchor="t"/>
          <a:lstStyle/>
          <a:p>
            <a:pPr indent="0" marL="0">
              <a:buNone/>
            </a:pPr>
            <a:r>
              <a:rPr lang="en-US" sz="1300" dirty="0">
                <a:solidFill>
                  <a:srgbClr val="5B6B7B"/>
                </a:solidFill>
                <a:latin typeface="Calibri" pitchFamily="34" charset="0"/>
                <a:ea typeface="Calibri" pitchFamily="34" charset="-122"/>
                <a:cs typeface="Calibri" pitchFamily="34" charset="-120"/>
              </a:rPr>
              <a:t>Collect, parse, store, detect, alert and visualise</a:t>
            </a:r>
            <a:endParaRPr lang="en-US" sz="1300" dirty="0"/>
          </a:p>
        </p:txBody>
      </p:sp>
      <p:sp>
        <p:nvSpPr>
          <p:cNvPr id="11" name="Shape 8"/>
          <p:cNvSpPr/>
          <p:nvPr/>
        </p:nvSpPr>
        <p:spPr>
          <a:xfrm>
            <a:off x="3246120" y="1097280"/>
            <a:ext cx="2606040" cy="1600200"/>
          </a:xfrm>
          <a:prstGeom prst="roundRect">
            <a:avLst>
              <a:gd name="adj" fmla="val 4571"/>
            </a:avLst>
          </a:prstGeom>
          <a:solidFill>
            <a:srgbClr val="F2F6F9"/>
          </a:solidFill>
          <a:ln w="12700">
            <a:solidFill>
              <a:srgbClr val="F2F6F9"/>
            </a:solidFill>
            <a:prstDash val="solid"/>
          </a:ln>
        </p:spPr>
      </p:sp>
      <p:sp>
        <p:nvSpPr>
          <p:cNvPr id="12" name="Shape 9"/>
          <p:cNvSpPr/>
          <p:nvPr/>
        </p:nvSpPr>
        <p:spPr>
          <a:xfrm>
            <a:off x="3429000" y="1280160"/>
            <a:ext cx="384048" cy="384048"/>
          </a:xfrm>
          <a:prstGeom prst="ellipse">
            <a:avLst/>
          </a:prstGeom>
          <a:solidFill>
            <a:srgbClr val="1FA2A6"/>
          </a:solidFill>
          <a:ln w="12700">
            <a:solidFill>
              <a:srgbClr val="1FA2A6"/>
            </a:solidFill>
            <a:prstDash val="solid"/>
          </a:ln>
        </p:spPr>
      </p:sp>
      <p:sp>
        <p:nvSpPr>
          <p:cNvPr id="13" name="Text 10"/>
          <p:cNvSpPr txBox="1"/>
          <p:nvPr/>
        </p:nvSpPr>
        <p:spPr>
          <a:xfrm>
            <a:off x="342900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3429000" y="1755648"/>
            <a:ext cx="2286000" cy="365760"/>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Real attack detection</a:t>
            </a:r>
            <a:endParaRPr lang="en-US" sz="1600" dirty="0"/>
          </a:p>
        </p:txBody>
      </p:sp>
      <p:sp>
        <p:nvSpPr>
          <p:cNvPr id="15" name="Text 12"/>
          <p:cNvSpPr txBox="1"/>
          <p:nvPr/>
        </p:nvSpPr>
        <p:spPr>
          <a:xfrm>
            <a:off x="3429000" y="2103120"/>
            <a:ext cx="2286000" cy="502920"/>
          </a:xfrm>
          <a:prstGeom prst="rect">
            <a:avLst/>
          </a:prstGeom>
          <a:noFill/>
          <a:ln/>
        </p:spPr>
        <p:txBody>
          <a:bodyPr wrap="square" lIns="0" tIns="0" rIns="0" bIns="0" rtlCol="0" anchor="t"/>
          <a:lstStyle/>
          <a:p>
            <a:pPr indent="0" marL="0">
              <a:buNone/>
            </a:pPr>
            <a:r>
              <a:rPr lang="en-US" sz="1300" dirty="0">
                <a:solidFill>
                  <a:srgbClr val="5B6B7B"/>
                </a:solidFill>
                <a:latin typeface="Calibri" pitchFamily="34" charset="0"/>
                <a:ea typeface="Calibri" pitchFamily="34" charset="-122"/>
                <a:cs typeface="Calibri" pitchFamily="34" charset="-120"/>
              </a:rPr>
              <a:t>Brute force, credential compromise and XSS</a:t>
            </a:r>
            <a:endParaRPr lang="en-US" sz="1300" dirty="0"/>
          </a:p>
        </p:txBody>
      </p:sp>
      <p:sp>
        <p:nvSpPr>
          <p:cNvPr id="16" name="Shape 13"/>
          <p:cNvSpPr/>
          <p:nvPr/>
        </p:nvSpPr>
        <p:spPr>
          <a:xfrm>
            <a:off x="6035040" y="1097280"/>
            <a:ext cx="2606040" cy="1600200"/>
          </a:xfrm>
          <a:prstGeom prst="roundRect">
            <a:avLst>
              <a:gd name="adj" fmla="val 4571"/>
            </a:avLst>
          </a:prstGeom>
          <a:solidFill>
            <a:srgbClr val="F2F6F9"/>
          </a:solidFill>
          <a:ln w="12700">
            <a:solidFill>
              <a:srgbClr val="F2F6F9"/>
            </a:solidFill>
            <a:prstDash val="solid"/>
          </a:ln>
        </p:spPr>
      </p:sp>
      <p:sp>
        <p:nvSpPr>
          <p:cNvPr id="17" name="Shape 14"/>
          <p:cNvSpPr/>
          <p:nvPr/>
        </p:nvSpPr>
        <p:spPr>
          <a:xfrm>
            <a:off x="6217920" y="1280160"/>
            <a:ext cx="384048" cy="384048"/>
          </a:xfrm>
          <a:prstGeom prst="ellipse">
            <a:avLst/>
          </a:prstGeom>
          <a:solidFill>
            <a:srgbClr val="0B1F33"/>
          </a:solidFill>
          <a:ln w="12700">
            <a:solidFill>
              <a:srgbClr val="0B1F33"/>
            </a:solidFill>
            <a:prstDash val="solid"/>
          </a:ln>
        </p:spPr>
      </p:sp>
      <p:sp>
        <p:nvSpPr>
          <p:cNvPr id="18" name="Text 15"/>
          <p:cNvSpPr txBox="1"/>
          <p:nvPr/>
        </p:nvSpPr>
        <p:spPr>
          <a:xfrm>
            <a:off x="621792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6"/>
          <p:cNvSpPr txBox="1"/>
          <p:nvPr/>
        </p:nvSpPr>
        <p:spPr>
          <a:xfrm>
            <a:off x="6217920" y="1755648"/>
            <a:ext cx="2286000" cy="365760"/>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Honest mapping</a:t>
            </a:r>
            <a:endParaRPr lang="en-US" sz="1600" dirty="0"/>
          </a:p>
        </p:txBody>
      </p:sp>
      <p:sp>
        <p:nvSpPr>
          <p:cNvPr id="20" name="Text 17"/>
          <p:cNvSpPr txBox="1"/>
          <p:nvPr/>
        </p:nvSpPr>
        <p:spPr>
          <a:xfrm>
            <a:off x="6217920" y="2103120"/>
            <a:ext cx="2286000" cy="502920"/>
          </a:xfrm>
          <a:prstGeom prst="rect">
            <a:avLst/>
          </a:prstGeom>
          <a:noFill/>
          <a:ln/>
        </p:spPr>
        <p:txBody>
          <a:bodyPr wrap="square" lIns="0" tIns="0" rIns="0" bIns="0" rtlCol="0" anchor="t"/>
          <a:lstStyle/>
          <a:p>
            <a:pPr indent="0" marL="0">
              <a:buNone/>
            </a:pPr>
            <a:r>
              <a:rPr lang="en-US" sz="1300" dirty="0">
                <a:solidFill>
                  <a:srgbClr val="5B6B7B"/>
                </a:solidFill>
                <a:latin typeface="Calibri" pitchFamily="34" charset="0"/>
                <a:ea typeface="Calibri" pitchFamily="34" charset="-122"/>
                <a:cs typeface="Calibri" pitchFamily="34" charset="-120"/>
              </a:rPr>
              <a:t>MITRE ATT&amp;CK and OWASP / CWE</a:t>
            </a:r>
            <a:endParaRPr lang="en-US" sz="1300" dirty="0"/>
          </a:p>
        </p:txBody>
      </p:sp>
      <p:sp>
        <p:nvSpPr>
          <p:cNvPr id="21" name="Shape 18"/>
          <p:cNvSpPr/>
          <p:nvPr/>
        </p:nvSpPr>
        <p:spPr>
          <a:xfrm>
            <a:off x="457200" y="2880360"/>
            <a:ext cx="2606040" cy="1600200"/>
          </a:xfrm>
          <a:prstGeom prst="roundRect">
            <a:avLst>
              <a:gd name="adj" fmla="val 4571"/>
            </a:avLst>
          </a:prstGeom>
          <a:solidFill>
            <a:srgbClr val="F2F6F9"/>
          </a:solidFill>
          <a:ln w="12700">
            <a:solidFill>
              <a:srgbClr val="F2F6F9"/>
            </a:solidFill>
            <a:prstDash val="solid"/>
          </a:ln>
        </p:spPr>
      </p:sp>
      <p:sp>
        <p:nvSpPr>
          <p:cNvPr id="22" name="Shape 19"/>
          <p:cNvSpPr/>
          <p:nvPr/>
        </p:nvSpPr>
        <p:spPr>
          <a:xfrm>
            <a:off x="640080" y="3063240"/>
            <a:ext cx="384048" cy="384048"/>
          </a:xfrm>
          <a:prstGeom prst="ellipse">
            <a:avLst/>
          </a:prstGeom>
          <a:solidFill>
            <a:srgbClr val="1FA2A6"/>
          </a:solidFill>
          <a:ln w="12700">
            <a:solidFill>
              <a:srgbClr val="1FA2A6"/>
            </a:solidFill>
            <a:prstDash val="solid"/>
          </a:ln>
        </p:spPr>
      </p:sp>
      <p:sp>
        <p:nvSpPr>
          <p:cNvPr id="23" name="Text 20"/>
          <p:cNvSpPr txBox="1"/>
          <p:nvPr/>
        </p:nvSpPr>
        <p:spPr>
          <a:xfrm>
            <a:off x="640080" y="3063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1"/>
          <p:cNvSpPr txBox="1"/>
          <p:nvPr/>
        </p:nvSpPr>
        <p:spPr>
          <a:xfrm>
            <a:off x="640080" y="3538728"/>
            <a:ext cx="2286000" cy="365760"/>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Clear dashboards</a:t>
            </a:r>
            <a:endParaRPr lang="en-US" sz="1600" dirty="0"/>
          </a:p>
        </p:txBody>
      </p:sp>
      <p:sp>
        <p:nvSpPr>
          <p:cNvPr id="25" name="Text 22"/>
          <p:cNvSpPr txBox="1"/>
          <p:nvPr/>
        </p:nvSpPr>
        <p:spPr>
          <a:xfrm>
            <a:off x="640080" y="3886200"/>
            <a:ext cx="2286000" cy="502920"/>
          </a:xfrm>
          <a:prstGeom prst="rect">
            <a:avLst/>
          </a:prstGeom>
          <a:noFill/>
          <a:ln/>
        </p:spPr>
        <p:txBody>
          <a:bodyPr wrap="square" lIns="0" tIns="0" rIns="0" bIns="0" rtlCol="0" anchor="t"/>
          <a:lstStyle/>
          <a:p>
            <a:pPr indent="0" marL="0">
              <a:buNone/>
            </a:pPr>
            <a:r>
              <a:rPr lang="en-US" sz="1300" dirty="0">
                <a:solidFill>
                  <a:srgbClr val="5B6B7B"/>
                </a:solidFill>
                <a:latin typeface="Calibri" pitchFamily="34" charset="0"/>
                <a:ea typeface="Calibri" pitchFamily="34" charset="-122"/>
                <a:cs typeface="Calibri" pitchFamily="34" charset="-120"/>
              </a:rPr>
              <a:t>Role-based admin and viewer views</a:t>
            </a:r>
            <a:endParaRPr lang="en-US" sz="1300" dirty="0"/>
          </a:p>
        </p:txBody>
      </p:sp>
      <p:sp>
        <p:nvSpPr>
          <p:cNvPr id="26" name="Shape 23"/>
          <p:cNvSpPr/>
          <p:nvPr/>
        </p:nvSpPr>
        <p:spPr>
          <a:xfrm>
            <a:off x="3246120" y="2880360"/>
            <a:ext cx="2606040" cy="1600200"/>
          </a:xfrm>
          <a:prstGeom prst="roundRect">
            <a:avLst>
              <a:gd name="adj" fmla="val 4571"/>
            </a:avLst>
          </a:prstGeom>
          <a:solidFill>
            <a:srgbClr val="F2F6F9"/>
          </a:solidFill>
          <a:ln w="12700">
            <a:solidFill>
              <a:srgbClr val="F2F6F9"/>
            </a:solidFill>
            <a:prstDash val="solid"/>
          </a:ln>
        </p:spPr>
      </p:sp>
      <p:sp>
        <p:nvSpPr>
          <p:cNvPr id="27" name="Shape 24"/>
          <p:cNvSpPr/>
          <p:nvPr/>
        </p:nvSpPr>
        <p:spPr>
          <a:xfrm>
            <a:off x="3429000" y="3063240"/>
            <a:ext cx="384048" cy="384048"/>
          </a:xfrm>
          <a:prstGeom prst="ellipse">
            <a:avLst/>
          </a:prstGeom>
          <a:solidFill>
            <a:srgbClr val="0B1F33"/>
          </a:solidFill>
          <a:ln w="12700">
            <a:solidFill>
              <a:srgbClr val="0B1F33"/>
            </a:solidFill>
            <a:prstDash val="solid"/>
          </a:ln>
        </p:spPr>
      </p:sp>
      <p:sp>
        <p:nvSpPr>
          <p:cNvPr id="28" name="Text 25"/>
          <p:cNvSpPr txBox="1"/>
          <p:nvPr/>
        </p:nvSpPr>
        <p:spPr>
          <a:xfrm>
            <a:off x="3429000" y="3063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6"/>
          <p:cNvSpPr txBox="1"/>
          <p:nvPr/>
        </p:nvSpPr>
        <p:spPr>
          <a:xfrm>
            <a:off x="3429000" y="3538728"/>
            <a:ext cx="2286000" cy="365760"/>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Explainable rules</a:t>
            </a:r>
            <a:endParaRPr lang="en-US" sz="1600" dirty="0"/>
          </a:p>
        </p:txBody>
      </p:sp>
      <p:sp>
        <p:nvSpPr>
          <p:cNvPr id="30" name="Text 27"/>
          <p:cNvSpPr txBox="1"/>
          <p:nvPr/>
        </p:nvSpPr>
        <p:spPr>
          <a:xfrm>
            <a:off x="3429000" y="3886200"/>
            <a:ext cx="2286000" cy="502920"/>
          </a:xfrm>
          <a:prstGeom prst="rect">
            <a:avLst/>
          </a:prstGeom>
          <a:noFill/>
          <a:ln/>
        </p:spPr>
        <p:txBody>
          <a:bodyPr wrap="square" lIns="0" tIns="0" rIns="0" bIns="0" rtlCol="0" anchor="t"/>
          <a:lstStyle/>
          <a:p>
            <a:pPr indent="0" marL="0">
              <a:buNone/>
            </a:pPr>
            <a:r>
              <a:rPr lang="en-US" sz="1300" dirty="0">
                <a:solidFill>
                  <a:srgbClr val="5B6B7B"/>
                </a:solidFill>
                <a:latin typeface="Calibri" pitchFamily="34" charset="0"/>
                <a:ea typeface="Calibri" pitchFamily="34" charset="-122"/>
                <a:cs typeface="Calibri" pitchFamily="34" charset="-120"/>
              </a:rPr>
              <a:t>Small rules that are easy to extend</a:t>
            </a:r>
            <a:endParaRPr lang="en-US" sz="1300" dirty="0"/>
          </a:p>
        </p:txBody>
      </p:sp>
      <p:sp>
        <p:nvSpPr>
          <p:cNvPr id="31" name="Shape 28"/>
          <p:cNvSpPr/>
          <p:nvPr/>
        </p:nvSpPr>
        <p:spPr>
          <a:xfrm>
            <a:off x="6035040" y="2880360"/>
            <a:ext cx="2606040" cy="1600200"/>
          </a:xfrm>
          <a:prstGeom prst="roundRect">
            <a:avLst>
              <a:gd name="adj" fmla="val 4571"/>
            </a:avLst>
          </a:prstGeom>
          <a:solidFill>
            <a:srgbClr val="F2F6F9"/>
          </a:solidFill>
          <a:ln w="12700">
            <a:solidFill>
              <a:srgbClr val="F2F6F9"/>
            </a:solidFill>
            <a:prstDash val="solid"/>
          </a:ln>
        </p:spPr>
      </p:sp>
      <p:sp>
        <p:nvSpPr>
          <p:cNvPr id="32" name="Shape 29"/>
          <p:cNvSpPr/>
          <p:nvPr/>
        </p:nvSpPr>
        <p:spPr>
          <a:xfrm>
            <a:off x="6217920" y="3063240"/>
            <a:ext cx="384048" cy="384048"/>
          </a:xfrm>
          <a:prstGeom prst="ellipse">
            <a:avLst/>
          </a:prstGeom>
          <a:solidFill>
            <a:srgbClr val="1FA2A6"/>
          </a:solidFill>
          <a:ln w="12700">
            <a:solidFill>
              <a:srgbClr val="1FA2A6"/>
            </a:solidFill>
            <a:prstDash val="solid"/>
          </a:ln>
        </p:spPr>
      </p:sp>
      <p:sp>
        <p:nvSpPr>
          <p:cNvPr id="33" name="Text 30"/>
          <p:cNvSpPr txBox="1"/>
          <p:nvPr/>
        </p:nvSpPr>
        <p:spPr>
          <a:xfrm>
            <a:off x="6217920" y="3063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1"/>
          <p:cNvSpPr txBox="1"/>
          <p:nvPr/>
        </p:nvSpPr>
        <p:spPr>
          <a:xfrm>
            <a:off x="6217920" y="3538728"/>
            <a:ext cx="2286000" cy="365760"/>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Easy deployment</a:t>
            </a:r>
            <a:endParaRPr lang="en-US" sz="1600" dirty="0"/>
          </a:p>
        </p:txBody>
      </p:sp>
      <p:sp>
        <p:nvSpPr>
          <p:cNvPr id="35" name="Text 32"/>
          <p:cNvSpPr txBox="1"/>
          <p:nvPr/>
        </p:nvSpPr>
        <p:spPr>
          <a:xfrm>
            <a:off x="6217920" y="3886200"/>
            <a:ext cx="2286000" cy="502920"/>
          </a:xfrm>
          <a:prstGeom prst="rect">
            <a:avLst/>
          </a:prstGeom>
          <a:noFill/>
          <a:ln/>
        </p:spPr>
        <p:txBody>
          <a:bodyPr wrap="square" lIns="0" tIns="0" rIns="0" bIns="0" rtlCol="0" anchor="t"/>
          <a:lstStyle/>
          <a:p>
            <a:pPr indent="0" marL="0">
              <a:buNone/>
            </a:pPr>
            <a:r>
              <a:rPr lang="en-US" sz="1300" dirty="0">
                <a:solidFill>
                  <a:srgbClr val="5B6B7B"/>
                </a:solidFill>
                <a:latin typeface="Calibri" pitchFamily="34" charset="0"/>
                <a:ea typeface="Calibri" pitchFamily="34" charset="-122"/>
                <a:cs typeface="Calibri" pitchFamily="34" charset="-120"/>
              </a:rPr>
              <a:t>Single Docker Compose command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Scope of the System</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6 / 20</a:t>
            </a:r>
            <a:endParaRPr lang="en-US" sz="900" dirty="0"/>
          </a:p>
        </p:txBody>
      </p:sp>
      <p:sp>
        <p:nvSpPr>
          <p:cNvPr id="6" name="Text 3"/>
          <p:cNvSpPr txBox="1"/>
          <p:nvPr/>
        </p:nvSpPr>
        <p:spPr>
          <a:xfrm>
            <a:off x="457200" y="1005840"/>
            <a:ext cx="3931920" cy="411480"/>
          </a:xfrm>
          <a:prstGeom prst="rect">
            <a:avLst/>
          </a:prstGeom>
          <a:noFill/>
          <a:ln/>
        </p:spPr>
        <p:txBody>
          <a:bodyPr wrap="square" lIns="0" tIns="0" rIns="0" bIns="0" rtlCol="0" anchor="ctr"/>
          <a:lstStyle/>
          <a:p>
            <a:pPr indent="0" marL="0">
              <a:buNone/>
            </a:pPr>
            <a:r>
              <a:rPr lang="en-US" sz="2000" b="1" dirty="0">
                <a:solidFill>
                  <a:srgbClr val="1FA2A6"/>
                </a:solidFill>
                <a:latin typeface="Cambria" pitchFamily="34" charset="0"/>
                <a:ea typeface="Cambria" pitchFamily="34" charset="-122"/>
                <a:cs typeface="Cambria" pitchFamily="34" charset="-120"/>
              </a:rPr>
              <a:t>In Scope</a:t>
            </a:r>
            <a:endParaRPr lang="en-US" sz="2000" dirty="0"/>
          </a:p>
        </p:txBody>
      </p:sp>
      <p:sp>
        <p:nvSpPr>
          <p:cNvPr id="7" name="Text 4"/>
          <p:cNvSpPr txBox="1"/>
          <p:nvPr/>
        </p:nvSpPr>
        <p:spPr>
          <a:xfrm>
            <a:off x="457200" y="1463040"/>
            <a:ext cx="3931920" cy="31089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Multi-source log collection and parsing</a:t>
            </a:r>
            <a:endParaRPr lang="en-US" sz="1400" dirty="0"/>
          </a:p>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Central storage and search in OpenSearch</a:t>
            </a:r>
            <a:endParaRPr lang="en-US" sz="1400" dirty="0"/>
          </a:p>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Threshold, correlation and signature rules</a:t>
            </a:r>
            <a:endParaRPr lang="en-US" sz="1400" dirty="0"/>
          </a:p>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MITRE ATT&amp;CK / OWASP mapping</a:t>
            </a:r>
            <a:endParaRPr lang="en-US" sz="1400" dirty="0"/>
          </a:p>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Live admin and viewer dashboards</a:t>
            </a:r>
            <a:endParaRPr lang="en-US" sz="1400" dirty="0"/>
          </a:p>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Session login with role-based access</a:t>
            </a:r>
            <a:endParaRPr lang="en-US" sz="1400" dirty="0"/>
          </a:p>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Safe demo website as attack target</a:t>
            </a:r>
            <a:endParaRPr lang="en-US" sz="1400" dirty="0"/>
          </a:p>
        </p:txBody>
      </p:sp>
      <p:sp>
        <p:nvSpPr>
          <p:cNvPr id="8" name="Text 5"/>
          <p:cNvSpPr txBox="1"/>
          <p:nvPr/>
        </p:nvSpPr>
        <p:spPr>
          <a:xfrm>
            <a:off x="4754880" y="1005840"/>
            <a:ext cx="3931920" cy="411480"/>
          </a:xfrm>
          <a:prstGeom prst="rect">
            <a:avLst/>
          </a:prstGeom>
          <a:noFill/>
          <a:ln/>
        </p:spPr>
        <p:txBody>
          <a:bodyPr wrap="square" lIns="0" tIns="0" rIns="0" bIns="0" rtlCol="0" anchor="ctr"/>
          <a:lstStyle/>
          <a:p>
            <a:pPr indent="0" marL="0">
              <a:buNone/>
            </a:pPr>
            <a:r>
              <a:rPr lang="en-US" sz="2000" b="1" dirty="0">
                <a:solidFill>
                  <a:srgbClr val="E63946"/>
                </a:solidFill>
                <a:latin typeface="Cambria" pitchFamily="34" charset="0"/>
                <a:ea typeface="Cambria" pitchFamily="34" charset="-122"/>
                <a:cs typeface="Cambria" pitchFamily="34" charset="-120"/>
              </a:rPr>
              <a:t>Out of Scope</a:t>
            </a:r>
            <a:endParaRPr lang="en-US" sz="2000" dirty="0"/>
          </a:p>
        </p:txBody>
      </p:sp>
      <p:sp>
        <p:nvSpPr>
          <p:cNvPr id="9" name="Text 6"/>
          <p:cNvSpPr txBox="1"/>
          <p:nvPr/>
        </p:nvSpPr>
        <p:spPr>
          <a:xfrm>
            <a:off x="4754880" y="1463040"/>
            <a:ext cx="3931920" cy="31089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Machine-learning / anomaly detection</a:t>
            </a:r>
            <a:endParaRPr lang="en-US" sz="1400" dirty="0"/>
          </a:p>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Multi-node or cloud deployment</a:t>
            </a:r>
            <a:endParaRPr lang="en-US" sz="1400" dirty="0"/>
          </a:p>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Automatic blocking of attackers</a:t>
            </a:r>
            <a:endParaRPr lang="en-US" sz="1400" dirty="0"/>
          </a:p>
          <a:p>
            <a:pPr marL="177800" indent="-177800">
              <a:spcAft>
                <a:spcPts val="600"/>
              </a:spcAft>
              <a:buSzPct val="100000"/>
              <a:buChar char="•"/>
            </a:pPr>
            <a:r>
              <a:rPr lang="en-US" sz="1400" dirty="0">
                <a:solidFill>
                  <a:srgbClr val="1B2733"/>
                </a:solidFill>
                <a:latin typeface="Calibri" pitchFamily="34" charset="0"/>
                <a:ea typeface="Calibri" pitchFamily="34" charset="-122"/>
                <a:cs typeface="Calibri" pitchFamily="34" charset="-120"/>
              </a:rPr>
              <a:t>Windows, firewall and packet logs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Technology Stack</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7 / 20</a:t>
            </a:r>
            <a:endParaRPr lang="en-US" sz="900" dirty="0"/>
          </a:p>
        </p:txBody>
      </p:sp>
      <p:sp>
        <p:nvSpPr>
          <p:cNvPr id="6" name="Shape 3"/>
          <p:cNvSpPr/>
          <p:nvPr/>
        </p:nvSpPr>
        <p:spPr>
          <a:xfrm>
            <a:off x="457200" y="1051560"/>
            <a:ext cx="4023360" cy="749808"/>
          </a:xfrm>
          <a:prstGeom prst="roundRect">
            <a:avLst>
              <a:gd name="adj" fmla="val 9756"/>
            </a:avLst>
          </a:prstGeom>
          <a:solidFill>
            <a:srgbClr val="F2F6F9"/>
          </a:solidFill>
          <a:ln w="12700">
            <a:solidFill>
              <a:srgbClr val="F2F6F9"/>
            </a:solidFill>
            <a:prstDash val="solid"/>
          </a:ln>
        </p:spPr>
      </p:sp>
      <p:sp>
        <p:nvSpPr>
          <p:cNvPr id="7" name="Shape 4"/>
          <p:cNvSpPr/>
          <p:nvPr/>
        </p:nvSpPr>
        <p:spPr>
          <a:xfrm>
            <a:off x="640080" y="1289304"/>
            <a:ext cx="274320" cy="274320"/>
          </a:xfrm>
          <a:prstGeom prst="ellipse">
            <a:avLst/>
          </a:prstGeom>
          <a:solidFill>
            <a:srgbClr val="1FA2A6"/>
          </a:solidFill>
          <a:ln w="12700">
            <a:solidFill>
              <a:srgbClr val="1FA2A6"/>
            </a:solidFill>
            <a:prstDash val="solid"/>
          </a:ln>
        </p:spPr>
      </p:sp>
      <p:sp>
        <p:nvSpPr>
          <p:cNvPr id="8" name="Text 5"/>
          <p:cNvSpPr txBox="1"/>
          <p:nvPr/>
        </p:nvSpPr>
        <p:spPr>
          <a:xfrm>
            <a:off x="1097280" y="1124712"/>
            <a:ext cx="3200400" cy="301752"/>
          </a:xfrm>
          <a:prstGeom prst="rect">
            <a:avLst/>
          </a:prstGeom>
          <a:noFill/>
          <a:ln/>
        </p:spPr>
        <p:txBody>
          <a:bodyPr wrap="square" lIns="0" tIns="0" rIns="0" bIns="0" rtlCol="0" anchor="ctr"/>
          <a:lstStyle/>
          <a:p>
            <a:pPr indent="0" marL="0">
              <a:buNone/>
            </a:pPr>
            <a:r>
              <a:rPr lang="en-US" sz="1300" b="1" dirty="0">
                <a:solidFill>
                  <a:srgbClr val="5B6B7B"/>
                </a:solidFill>
                <a:latin typeface="Calibri" pitchFamily="34" charset="0"/>
                <a:ea typeface="Calibri" pitchFamily="34" charset="-122"/>
                <a:cs typeface="Calibri" pitchFamily="34" charset="-120"/>
              </a:rPr>
              <a:t>Collection</a:t>
            </a:r>
            <a:endParaRPr lang="en-US" sz="1300" dirty="0"/>
          </a:p>
        </p:txBody>
      </p:sp>
      <p:sp>
        <p:nvSpPr>
          <p:cNvPr id="9" name="Text 6"/>
          <p:cNvSpPr txBox="1"/>
          <p:nvPr/>
        </p:nvSpPr>
        <p:spPr>
          <a:xfrm>
            <a:off x="1097280" y="1417320"/>
            <a:ext cx="3291840" cy="320040"/>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Vector (VRL parsing)</a:t>
            </a:r>
            <a:endParaRPr lang="en-US" sz="1500" dirty="0"/>
          </a:p>
        </p:txBody>
      </p:sp>
      <p:sp>
        <p:nvSpPr>
          <p:cNvPr id="10" name="Shape 7"/>
          <p:cNvSpPr/>
          <p:nvPr/>
        </p:nvSpPr>
        <p:spPr>
          <a:xfrm>
            <a:off x="4663440" y="1051560"/>
            <a:ext cx="4023360" cy="749808"/>
          </a:xfrm>
          <a:prstGeom prst="roundRect">
            <a:avLst>
              <a:gd name="adj" fmla="val 9756"/>
            </a:avLst>
          </a:prstGeom>
          <a:solidFill>
            <a:srgbClr val="F2F6F9"/>
          </a:solidFill>
          <a:ln w="12700">
            <a:solidFill>
              <a:srgbClr val="F2F6F9"/>
            </a:solidFill>
            <a:prstDash val="solid"/>
          </a:ln>
        </p:spPr>
      </p:sp>
      <p:sp>
        <p:nvSpPr>
          <p:cNvPr id="11" name="Shape 8"/>
          <p:cNvSpPr/>
          <p:nvPr/>
        </p:nvSpPr>
        <p:spPr>
          <a:xfrm>
            <a:off x="4846320" y="1289304"/>
            <a:ext cx="274320" cy="274320"/>
          </a:xfrm>
          <a:prstGeom prst="ellipse">
            <a:avLst/>
          </a:prstGeom>
          <a:solidFill>
            <a:srgbClr val="0B1F33"/>
          </a:solidFill>
          <a:ln w="12700">
            <a:solidFill>
              <a:srgbClr val="0B1F33"/>
            </a:solidFill>
            <a:prstDash val="solid"/>
          </a:ln>
        </p:spPr>
      </p:sp>
      <p:sp>
        <p:nvSpPr>
          <p:cNvPr id="12" name="Text 9"/>
          <p:cNvSpPr txBox="1"/>
          <p:nvPr/>
        </p:nvSpPr>
        <p:spPr>
          <a:xfrm>
            <a:off x="5303520" y="1124712"/>
            <a:ext cx="3200400" cy="301752"/>
          </a:xfrm>
          <a:prstGeom prst="rect">
            <a:avLst/>
          </a:prstGeom>
          <a:noFill/>
          <a:ln/>
        </p:spPr>
        <p:txBody>
          <a:bodyPr wrap="square" lIns="0" tIns="0" rIns="0" bIns="0" rtlCol="0" anchor="ctr"/>
          <a:lstStyle/>
          <a:p>
            <a:pPr indent="0" marL="0">
              <a:buNone/>
            </a:pPr>
            <a:r>
              <a:rPr lang="en-US" sz="1300" b="1" dirty="0">
                <a:solidFill>
                  <a:srgbClr val="5B6B7B"/>
                </a:solidFill>
                <a:latin typeface="Calibri" pitchFamily="34" charset="0"/>
                <a:ea typeface="Calibri" pitchFamily="34" charset="-122"/>
                <a:cs typeface="Calibri" pitchFamily="34" charset="-120"/>
              </a:rPr>
              <a:t>Storage &amp; Search</a:t>
            </a:r>
            <a:endParaRPr lang="en-US" sz="1300" dirty="0"/>
          </a:p>
        </p:txBody>
      </p:sp>
      <p:sp>
        <p:nvSpPr>
          <p:cNvPr id="13" name="Text 10"/>
          <p:cNvSpPr txBox="1"/>
          <p:nvPr/>
        </p:nvSpPr>
        <p:spPr>
          <a:xfrm>
            <a:off x="5303520" y="1417320"/>
            <a:ext cx="3291840" cy="320040"/>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OpenSearch</a:t>
            </a:r>
            <a:endParaRPr lang="en-US" sz="1500" dirty="0"/>
          </a:p>
        </p:txBody>
      </p:sp>
      <p:sp>
        <p:nvSpPr>
          <p:cNvPr id="14" name="Shape 11"/>
          <p:cNvSpPr/>
          <p:nvPr/>
        </p:nvSpPr>
        <p:spPr>
          <a:xfrm>
            <a:off x="457200" y="1947672"/>
            <a:ext cx="4023360" cy="749808"/>
          </a:xfrm>
          <a:prstGeom prst="roundRect">
            <a:avLst>
              <a:gd name="adj" fmla="val 9756"/>
            </a:avLst>
          </a:prstGeom>
          <a:solidFill>
            <a:srgbClr val="F2F6F9"/>
          </a:solidFill>
          <a:ln w="12700">
            <a:solidFill>
              <a:srgbClr val="F2F6F9"/>
            </a:solidFill>
            <a:prstDash val="solid"/>
          </a:ln>
        </p:spPr>
      </p:sp>
      <p:sp>
        <p:nvSpPr>
          <p:cNvPr id="15" name="Shape 12"/>
          <p:cNvSpPr/>
          <p:nvPr/>
        </p:nvSpPr>
        <p:spPr>
          <a:xfrm>
            <a:off x="640080" y="2185416"/>
            <a:ext cx="274320" cy="274320"/>
          </a:xfrm>
          <a:prstGeom prst="ellipse">
            <a:avLst/>
          </a:prstGeom>
          <a:solidFill>
            <a:srgbClr val="E63946"/>
          </a:solidFill>
          <a:ln w="12700">
            <a:solidFill>
              <a:srgbClr val="E63946"/>
            </a:solidFill>
            <a:prstDash val="solid"/>
          </a:ln>
        </p:spPr>
      </p:sp>
      <p:sp>
        <p:nvSpPr>
          <p:cNvPr id="16" name="Text 13"/>
          <p:cNvSpPr txBox="1"/>
          <p:nvPr/>
        </p:nvSpPr>
        <p:spPr>
          <a:xfrm>
            <a:off x="1097280" y="2020824"/>
            <a:ext cx="3200400" cy="301752"/>
          </a:xfrm>
          <a:prstGeom prst="rect">
            <a:avLst/>
          </a:prstGeom>
          <a:noFill/>
          <a:ln/>
        </p:spPr>
        <p:txBody>
          <a:bodyPr wrap="square" lIns="0" tIns="0" rIns="0" bIns="0" rtlCol="0" anchor="ctr"/>
          <a:lstStyle/>
          <a:p>
            <a:pPr indent="0" marL="0">
              <a:buNone/>
            </a:pPr>
            <a:r>
              <a:rPr lang="en-US" sz="1300" b="1" dirty="0">
                <a:solidFill>
                  <a:srgbClr val="5B6B7B"/>
                </a:solidFill>
                <a:latin typeface="Calibri" pitchFamily="34" charset="0"/>
                <a:ea typeface="Calibri" pitchFamily="34" charset="-122"/>
                <a:cs typeface="Calibri" pitchFamily="34" charset="-120"/>
              </a:rPr>
              <a:t>Back End</a:t>
            </a:r>
            <a:endParaRPr lang="en-US" sz="1300" dirty="0"/>
          </a:p>
        </p:txBody>
      </p:sp>
      <p:sp>
        <p:nvSpPr>
          <p:cNvPr id="17" name="Text 14"/>
          <p:cNvSpPr txBox="1"/>
          <p:nvPr/>
        </p:nvSpPr>
        <p:spPr>
          <a:xfrm>
            <a:off x="1097280" y="2313432"/>
            <a:ext cx="3291840" cy="320040"/>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Python 3.11, FastAPI, Uvicorn</a:t>
            </a:r>
            <a:endParaRPr lang="en-US" sz="1500" dirty="0"/>
          </a:p>
        </p:txBody>
      </p:sp>
      <p:sp>
        <p:nvSpPr>
          <p:cNvPr id="18" name="Shape 15"/>
          <p:cNvSpPr/>
          <p:nvPr/>
        </p:nvSpPr>
        <p:spPr>
          <a:xfrm>
            <a:off x="4663440" y="1947672"/>
            <a:ext cx="4023360" cy="749808"/>
          </a:xfrm>
          <a:prstGeom prst="roundRect">
            <a:avLst>
              <a:gd name="adj" fmla="val 9756"/>
            </a:avLst>
          </a:prstGeom>
          <a:solidFill>
            <a:srgbClr val="F2F6F9"/>
          </a:solidFill>
          <a:ln w="12700">
            <a:solidFill>
              <a:srgbClr val="F2F6F9"/>
            </a:solidFill>
            <a:prstDash val="solid"/>
          </a:ln>
        </p:spPr>
      </p:sp>
      <p:sp>
        <p:nvSpPr>
          <p:cNvPr id="19" name="Shape 16"/>
          <p:cNvSpPr/>
          <p:nvPr/>
        </p:nvSpPr>
        <p:spPr>
          <a:xfrm>
            <a:off x="4846320" y="2185416"/>
            <a:ext cx="274320" cy="274320"/>
          </a:xfrm>
          <a:prstGeom prst="ellipse">
            <a:avLst/>
          </a:prstGeom>
          <a:solidFill>
            <a:srgbClr val="1FA2A6"/>
          </a:solidFill>
          <a:ln w="12700">
            <a:solidFill>
              <a:srgbClr val="1FA2A6"/>
            </a:solidFill>
            <a:prstDash val="solid"/>
          </a:ln>
        </p:spPr>
      </p:sp>
      <p:sp>
        <p:nvSpPr>
          <p:cNvPr id="20" name="Text 17"/>
          <p:cNvSpPr txBox="1"/>
          <p:nvPr/>
        </p:nvSpPr>
        <p:spPr>
          <a:xfrm>
            <a:off x="5303520" y="2020824"/>
            <a:ext cx="3200400" cy="301752"/>
          </a:xfrm>
          <a:prstGeom prst="rect">
            <a:avLst/>
          </a:prstGeom>
          <a:noFill/>
          <a:ln/>
        </p:spPr>
        <p:txBody>
          <a:bodyPr wrap="square" lIns="0" tIns="0" rIns="0" bIns="0" rtlCol="0" anchor="ctr"/>
          <a:lstStyle/>
          <a:p>
            <a:pPr indent="0" marL="0">
              <a:buNone/>
            </a:pPr>
            <a:r>
              <a:rPr lang="en-US" sz="1300" b="1" dirty="0">
                <a:solidFill>
                  <a:srgbClr val="5B6B7B"/>
                </a:solidFill>
                <a:latin typeface="Calibri" pitchFamily="34" charset="0"/>
                <a:ea typeface="Calibri" pitchFamily="34" charset="-122"/>
                <a:cs typeface="Calibri" pitchFamily="34" charset="-120"/>
              </a:rPr>
              <a:t>Front End</a:t>
            </a:r>
            <a:endParaRPr lang="en-US" sz="1300" dirty="0"/>
          </a:p>
        </p:txBody>
      </p:sp>
      <p:sp>
        <p:nvSpPr>
          <p:cNvPr id="21" name="Text 18"/>
          <p:cNvSpPr txBox="1"/>
          <p:nvPr/>
        </p:nvSpPr>
        <p:spPr>
          <a:xfrm>
            <a:off x="5303520" y="2313432"/>
            <a:ext cx="3291840" cy="320040"/>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HTML, JS, Tailwind CSS, Chart.js</a:t>
            </a:r>
            <a:endParaRPr lang="en-US" sz="1500" dirty="0"/>
          </a:p>
        </p:txBody>
      </p:sp>
      <p:sp>
        <p:nvSpPr>
          <p:cNvPr id="22" name="Shape 19"/>
          <p:cNvSpPr/>
          <p:nvPr/>
        </p:nvSpPr>
        <p:spPr>
          <a:xfrm>
            <a:off x="457200" y="2843784"/>
            <a:ext cx="4023360" cy="749808"/>
          </a:xfrm>
          <a:prstGeom prst="roundRect">
            <a:avLst>
              <a:gd name="adj" fmla="val 9756"/>
            </a:avLst>
          </a:prstGeom>
          <a:solidFill>
            <a:srgbClr val="F2F6F9"/>
          </a:solidFill>
          <a:ln w="12700">
            <a:solidFill>
              <a:srgbClr val="F2F6F9"/>
            </a:solidFill>
            <a:prstDash val="solid"/>
          </a:ln>
        </p:spPr>
      </p:sp>
      <p:sp>
        <p:nvSpPr>
          <p:cNvPr id="23" name="Shape 20"/>
          <p:cNvSpPr/>
          <p:nvPr/>
        </p:nvSpPr>
        <p:spPr>
          <a:xfrm>
            <a:off x="640080" y="3081528"/>
            <a:ext cx="274320" cy="274320"/>
          </a:xfrm>
          <a:prstGeom prst="ellipse">
            <a:avLst/>
          </a:prstGeom>
          <a:solidFill>
            <a:srgbClr val="0B1F33"/>
          </a:solidFill>
          <a:ln w="12700">
            <a:solidFill>
              <a:srgbClr val="0B1F33"/>
            </a:solidFill>
            <a:prstDash val="solid"/>
          </a:ln>
        </p:spPr>
      </p:sp>
      <p:sp>
        <p:nvSpPr>
          <p:cNvPr id="24" name="Text 21"/>
          <p:cNvSpPr txBox="1"/>
          <p:nvPr/>
        </p:nvSpPr>
        <p:spPr>
          <a:xfrm>
            <a:off x="1097280" y="2916936"/>
            <a:ext cx="3200400" cy="301752"/>
          </a:xfrm>
          <a:prstGeom prst="rect">
            <a:avLst/>
          </a:prstGeom>
          <a:noFill/>
          <a:ln/>
        </p:spPr>
        <p:txBody>
          <a:bodyPr wrap="square" lIns="0" tIns="0" rIns="0" bIns="0" rtlCol="0" anchor="ctr"/>
          <a:lstStyle/>
          <a:p>
            <a:pPr indent="0" marL="0">
              <a:buNone/>
            </a:pPr>
            <a:r>
              <a:rPr lang="en-US" sz="1300" b="1" dirty="0">
                <a:solidFill>
                  <a:srgbClr val="5B6B7B"/>
                </a:solidFill>
                <a:latin typeface="Calibri" pitchFamily="34" charset="0"/>
                <a:ea typeface="Calibri" pitchFamily="34" charset="-122"/>
                <a:cs typeface="Calibri" pitchFamily="34" charset="-120"/>
              </a:rPr>
              <a:t>Web Server</a:t>
            </a:r>
            <a:endParaRPr lang="en-US" sz="1300" dirty="0"/>
          </a:p>
        </p:txBody>
      </p:sp>
      <p:sp>
        <p:nvSpPr>
          <p:cNvPr id="25" name="Text 22"/>
          <p:cNvSpPr txBox="1"/>
          <p:nvPr/>
        </p:nvSpPr>
        <p:spPr>
          <a:xfrm>
            <a:off x="1097280" y="3209544"/>
            <a:ext cx="3291840" cy="320040"/>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Nginx – demo site, proxy, logs</a:t>
            </a:r>
            <a:endParaRPr lang="en-US" sz="1500" dirty="0"/>
          </a:p>
        </p:txBody>
      </p:sp>
      <p:sp>
        <p:nvSpPr>
          <p:cNvPr id="26" name="Shape 23"/>
          <p:cNvSpPr/>
          <p:nvPr/>
        </p:nvSpPr>
        <p:spPr>
          <a:xfrm>
            <a:off x="4663440" y="2843784"/>
            <a:ext cx="4023360" cy="749808"/>
          </a:xfrm>
          <a:prstGeom prst="roundRect">
            <a:avLst>
              <a:gd name="adj" fmla="val 9756"/>
            </a:avLst>
          </a:prstGeom>
          <a:solidFill>
            <a:srgbClr val="F2F6F9"/>
          </a:solidFill>
          <a:ln w="12700">
            <a:solidFill>
              <a:srgbClr val="F2F6F9"/>
            </a:solidFill>
            <a:prstDash val="solid"/>
          </a:ln>
        </p:spPr>
      </p:sp>
      <p:sp>
        <p:nvSpPr>
          <p:cNvPr id="27" name="Shape 24"/>
          <p:cNvSpPr/>
          <p:nvPr/>
        </p:nvSpPr>
        <p:spPr>
          <a:xfrm>
            <a:off x="4846320" y="3081528"/>
            <a:ext cx="274320" cy="274320"/>
          </a:xfrm>
          <a:prstGeom prst="ellipse">
            <a:avLst/>
          </a:prstGeom>
          <a:solidFill>
            <a:srgbClr val="E63946"/>
          </a:solidFill>
          <a:ln w="12700">
            <a:solidFill>
              <a:srgbClr val="E63946"/>
            </a:solidFill>
            <a:prstDash val="solid"/>
          </a:ln>
        </p:spPr>
      </p:sp>
      <p:sp>
        <p:nvSpPr>
          <p:cNvPr id="28" name="Text 25"/>
          <p:cNvSpPr txBox="1"/>
          <p:nvPr/>
        </p:nvSpPr>
        <p:spPr>
          <a:xfrm>
            <a:off x="5303520" y="2916936"/>
            <a:ext cx="3200400" cy="301752"/>
          </a:xfrm>
          <a:prstGeom prst="rect">
            <a:avLst/>
          </a:prstGeom>
          <a:noFill/>
          <a:ln/>
        </p:spPr>
        <p:txBody>
          <a:bodyPr wrap="square" lIns="0" tIns="0" rIns="0" bIns="0" rtlCol="0" anchor="ctr"/>
          <a:lstStyle/>
          <a:p>
            <a:pPr indent="0" marL="0">
              <a:buNone/>
            </a:pPr>
            <a:r>
              <a:rPr lang="en-US" sz="1300" b="1" dirty="0">
                <a:solidFill>
                  <a:srgbClr val="5B6B7B"/>
                </a:solidFill>
                <a:latin typeface="Calibri" pitchFamily="34" charset="0"/>
                <a:ea typeface="Calibri" pitchFamily="34" charset="-122"/>
                <a:cs typeface="Calibri" pitchFamily="34" charset="-120"/>
              </a:rPr>
              <a:t>Deployment</a:t>
            </a:r>
            <a:endParaRPr lang="en-US" sz="1300" dirty="0"/>
          </a:p>
        </p:txBody>
      </p:sp>
      <p:sp>
        <p:nvSpPr>
          <p:cNvPr id="29" name="Text 26"/>
          <p:cNvSpPr txBox="1"/>
          <p:nvPr/>
        </p:nvSpPr>
        <p:spPr>
          <a:xfrm>
            <a:off x="5303520" y="3209544"/>
            <a:ext cx="3291840" cy="320040"/>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Docker &amp; Docker Compose</a:t>
            </a:r>
            <a:endParaRPr lang="en-US" sz="1500" dirty="0"/>
          </a:p>
        </p:txBody>
      </p:sp>
      <p:sp>
        <p:nvSpPr>
          <p:cNvPr id="30" name="Shape 27"/>
          <p:cNvSpPr/>
          <p:nvPr/>
        </p:nvSpPr>
        <p:spPr>
          <a:xfrm>
            <a:off x="457200" y="3739896"/>
            <a:ext cx="4023360" cy="749808"/>
          </a:xfrm>
          <a:prstGeom prst="roundRect">
            <a:avLst>
              <a:gd name="adj" fmla="val 9756"/>
            </a:avLst>
          </a:prstGeom>
          <a:solidFill>
            <a:srgbClr val="F2F6F9"/>
          </a:solidFill>
          <a:ln w="12700">
            <a:solidFill>
              <a:srgbClr val="F2F6F9"/>
            </a:solidFill>
            <a:prstDash val="solid"/>
          </a:ln>
        </p:spPr>
      </p:sp>
      <p:sp>
        <p:nvSpPr>
          <p:cNvPr id="31" name="Shape 28"/>
          <p:cNvSpPr/>
          <p:nvPr/>
        </p:nvSpPr>
        <p:spPr>
          <a:xfrm>
            <a:off x="640080" y="3977640"/>
            <a:ext cx="274320" cy="274320"/>
          </a:xfrm>
          <a:prstGeom prst="ellipse">
            <a:avLst/>
          </a:prstGeom>
          <a:solidFill>
            <a:srgbClr val="1FA2A6"/>
          </a:solidFill>
          <a:ln w="12700">
            <a:solidFill>
              <a:srgbClr val="1FA2A6"/>
            </a:solidFill>
            <a:prstDash val="solid"/>
          </a:ln>
        </p:spPr>
      </p:sp>
      <p:sp>
        <p:nvSpPr>
          <p:cNvPr id="32" name="Text 29"/>
          <p:cNvSpPr txBox="1"/>
          <p:nvPr/>
        </p:nvSpPr>
        <p:spPr>
          <a:xfrm>
            <a:off x="1097280" y="3813048"/>
            <a:ext cx="3200400" cy="301752"/>
          </a:xfrm>
          <a:prstGeom prst="rect">
            <a:avLst/>
          </a:prstGeom>
          <a:noFill/>
          <a:ln/>
        </p:spPr>
        <p:txBody>
          <a:bodyPr wrap="square" lIns="0" tIns="0" rIns="0" bIns="0" rtlCol="0" anchor="ctr"/>
          <a:lstStyle/>
          <a:p>
            <a:pPr indent="0" marL="0">
              <a:buNone/>
            </a:pPr>
            <a:r>
              <a:rPr lang="en-US" sz="1300" b="1" dirty="0">
                <a:solidFill>
                  <a:srgbClr val="5B6B7B"/>
                </a:solidFill>
                <a:latin typeface="Calibri" pitchFamily="34" charset="0"/>
                <a:ea typeface="Calibri" pitchFamily="34" charset="-122"/>
                <a:cs typeface="Calibri" pitchFamily="34" charset="-120"/>
              </a:rPr>
              <a:t>Threat Frameworks</a:t>
            </a:r>
            <a:endParaRPr lang="en-US" sz="1300" dirty="0"/>
          </a:p>
        </p:txBody>
      </p:sp>
      <p:sp>
        <p:nvSpPr>
          <p:cNvPr id="33" name="Text 30"/>
          <p:cNvSpPr txBox="1"/>
          <p:nvPr/>
        </p:nvSpPr>
        <p:spPr>
          <a:xfrm>
            <a:off x="1097280" y="4105656"/>
            <a:ext cx="3291840" cy="320040"/>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MITRE ATT&amp;CK, OWASP, CWE</a:t>
            </a:r>
            <a:endParaRPr lang="en-US" sz="1500" dirty="0"/>
          </a:p>
        </p:txBody>
      </p:sp>
      <p:sp>
        <p:nvSpPr>
          <p:cNvPr id="34" name="Shape 31"/>
          <p:cNvSpPr/>
          <p:nvPr/>
        </p:nvSpPr>
        <p:spPr>
          <a:xfrm>
            <a:off x="4663440" y="3739896"/>
            <a:ext cx="4023360" cy="749808"/>
          </a:xfrm>
          <a:prstGeom prst="roundRect">
            <a:avLst>
              <a:gd name="adj" fmla="val 9756"/>
            </a:avLst>
          </a:prstGeom>
          <a:solidFill>
            <a:srgbClr val="F2F6F9"/>
          </a:solidFill>
          <a:ln w="12700">
            <a:solidFill>
              <a:srgbClr val="F2F6F9"/>
            </a:solidFill>
            <a:prstDash val="solid"/>
          </a:ln>
        </p:spPr>
      </p:sp>
      <p:sp>
        <p:nvSpPr>
          <p:cNvPr id="35" name="Shape 32"/>
          <p:cNvSpPr/>
          <p:nvPr/>
        </p:nvSpPr>
        <p:spPr>
          <a:xfrm>
            <a:off x="4846320" y="3977640"/>
            <a:ext cx="274320" cy="274320"/>
          </a:xfrm>
          <a:prstGeom prst="ellipse">
            <a:avLst/>
          </a:prstGeom>
          <a:solidFill>
            <a:srgbClr val="0B1F33"/>
          </a:solidFill>
          <a:ln w="12700">
            <a:solidFill>
              <a:srgbClr val="0B1F33"/>
            </a:solidFill>
            <a:prstDash val="solid"/>
          </a:ln>
        </p:spPr>
      </p:sp>
      <p:sp>
        <p:nvSpPr>
          <p:cNvPr id="36" name="Text 33"/>
          <p:cNvSpPr txBox="1"/>
          <p:nvPr/>
        </p:nvSpPr>
        <p:spPr>
          <a:xfrm>
            <a:off x="5303520" y="3813048"/>
            <a:ext cx="3200400" cy="301752"/>
          </a:xfrm>
          <a:prstGeom prst="rect">
            <a:avLst/>
          </a:prstGeom>
          <a:noFill/>
          <a:ln/>
        </p:spPr>
        <p:txBody>
          <a:bodyPr wrap="square" lIns="0" tIns="0" rIns="0" bIns="0" rtlCol="0" anchor="ctr"/>
          <a:lstStyle/>
          <a:p>
            <a:pPr indent="0" marL="0">
              <a:buNone/>
            </a:pPr>
            <a:r>
              <a:rPr lang="en-US" sz="1300" b="1" dirty="0">
                <a:solidFill>
                  <a:srgbClr val="5B6B7B"/>
                </a:solidFill>
                <a:latin typeface="Calibri" pitchFamily="34" charset="0"/>
                <a:ea typeface="Calibri" pitchFamily="34" charset="-122"/>
                <a:cs typeface="Calibri" pitchFamily="34" charset="-120"/>
              </a:rPr>
              <a:t>Tools</a:t>
            </a:r>
            <a:endParaRPr lang="en-US" sz="1300" dirty="0"/>
          </a:p>
        </p:txBody>
      </p:sp>
      <p:sp>
        <p:nvSpPr>
          <p:cNvPr id="37" name="Text 34"/>
          <p:cNvSpPr txBox="1"/>
          <p:nvPr/>
        </p:nvSpPr>
        <p:spPr>
          <a:xfrm>
            <a:off x="5303520" y="4105656"/>
            <a:ext cx="3291840" cy="320040"/>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Parrot OS, Git, GitHub, VS Code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System Architecture</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8 / 20</a:t>
            </a:r>
            <a:endParaRPr lang="en-US" sz="900" dirty="0"/>
          </a:p>
        </p:txBody>
      </p:sp>
      <p:sp>
        <p:nvSpPr>
          <p:cNvPr id="6" name="Text 3"/>
          <p:cNvSpPr txBox="1"/>
          <p:nvPr/>
        </p:nvSpPr>
        <p:spPr>
          <a:xfrm>
            <a:off x="365760" y="960120"/>
            <a:ext cx="1828800" cy="274320"/>
          </a:xfrm>
          <a:prstGeom prst="rect">
            <a:avLst/>
          </a:prstGeom>
          <a:noFill/>
          <a:ln/>
        </p:spPr>
        <p:txBody>
          <a:bodyPr wrap="square" lIns="0" tIns="0" rIns="0" bIns="0" rtlCol="0" anchor="ctr"/>
          <a:lstStyle/>
          <a:p>
            <a:pPr algn="ctr" indent="0" marL="0">
              <a:buNone/>
            </a:pPr>
            <a:r>
              <a:rPr lang="en-US" sz="1000" b="1" dirty="0">
                <a:solidFill>
                  <a:srgbClr val="5B6B7B"/>
                </a:solidFill>
                <a:latin typeface="Calibri" pitchFamily="34" charset="0"/>
                <a:ea typeface="Calibri" pitchFamily="34" charset="-122"/>
                <a:cs typeface="Calibri" pitchFamily="34" charset="-120"/>
              </a:rPr>
              <a:t>LOG SOURCES</a:t>
            </a:r>
            <a:endParaRPr lang="en-US" sz="1000" dirty="0"/>
          </a:p>
        </p:txBody>
      </p:sp>
      <p:sp>
        <p:nvSpPr>
          <p:cNvPr id="7" name="Shape 4"/>
          <p:cNvSpPr/>
          <p:nvPr/>
        </p:nvSpPr>
        <p:spPr>
          <a:xfrm>
            <a:off x="365760" y="1280160"/>
            <a:ext cx="1828800" cy="548640"/>
          </a:xfrm>
          <a:prstGeom prst="roundRect">
            <a:avLst>
              <a:gd name="adj" fmla="val 13333"/>
            </a:avLst>
          </a:prstGeom>
          <a:solidFill>
            <a:srgbClr val="F2F6F9"/>
          </a:solidFill>
          <a:ln w="12700">
            <a:solidFill>
              <a:srgbClr val="F2F6F9"/>
            </a:solidFill>
            <a:prstDash val="solid"/>
          </a:ln>
        </p:spPr>
      </p:sp>
      <p:sp>
        <p:nvSpPr>
          <p:cNvPr id="8" name="Text 5"/>
          <p:cNvSpPr txBox="1"/>
          <p:nvPr/>
        </p:nvSpPr>
        <p:spPr>
          <a:xfrm>
            <a:off x="365760" y="1280160"/>
            <a:ext cx="1828800" cy="548640"/>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Web Login Log</a:t>
            </a:r>
            <a:endParaRPr lang="en-US" sz="1200" dirty="0"/>
          </a:p>
        </p:txBody>
      </p:sp>
      <p:sp>
        <p:nvSpPr>
          <p:cNvPr id="9" name="Shape 6"/>
          <p:cNvSpPr/>
          <p:nvPr/>
        </p:nvSpPr>
        <p:spPr>
          <a:xfrm>
            <a:off x="365760" y="2011680"/>
            <a:ext cx="1828800" cy="548640"/>
          </a:xfrm>
          <a:prstGeom prst="roundRect">
            <a:avLst>
              <a:gd name="adj" fmla="val 13333"/>
            </a:avLst>
          </a:prstGeom>
          <a:solidFill>
            <a:srgbClr val="F2F6F9"/>
          </a:solidFill>
          <a:ln w="12700">
            <a:solidFill>
              <a:srgbClr val="F2F6F9"/>
            </a:solidFill>
            <a:prstDash val="solid"/>
          </a:ln>
        </p:spPr>
      </p:sp>
      <p:sp>
        <p:nvSpPr>
          <p:cNvPr id="10" name="Text 7"/>
          <p:cNvSpPr txBox="1"/>
          <p:nvPr/>
        </p:nvSpPr>
        <p:spPr>
          <a:xfrm>
            <a:off x="365760" y="2011680"/>
            <a:ext cx="1828800" cy="548640"/>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Nginx Access Log</a:t>
            </a:r>
            <a:endParaRPr lang="en-US" sz="1200" dirty="0"/>
          </a:p>
        </p:txBody>
      </p:sp>
      <p:sp>
        <p:nvSpPr>
          <p:cNvPr id="11" name="Shape 8"/>
          <p:cNvSpPr/>
          <p:nvPr/>
        </p:nvSpPr>
        <p:spPr>
          <a:xfrm>
            <a:off x="365760" y="2743200"/>
            <a:ext cx="1828800" cy="548640"/>
          </a:xfrm>
          <a:prstGeom prst="roundRect">
            <a:avLst>
              <a:gd name="adj" fmla="val 13333"/>
            </a:avLst>
          </a:prstGeom>
          <a:solidFill>
            <a:srgbClr val="F2F6F9"/>
          </a:solidFill>
          <a:ln w="12700">
            <a:solidFill>
              <a:srgbClr val="F2F6F9"/>
            </a:solidFill>
            <a:prstDash val="solid"/>
          </a:ln>
        </p:spPr>
      </p:sp>
      <p:sp>
        <p:nvSpPr>
          <p:cNvPr id="12" name="Text 9"/>
          <p:cNvSpPr txBox="1"/>
          <p:nvPr/>
        </p:nvSpPr>
        <p:spPr>
          <a:xfrm>
            <a:off x="365760" y="2743200"/>
            <a:ext cx="1828800" cy="548640"/>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SSH auth.log</a:t>
            </a:r>
            <a:endParaRPr lang="en-US" sz="1200" dirty="0"/>
          </a:p>
        </p:txBody>
      </p:sp>
      <p:sp>
        <p:nvSpPr>
          <p:cNvPr id="13" name="Shape 10"/>
          <p:cNvSpPr/>
          <p:nvPr/>
        </p:nvSpPr>
        <p:spPr>
          <a:xfrm>
            <a:off x="2743200" y="1737360"/>
            <a:ext cx="1371600" cy="1097280"/>
          </a:xfrm>
          <a:prstGeom prst="roundRect">
            <a:avLst>
              <a:gd name="adj" fmla="val 6667"/>
            </a:avLst>
          </a:prstGeom>
          <a:solidFill>
            <a:srgbClr val="1FA2A6"/>
          </a:solidFill>
          <a:ln w="12700">
            <a:solidFill>
              <a:srgbClr val="1FA2A6"/>
            </a:solidFill>
            <a:prstDash val="solid"/>
          </a:ln>
        </p:spPr>
      </p:sp>
      <p:sp>
        <p:nvSpPr>
          <p:cNvPr id="14" name="Text 11"/>
          <p:cNvSpPr txBox="1"/>
          <p:nvPr/>
        </p:nvSpPr>
        <p:spPr>
          <a:xfrm>
            <a:off x="2743200" y="1737360"/>
            <a:ext cx="1371600" cy="10972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Vector</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parse + tag</a:t>
            </a:r>
            <a:endParaRPr lang="en-US" sz="1300" dirty="0"/>
          </a:p>
        </p:txBody>
      </p:sp>
      <p:sp>
        <p:nvSpPr>
          <p:cNvPr id="15" name="Shape 12"/>
          <p:cNvSpPr/>
          <p:nvPr/>
        </p:nvSpPr>
        <p:spPr>
          <a:xfrm>
            <a:off x="2194560" y="1554480"/>
            <a:ext cx="548640" cy="548640"/>
          </a:xfrm>
          <a:prstGeom prst="line">
            <a:avLst/>
          </a:prstGeom>
          <a:noFill/>
          <a:ln w="25400">
            <a:solidFill>
              <a:srgbClr val="5B6B7B"/>
            </a:solidFill>
            <a:prstDash val="solid"/>
            <a:tailEnd type="triangle"/>
          </a:ln>
        </p:spPr>
      </p:sp>
      <p:sp>
        <p:nvSpPr>
          <p:cNvPr id="16" name="Shape 13"/>
          <p:cNvSpPr/>
          <p:nvPr/>
        </p:nvSpPr>
        <p:spPr>
          <a:xfrm>
            <a:off x="2194560" y="2286000"/>
            <a:ext cx="548640" cy="0"/>
          </a:xfrm>
          <a:prstGeom prst="line">
            <a:avLst/>
          </a:prstGeom>
          <a:noFill/>
          <a:ln w="25400">
            <a:solidFill>
              <a:srgbClr val="5B6B7B"/>
            </a:solidFill>
            <a:prstDash val="solid"/>
            <a:tailEnd type="triangle"/>
          </a:ln>
        </p:spPr>
      </p:sp>
      <p:sp>
        <p:nvSpPr>
          <p:cNvPr id="17" name="Shape 14"/>
          <p:cNvSpPr/>
          <p:nvPr/>
        </p:nvSpPr>
        <p:spPr>
          <a:xfrm flipV="1">
            <a:off x="2194560" y="2468880"/>
            <a:ext cx="548640" cy="548640"/>
          </a:xfrm>
          <a:prstGeom prst="line">
            <a:avLst/>
          </a:prstGeom>
          <a:noFill/>
          <a:ln w="25400">
            <a:solidFill>
              <a:srgbClr val="5B6B7B"/>
            </a:solidFill>
            <a:prstDash val="solid"/>
            <a:tailEnd type="triangle"/>
          </a:ln>
        </p:spPr>
      </p:sp>
      <p:sp>
        <p:nvSpPr>
          <p:cNvPr id="18" name="Shape 15"/>
          <p:cNvSpPr/>
          <p:nvPr/>
        </p:nvSpPr>
        <p:spPr>
          <a:xfrm>
            <a:off x="4572000" y="1737360"/>
            <a:ext cx="1463040" cy="1097280"/>
          </a:xfrm>
          <a:prstGeom prst="roundRect">
            <a:avLst>
              <a:gd name="adj" fmla="val 6667"/>
            </a:avLst>
          </a:prstGeom>
          <a:solidFill>
            <a:srgbClr val="0B1F33"/>
          </a:solidFill>
          <a:ln w="12700">
            <a:solidFill>
              <a:srgbClr val="0B1F33"/>
            </a:solidFill>
            <a:prstDash val="solid"/>
          </a:ln>
        </p:spPr>
      </p:sp>
      <p:sp>
        <p:nvSpPr>
          <p:cNvPr id="19" name="Text 16"/>
          <p:cNvSpPr txBox="1"/>
          <p:nvPr/>
        </p:nvSpPr>
        <p:spPr>
          <a:xfrm>
            <a:off x="4572000" y="1737360"/>
            <a:ext cx="1463040" cy="10972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OpenSearch</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logs · alerts · blocked</a:t>
            </a:r>
            <a:endParaRPr lang="en-US" sz="1200" dirty="0"/>
          </a:p>
        </p:txBody>
      </p:sp>
      <p:sp>
        <p:nvSpPr>
          <p:cNvPr id="20" name="Shape 17"/>
          <p:cNvSpPr/>
          <p:nvPr/>
        </p:nvSpPr>
        <p:spPr>
          <a:xfrm>
            <a:off x="4114800" y="2286000"/>
            <a:ext cx="457200" cy="0"/>
          </a:xfrm>
          <a:prstGeom prst="line">
            <a:avLst/>
          </a:prstGeom>
          <a:noFill/>
          <a:ln w="25400">
            <a:solidFill>
              <a:srgbClr val="5B6B7B"/>
            </a:solidFill>
            <a:prstDash val="solid"/>
            <a:tailEnd type="triangle"/>
          </a:ln>
        </p:spPr>
      </p:sp>
      <p:sp>
        <p:nvSpPr>
          <p:cNvPr id="21" name="Shape 18"/>
          <p:cNvSpPr/>
          <p:nvPr/>
        </p:nvSpPr>
        <p:spPr>
          <a:xfrm>
            <a:off x="6492240" y="1737360"/>
            <a:ext cx="2194560" cy="1097280"/>
          </a:xfrm>
          <a:prstGeom prst="roundRect">
            <a:avLst>
              <a:gd name="adj" fmla="val 6667"/>
            </a:avLst>
          </a:prstGeom>
          <a:solidFill>
            <a:srgbClr val="E63946"/>
          </a:solidFill>
          <a:ln w="12700">
            <a:solidFill>
              <a:srgbClr val="E63946"/>
            </a:solidFill>
            <a:prstDash val="solid"/>
          </a:ln>
        </p:spPr>
      </p:sp>
      <p:sp>
        <p:nvSpPr>
          <p:cNvPr id="22" name="Text 19"/>
          <p:cNvSpPr txBox="1"/>
          <p:nvPr/>
        </p:nvSpPr>
        <p:spPr>
          <a:xfrm>
            <a:off x="6492240" y="1737360"/>
            <a:ext cx="2194560" cy="10972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FastAPI</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Detection Engine</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 Auth API</a:t>
            </a:r>
            <a:endParaRPr lang="en-US" sz="1200" dirty="0"/>
          </a:p>
        </p:txBody>
      </p:sp>
      <p:sp>
        <p:nvSpPr>
          <p:cNvPr id="23" name="Shape 20"/>
          <p:cNvSpPr/>
          <p:nvPr/>
        </p:nvSpPr>
        <p:spPr>
          <a:xfrm>
            <a:off x="6035040" y="2286000"/>
            <a:ext cx="457200" cy="0"/>
          </a:xfrm>
          <a:prstGeom prst="line">
            <a:avLst/>
          </a:prstGeom>
          <a:noFill/>
          <a:ln w="25400">
            <a:solidFill>
              <a:srgbClr val="5B6B7B"/>
            </a:solidFill>
            <a:prstDash val="solid"/>
            <a:tailEnd type="triangle"/>
          </a:ln>
        </p:spPr>
      </p:sp>
      <p:sp>
        <p:nvSpPr>
          <p:cNvPr id="24" name="Shape 21"/>
          <p:cNvSpPr/>
          <p:nvPr/>
        </p:nvSpPr>
        <p:spPr>
          <a:xfrm>
            <a:off x="6492240" y="3291840"/>
            <a:ext cx="1005840" cy="640080"/>
          </a:xfrm>
          <a:prstGeom prst="roundRect">
            <a:avLst>
              <a:gd name="adj" fmla="val 11429"/>
            </a:avLst>
          </a:prstGeom>
          <a:solidFill>
            <a:srgbClr val="F2F6F9"/>
          </a:solidFill>
          <a:ln w="12700">
            <a:solidFill>
              <a:srgbClr val="F2F6F9"/>
            </a:solidFill>
            <a:prstDash val="solid"/>
          </a:ln>
        </p:spPr>
      </p:sp>
      <p:sp>
        <p:nvSpPr>
          <p:cNvPr id="25" name="Text 22"/>
          <p:cNvSpPr txBox="1"/>
          <p:nvPr/>
        </p:nvSpPr>
        <p:spPr>
          <a:xfrm>
            <a:off x="6492240" y="3291840"/>
            <a:ext cx="1005840" cy="640080"/>
          </a:xfrm>
          <a:prstGeom prst="rect">
            <a:avLst/>
          </a:prstGeom>
          <a:noFill/>
          <a:ln/>
        </p:spPr>
        <p:txBody>
          <a:bodyPr wrap="square" lIns="0" tIns="0" rIns="0" bIns="0" rtlCol="0" anchor="ctr"/>
          <a:lstStyle/>
          <a:p>
            <a:pPr algn="ctr" indent="0" marL="0">
              <a:buNone/>
            </a:pPr>
            <a:r>
              <a:rPr lang="en-US" sz="1100" b="1" dirty="0">
                <a:solidFill>
                  <a:srgbClr val="1B2733"/>
                </a:solidFill>
                <a:latin typeface="Calibri" pitchFamily="34" charset="0"/>
                <a:ea typeface="Calibri" pitchFamily="34" charset="-122"/>
                <a:cs typeface="Calibri" pitchFamily="34" charset="-120"/>
              </a:rPr>
              <a:t>Admin</a:t>
            </a:r>
            <a:endParaRPr lang="en-US" sz="1100" dirty="0"/>
          </a:p>
          <a:p>
            <a:pPr algn="ctr" indent="0" marL="0">
              <a:buNone/>
            </a:pPr>
            <a:r>
              <a:rPr lang="en-US" sz="1100" b="1" dirty="0">
                <a:solidFill>
                  <a:srgbClr val="1B2733"/>
                </a:solidFill>
                <a:latin typeface="Calibri" pitchFamily="34" charset="0"/>
                <a:ea typeface="Calibri" pitchFamily="34" charset="-122"/>
                <a:cs typeface="Calibri" pitchFamily="34" charset="-120"/>
              </a:rPr>
              <a:t>Dashboard</a:t>
            </a:r>
            <a:endParaRPr lang="en-US" sz="1100" dirty="0"/>
          </a:p>
        </p:txBody>
      </p:sp>
      <p:sp>
        <p:nvSpPr>
          <p:cNvPr id="26" name="Shape 23"/>
          <p:cNvSpPr/>
          <p:nvPr/>
        </p:nvSpPr>
        <p:spPr>
          <a:xfrm>
            <a:off x="7680960" y="3291840"/>
            <a:ext cx="1005840" cy="640080"/>
          </a:xfrm>
          <a:prstGeom prst="roundRect">
            <a:avLst>
              <a:gd name="adj" fmla="val 11429"/>
            </a:avLst>
          </a:prstGeom>
          <a:solidFill>
            <a:srgbClr val="F2F6F9"/>
          </a:solidFill>
          <a:ln w="12700">
            <a:solidFill>
              <a:srgbClr val="F2F6F9"/>
            </a:solidFill>
            <a:prstDash val="solid"/>
          </a:ln>
        </p:spPr>
      </p:sp>
      <p:sp>
        <p:nvSpPr>
          <p:cNvPr id="27" name="Text 24"/>
          <p:cNvSpPr txBox="1"/>
          <p:nvPr/>
        </p:nvSpPr>
        <p:spPr>
          <a:xfrm>
            <a:off x="7680960" y="3291840"/>
            <a:ext cx="1005840" cy="640080"/>
          </a:xfrm>
          <a:prstGeom prst="rect">
            <a:avLst/>
          </a:prstGeom>
          <a:noFill/>
          <a:ln/>
        </p:spPr>
        <p:txBody>
          <a:bodyPr wrap="square" lIns="0" tIns="0" rIns="0" bIns="0" rtlCol="0" anchor="ctr"/>
          <a:lstStyle/>
          <a:p>
            <a:pPr algn="ctr" indent="0" marL="0">
              <a:buNone/>
            </a:pPr>
            <a:r>
              <a:rPr lang="en-US" sz="1100" b="1" dirty="0">
                <a:solidFill>
                  <a:srgbClr val="1B2733"/>
                </a:solidFill>
                <a:latin typeface="Calibri" pitchFamily="34" charset="0"/>
                <a:ea typeface="Calibri" pitchFamily="34" charset="-122"/>
                <a:cs typeface="Calibri" pitchFamily="34" charset="-120"/>
              </a:rPr>
              <a:t>Viewer</a:t>
            </a:r>
            <a:endParaRPr lang="en-US" sz="1100" dirty="0"/>
          </a:p>
          <a:p>
            <a:pPr algn="ctr" indent="0" marL="0">
              <a:buNone/>
            </a:pPr>
            <a:r>
              <a:rPr lang="en-US" sz="1100" b="1" dirty="0">
                <a:solidFill>
                  <a:srgbClr val="1B2733"/>
                </a:solidFill>
                <a:latin typeface="Calibri" pitchFamily="34" charset="0"/>
                <a:ea typeface="Calibri" pitchFamily="34" charset="-122"/>
                <a:cs typeface="Calibri" pitchFamily="34" charset="-120"/>
              </a:rPr>
              <a:t>Dashboard</a:t>
            </a:r>
            <a:endParaRPr lang="en-US" sz="1100" dirty="0"/>
          </a:p>
        </p:txBody>
      </p:sp>
      <p:sp>
        <p:nvSpPr>
          <p:cNvPr id="28" name="Shape 25"/>
          <p:cNvSpPr/>
          <p:nvPr/>
        </p:nvSpPr>
        <p:spPr>
          <a:xfrm>
            <a:off x="7223760" y="2834640"/>
            <a:ext cx="-228600" cy="457200"/>
          </a:xfrm>
          <a:prstGeom prst="line">
            <a:avLst/>
          </a:prstGeom>
          <a:noFill/>
          <a:ln w="25400">
            <a:solidFill>
              <a:srgbClr val="5B6B7B"/>
            </a:solidFill>
            <a:prstDash val="solid"/>
            <a:tailEnd type="triangle"/>
          </a:ln>
        </p:spPr>
      </p:sp>
      <p:sp>
        <p:nvSpPr>
          <p:cNvPr id="29" name="Shape 26"/>
          <p:cNvSpPr/>
          <p:nvPr/>
        </p:nvSpPr>
        <p:spPr>
          <a:xfrm>
            <a:off x="7955280" y="2834640"/>
            <a:ext cx="228600" cy="457200"/>
          </a:xfrm>
          <a:prstGeom prst="line">
            <a:avLst/>
          </a:prstGeom>
          <a:noFill/>
          <a:ln w="25400">
            <a:solidFill>
              <a:srgbClr val="5B6B7B"/>
            </a:solidFill>
            <a:prstDash val="solid"/>
            <a:tailEnd type="triangle"/>
          </a:ln>
        </p:spPr>
      </p:sp>
      <p:sp>
        <p:nvSpPr>
          <p:cNvPr id="30" name="Shape 27"/>
          <p:cNvSpPr/>
          <p:nvPr/>
        </p:nvSpPr>
        <p:spPr>
          <a:xfrm>
            <a:off x="365760" y="3794760"/>
            <a:ext cx="1828800" cy="548640"/>
          </a:xfrm>
          <a:prstGeom prst="roundRect">
            <a:avLst>
              <a:gd name="adj" fmla="val 13333"/>
            </a:avLst>
          </a:prstGeom>
          <a:solidFill>
            <a:srgbClr val="FDECEE"/>
          </a:solidFill>
          <a:ln w="12700">
            <a:solidFill>
              <a:srgbClr val="FDECEE"/>
            </a:solidFill>
            <a:prstDash val="solid"/>
          </a:ln>
        </p:spPr>
      </p:sp>
      <p:sp>
        <p:nvSpPr>
          <p:cNvPr id="31" name="Text 28"/>
          <p:cNvSpPr txBox="1"/>
          <p:nvPr/>
        </p:nvSpPr>
        <p:spPr>
          <a:xfrm>
            <a:off x="365760" y="3794760"/>
            <a:ext cx="1828800" cy="548640"/>
          </a:xfrm>
          <a:prstGeom prst="rect">
            <a:avLst/>
          </a:prstGeom>
          <a:noFill/>
          <a:ln/>
        </p:spPr>
        <p:txBody>
          <a:bodyPr wrap="square" lIns="0" tIns="0" rIns="0" bIns="0" rtlCol="0" anchor="ctr"/>
          <a:lstStyle/>
          <a:p>
            <a:pPr algn="ctr" indent="0" marL="0">
              <a:buNone/>
            </a:pPr>
            <a:r>
              <a:rPr lang="en-US" sz="1200" b="1" dirty="0">
                <a:solidFill>
                  <a:srgbClr val="E63946"/>
                </a:solidFill>
                <a:latin typeface="Calibri" pitchFamily="34" charset="0"/>
                <a:ea typeface="Calibri" pitchFamily="34" charset="-122"/>
                <a:cs typeface="Calibri" pitchFamily="34" charset="-120"/>
              </a:rPr>
              <a:t>Attacker Browser</a:t>
            </a:r>
            <a:endParaRPr lang="en-US" sz="1200" dirty="0"/>
          </a:p>
        </p:txBody>
      </p:sp>
      <p:sp>
        <p:nvSpPr>
          <p:cNvPr id="32" name="Shape 29"/>
          <p:cNvSpPr/>
          <p:nvPr/>
        </p:nvSpPr>
        <p:spPr>
          <a:xfrm>
            <a:off x="2743200" y="3794760"/>
            <a:ext cx="2103120" cy="548640"/>
          </a:xfrm>
          <a:prstGeom prst="roundRect">
            <a:avLst>
              <a:gd name="adj" fmla="val 13333"/>
            </a:avLst>
          </a:prstGeom>
          <a:solidFill>
            <a:srgbClr val="F2F6F9"/>
          </a:solidFill>
          <a:ln w="12700">
            <a:solidFill>
              <a:srgbClr val="F2F6F9"/>
            </a:solidFill>
            <a:prstDash val="solid"/>
          </a:ln>
        </p:spPr>
      </p:sp>
      <p:sp>
        <p:nvSpPr>
          <p:cNvPr id="33" name="Text 30"/>
          <p:cNvSpPr txBox="1"/>
          <p:nvPr/>
        </p:nvSpPr>
        <p:spPr>
          <a:xfrm>
            <a:off x="2743200" y="3794760"/>
            <a:ext cx="2103120" cy="548640"/>
          </a:xfrm>
          <a:prstGeom prst="rect">
            <a:avLst/>
          </a:prstGeom>
          <a:noFill/>
          <a:ln/>
        </p:spPr>
        <p:txBody>
          <a:bodyPr wrap="square" lIns="0" tIns="0" rIns="0" bIns="0" rtlCol="0" anchor="ctr"/>
          <a:lstStyle/>
          <a:p>
            <a:pPr algn="ctr" indent="0" marL="0">
              <a:buNone/>
            </a:pPr>
            <a:r>
              <a:rPr lang="en-US" sz="1200" b="1" dirty="0">
                <a:solidFill>
                  <a:srgbClr val="1B2733"/>
                </a:solidFill>
                <a:latin typeface="Calibri" pitchFamily="34" charset="0"/>
                <a:ea typeface="Calibri" pitchFamily="34" charset="-122"/>
                <a:cs typeface="Calibri" pitchFamily="34" charset="-120"/>
              </a:rPr>
              <a:t>Nginx Demo Portal :8080</a:t>
            </a:r>
            <a:endParaRPr lang="en-US" sz="1200" dirty="0"/>
          </a:p>
        </p:txBody>
      </p:sp>
      <p:sp>
        <p:nvSpPr>
          <p:cNvPr id="34" name="Shape 31"/>
          <p:cNvSpPr/>
          <p:nvPr/>
        </p:nvSpPr>
        <p:spPr>
          <a:xfrm>
            <a:off x="2194560" y="4069080"/>
            <a:ext cx="548640" cy="0"/>
          </a:xfrm>
          <a:prstGeom prst="line">
            <a:avLst/>
          </a:prstGeom>
          <a:noFill/>
          <a:ln w="25400">
            <a:solidFill>
              <a:srgbClr val="5B6B7B"/>
            </a:solidFill>
            <a:prstDash val="solid"/>
            <a:tailEnd type="triangle"/>
          </a:ln>
        </p:spPr>
      </p:sp>
      <p:sp>
        <p:nvSpPr>
          <p:cNvPr id="35" name="Text 32"/>
          <p:cNvSpPr txBox="1"/>
          <p:nvPr/>
        </p:nvSpPr>
        <p:spPr>
          <a:xfrm>
            <a:off x="2743200" y="3429000"/>
            <a:ext cx="2194560" cy="320040"/>
          </a:xfrm>
          <a:prstGeom prst="rect">
            <a:avLst/>
          </a:prstGeom>
          <a:noFill/>
          <a:ln/>
        </p:spPr>
        <p:txBody>
          <a:bodyPr wrap="square" lIns="0" tIns="0" rIns="0" bIns="0" rtlCol="0" anchor="ctr"/>
          <a:lstStyle/>
          <a:p>
            <a:pPr algn="ctr" indent="0" marL="0">
              <a:buNone/>
            </a:pPr>
            <a:r>
              <a:rPr lang="en-US" sz="1000" i="1" dirty="0">
                <a:solidFill>
                  <a:srgbClr val="5B6B7B"/>
                </a:solidFill>
                <a:latin typeface="Calibri" pitchFamily="34" charset="0"/>
                <a:ea typeface="Calibri" pitchFamily="34" charset="-122"/>
                <a:cs typeface="Calibri" pitchFamily="34" charset="-120"/>
              </a:rPr>
              <a:t>writes web login + Nginx logs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Working Flow</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9 / 20</a:t>
            </a:r>
            <a:endParaRPr lang="en-US" sz="900" dirty="0"/>
          </a:p>
        </p:txBody>
      </p:sp>
      <p:sp>
        <p:nvSpPr>
          <p:cNvPr id="6" name="Shape 3"/>
          <p:cNvSpPr/>
          <p:nvPr/>
        </p:nvSpPr>
        <p:spPr>
          <a:xfrm>
            <a:off x="685800" y="1325880"/>
            <a:ext cx="731520" cy="731520"/>
          </a:xfrm>
          <a:prstGeom prst="ellipse">
            <a:avLst/>
          </a:prstGeom>
          <a:solidFill>
            <a:srgbClr val="1FA2A6"/>
          </a:solidFill>
          <a:ln w="12700">
            <a:solidFill>
              <a:srgbClr val="1FA2A6"/>
            </a:solidFill>
            <a:prstDash val="solid"/>
          </a:ln>
        </p:spPr>
      </p:sp>
      <p:sp>
        <p:nvSpPr>
          <p:cNvPr id="7" name="Text 4"/>
          <p:cNvSpPr txBox="1"/>
          <p:nvPr/>
        </p:nvSpPr>
        <p:spPr>
          <a:xfrm>
            <a:off x="685800" y="13258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Shape 5"/>
          <p:cNvSpPr/>
          <p:nvPr/>
        </p:nvSpPr>
        <p:spPr>
          <a:xfrm>
            <a:off x="1463040" y="1691640"/>
            <a:ext cx="594360" cy="0"/>
          </a:xfrm>
          <a:prstGeom prst="line">
            <a:avLst/>
          </a:prstGeom>
          <a:noFill/>
          <a:ln w="25400">
            <a:solidFill>
              <a:srgbClr val="D5DEE6"/>
            </a:solidFill>
            <a:prstDash val="solid"/>
            <a:tailEnd type="triangle"/>
          </a:ln>
        </p:spPr>
      </p:sp>
      <p:sp>
        <p:nvSpPr>
          <p:cNvPr id="9" name="Text 6"/>
          <p:cNvSpPr txBox="1"/>
          <p:nvPr/>
        </p:nvSpPr>
        <p:spPr>
          <a:xfrm>
            <a:off x="411480" y="2194560"/>
            <a:ext cx="1280160" cy="365760"/>
          </a:xfrm>
          <a:prstGeom prst="rect">
            <a:avLst/>
          </a:prstGeom>
          <a:noFill/>
          <a:ln/>
        </p:spPr>
        <p:txBody>
          <a:bodyPr wrap="square" lIns="0" tIns="0" rIns="0" bIns="0" rtlCol="0" anchor="ctr"/>
          <a:lstStyle/>
          <a:p>
            <a:pPr algn="ctr" indent="0" marL="0">
              <a:buNone/>
            </a:pPr>
            <a:r>
              <a:rPr lang="en-US" sz="1600" b="1" dirty="0">
                <a:solidFill>
                  <a:srgbClr val="0B1F33"/>
                </a:solidFill>
                <a:latin typeface="Calibri" pitchFamily="34" charset="0"/>
                <a:ea typeface="Calibri" pitchFamily="34" charset="-122"/>
                <a:cs typeface="Calibri" pitchFamily="34" charset="-120"/>
              </a:rPr>
              <a:t>Collect</a:t>
            </a:r>
            <a:endParaRPr lang="en-US" sz="1600" dirty="0"/>
          </a:p>
        </p:txBody>
      </p:sp>
      <p:sp>
        <p:nvSpPr>
          <p:cNvPr id="10" name="Text 7"/>
          <p:cNvSpPr txBox="1"/>
          <p:nvPr/>
        </p:nvSpPr>
        <p:spPr>
          <a:xfrm>
            <a:off x="411480" y="2560320"/>
            <a:ext cx="1280160" cy="731520"/>
          </a:xfrm>
          <a:prstGeom prst="rect">
            <a:avLst/>
          </a:prstGeom>
          <a:noFill/>
          <a:ln/>
        </p:spPr>
        <p:txBody>
          <a:bodyPr wrap="square" lIns="0" tIns="0" rIns="0" bIns="0" rtlCol="0" anchor="t"/>
          <a:lstStyle/>
          <a:p>
            <a:pPr algn="ctr" indent="0" marL="0">
              <a:buNone/>
            </a:pPr>
            <a:r>
              <a:rPr lang="en-US" sz="1200" dirty="0">
                <a:solidFill>
                  <a:srgbClr val="5B6B7B"/>
                </a:solidFill>
                <a:latin typeface="Calibri" pitchFamily="34" charset="0"/>
                <a:ea typeface="Calibri" pitchFamily="34" charset="-122"/>
                <a:cs typeface="Calibri" pitchFamily="34" charset="-120"/>
              </a:rPr>
              <a:t>Vector tails live log files</a:t>
            </a:r>
            <a:endParaRPr lang="en-US" sz="1200" dirty="0"/>
          </a:p>
        </p:txBody>
      </p:sp>
      <p:sp>
        <p:nvSpPr>
          <p:cNvPr id="11" name="Shape 8"/>
          <p:cNvSpPr/>
          <p:nvPr/>
        </p:nvSpPr>
        <p:spPr>
          <a:xfrm>
            <a:off x="2103120" y="1325880"/>
            <a:ext cx="731520" cy="731520"/>
          </a:xfrm>
          <a:prstGeom prst="ellipse">
            <a:avLst/>
          </a:prstGeom>
          <a:solidFill>
            <a:srgbClr val="1FA2A6"/>
          </a:solidFill>
          <a:ln w="12700">
            <a:solidFill>
              <a:srgbClr val="1FA2A6"/>
            </a:solidFill>
            <a:prstDash val="solid"/>
          </a:ln>
        </p:spPr>
      </p:sp>
      <p:sp>
        <p:nvSpPr>
          <p:cNvPr id="12" name="Text 9"/>
          <p:cNvSpPr txBox="1"/>
          <p:nvPr/>
        </p:nvSpPr>
        <p:spPr>
          <a:xfrm>
            <a:off x="2103120" y="13258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Shape 10"/>
          <p:cNvSpPr/>
          <p:nvPr/>
        </p:nvSpPr>
        <p:spPr>
          <a:xfrm>
            <a:off x="2880360" y="1691640"/>
            <a:ext cx="594360" cy="0"/>
          </a:xfrm>
          <a:prstGeom prst="line">
            <a:avLst/>
          </a:prstGeom>
          <a:noFill/>
          <a:ln w="25400">
            <a:solidFill>
              <a:srgbClr val="D5DEE6"/>
            </a:solidFill>
            <a:prstDash val="solid"/>
            <a:tailEnd type="triangle"/>
          </a:ln>
        </p:spPr>
      </p:sp>
      <p:sp>
        <p:nvSpPr>
          <p:cNvPr id="14" name="Text 11"/>
          <p:cNvSpPr txBox="1"/>
          <p:nvPr/>
        </p:nvSpPr>
        <p:spPr>
          <a:xfrm>
            <a:off x="1828800" y="2194560"/>
            <a:ext cx="1280160" cy="365760"/>
          </a:xfrm>
          <a:prstGeom prst="rect">
            <a:avLst/>
          </a:prstGeom>
          <a:noFill/>
          <a:ln/>
        </p:spPr>
        <p:txBody>
          <a:bodyPr wrap="square" lIns="0" tIns="0" rIns="0" bIns="0" rtlCol="0" anchor="ctr"/>
          <a:lstStyle/>
          <a:p>
            <a:pPr algn="ctr" indent="0" marL="0">
              <a:buNone/>
            </a:pPr>
            <a:r>
              <a:rPr lang="en-US" sz="1600" b="1" dirty="0">
                <a:solidFill>
                  <a:srgbClr val="0B1F33"/>
                </a:solidFill>
                <a:latin typeface="Calibri" pitchFamily="34" charset="0"/>
                <a:ea typeface="Calibri" pitchFamily="34" charset="-122"/>
                <a:cs typeface="Calibri" pitchFamily="34" charset="-120"/>
              </a:rPr>
              <a:t>Parse</a:t>
            </a:r>
            <a:endParaRPr lang="en-US" sz="1600" dirty="0"/>
          </a:p>
        </p:txBody>
      </p:sp>
      <p:sp>
        <p:nvSpPr>
          <p:cNvPr id="15" name="Text 12"/>
          <p:cNvSpPr txBox="1"/>
          <p:nvPr/>
        </p:nvSpPr>
        <p:spPr>
          <a:xfrm>
            <a:off x="1828800" y="2560320"/>
            <a:ext cx="1280160" cy="731520"/>
          </a:xfrm>
          <a:prstGeom prst="rect">
            <a:avLst/>
          </a:prstGeom>
          <a:noFill/>
          <a:ln/>
        </p:spPr>
        <p:txBody>
          <a:bodyPr wrap="square" lIns="0" tIns="0" rIns="0" bIns="0" rtlCol="0" anchor="t"/>
          <a:lstStyle/>
          <a:p>
            <a:pPr algn="ctr" indent="0" marL="0">
              <a:buNone/>
            </a:pPr>
            <a:r>
              <a:rPr lang="en-US" sz="1200" dirty="0">
                <a:solidFill>
                  <a:srgbClr val="5B6B7B"/>
                </a:solidFill>
                <a:latin typeface="Calibri" pitchFamily="34" charset="0"/>
                <a:ea typeface="Calibri" pitchFamily="34" charset="-122"/>
                <a:cs typeface="Calibri" pitchFamily="34" charset="-120"/>
              </a:rPr>
              <a:t>VRL adds log_type + source_ip</a:t>
            </a:r>
            <a:endParaRPr lang="en-US" sz="1200" dirty="0"/>
          </a:p>
        </p:txBody>
      </p:sp>
      <p:sp>
        <p:nvSpPr>
          <p:cNvPr id="16" name="Shape 13"/>
          <p:cNvSpPr/>
          <p:nvPr/>
        </p:nvSpPr>
        <p:spPr>
          <a:xfrm>
            <a:off x="3520440" y="1325880"/>
            <a:ext cx="731520" cy="731520"/>
          </a:xfrm>
          <a:prstGeom prst="ellipse">
            <a:avLst/>
          </a:prstGeom>
          <a:solidFill>
            <a:srgbClr val="0B1F33"/>
          </a:solidFill>
          <a:ln w="12700">
            <a:solidFill>
              <a:srgbClr val="0B1F33"/>
            </a:solidFill>
            <a:prstDash val="solid"/>
          </a:ln>
        </p:spPr>
      </p:sp>
      <p:sp>
        <p:nvSpPr>
          <p:cNvPr id="17" name="Text 14"/>
          <p:cNvSpPr txBox="1"/>
          <p:nvPr/>
        </p:nvSpPr>
        <p:spPr>
          <a:xfrm>
            <a:off x="3520440" y="13258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8" name="Shape 15"/>
          <p:cNvSpPr/>
          <p:nvPr/>
        </p:nvSpPr>
        <p:spPr>
          <a:xfrm>
            <a:off x="4297680" y="1691640"/>
            <a:ext cx="594360" cy="0"/>
          </a:xfrm>
          <a:prstGeom prst="line">
            <a:avLst/>
          </a:prstGeom>
          <a:noFill/>
          <a:ln w="25400">
            <a:solidFill>
              <a:srgbClr val="D5DEE6"/>
            </a:solidFill>
            <a:prstDash val="solid"/>
            <a:tailEnd type="triangle"/>
          </a:ln>
        </p:spPr>
      </p:sp>
      <p:sp>
        <p:nvSpPr>
          <p:cNvPr id="19" name="Text 16"/>
          <p:cNvSpPr txBox="1"/>
          <p:nvPr/>
        </p:nvSpPr>
        <p:spPr>
          <a:xfrm>
            <a:off x="3246120" y="2194560"/>
            <a:ext cx="1280160" cy="365760"/>
          </a:xfrm>
          <a:prstGeom prst="rect">
            <a:avLst/>
          </a:prstGeom>
          <a:noFill/>
          <a:ln/>
        </p:spPr>
        <p:txBody>
          <a:bodyPr wrap="square" lIns="0" tIns="0" rIns="0" bIns="0" rtlCol="0" anchor="ctr"/>
          <a:lstStyle/>
          <a:p>
            <a:pPr algn="ctr" indent="0" marL="0">
              <a:buNone/>
            </a:pPr>
            <a:r>
              <a:rPr lang="en-US" sz="1600" b="1" dirty="0">
                <a:solidFill>
                  <a:srgbClr val="0B1F33"/>
                </a:solidFill>
                <a:latin typeface="Calibri" pitchFamily="34" charset="0"/>
                <a:ea typeface="Calibri" pitchFamily="34" charset="-122"/>
                <a:cs typeface="Calibri" pitchFamily="34" charset="-120"/>
              </a:rPr>
              <a:t>Store</a:t>
            </a:r>
            <a:endParaRPr lang="en-US" sz="1600" dirty="0"/>
          </a:p>
        </p:txBody>
      </p:sp>
      <p:sp>
        <p:nvSpPr>
          <p:cNvPr id="20" name="Text 17"/>
          <p:cNvSpPr txBox="1"/>
          <p:nvPr/>
        </p:nvSpPr>
        <p:spPr>
          <a:xfrm>
            <a:off x="3246120" y="2560320"/>
            <a:ext cx="1280160" cy="731520"/>
          </a:xfrm>
          <a:prstGeom prst="rect">
            <a:avLst/>
          </a:prstGeom>
          <a:noFill/>
          <a:ln/>
        </p:spPr>
        <p:txBody>
          <a:bodyPr wrap="square" lIns="0" tIns="0" rIns="0" bIns="0" rtlCol="0" anchor="t"/>
          <a:lstStyle/>
          <a:p>
            <a:pPr algn="ctr" indent="0" marL="0">
              <a:buNone/>
            </a:pPr>
            <a:r>
              <a:rPr lang="en-US" sz="1200" dirty="0">
                <a:solidFill>
                  <a:srgbClr val="5B6B7B"/>
                </a:solidFill>
                <a:latin typeface="Calibri" pitchFamily="34" charset="0"/>
                <a:ea typeface="Calibri" pitchFamily="34" charset="-122"/>
                <a:cs typeface="Calibri" pitchFamily="34" charset="-120"/>
              </a:rPr>
              <a:t>Bulk insert into OpenSearch</a:t>
            </a:r>
            <a:endParaRPr lang="en-US" sz="1200" dirty="0"/>
          </a:p>
        </p:txBody>
      </p:sp>
      <p:sp>
        <p:nvSpPr>
          <p:cNvPr id="21" name="Shape 18"/>
          <p:cNvSpPr/>
          <p:nvPr/>
        </p:nvSpPr>
        <p:spPr>
          <a:xfrm>
            <a:off x="4937760" y="1325880"/>
            <a:ext cx="731520" cy="731520"/>
          </a:xfrm>
          <a:prstGeom prst="ellipse">
            <a:avLst/>
          </a:prstGeom>
          <a:solidFill>
            <a:srgbClr val="E63946"/>
          </a:solidFill>
          <a:ln w="12700">
            <a:solidFill>
              <a:srgbClr val="E63946"/>
            </a:solidFill>
            <a:prstDash val="solid"/>
          </a:ln>
        </p:spPr>
      </p:sp>
      <p:sp>
        <p:nvSpPr>
          <p:cNvPr id="22" name="Text 19"/>
          <p:cNvSpPr txBox="1"/>
          <p:nvPr/>
        </p:nvSpPr>
        <p:spPr>
          <a:xfrm>
            <a:off x="4937760" y="13258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3" name="Shape 20"/>
          <p:cNvSpPr/>
          <p:nvPr/>
        </p:nvSpPr>
        <p:spPr>
          <a:xfrm>
            <a:off x="5715000" y="1691640"/>
            <a:ext cx="594360" cy="0"/>
          </a:xfrm>
          <a:prstGeom prst="line">
            <a:avLst/>
          </a:prstGeom>
          <a:noFill/>
          <a:ln w="25400">
            <a:solidFill>
              <a:srgbClr val="D5DEE6"/>
            </a:solidFill>
            <a:prstDash val="solid"/>
            <a:tailEnd type="triangle"/>
          </a:ln>
        </p:spPr>
      </p:sp>
      <p:sp>
        <p:nvSpPr>
          <p:cNvPr id="24" name="Text 21"/>
          <p:cNvSpPr txBox="1"/>
          <p:nvPr/>
        </p:nvSpPr>
        <p:spPr>
          <a:xfrm>
            <a:off x="4663440" y="2194560"/>
            <a:ext cx="1280160" cy="365760"/>
          </a:xfrm>
          <a:prstGeom prst="rect">
            <a:avLst/>
          </a:prstGeom>
          <a:noFill/>
          <a:ln/>
        </p:spPr>
        <p:txBody>
          <a:bodyPr wrap="square" lIns="0" tIns="0" rIns="0" bIns="0" rtlCol="0" anchor="ctr"/>
          <a:lstStyle/>
          <a:p>
            <a:pPr algn="ctr" indent="0" marL="0">
              <a:buNone/>
            </a:pPr>
            <a:r>
              <a:rPr lang="en-US" sz="1600" b="1" dirty="0">
                <a:solidFill>
                  <a:srgbClr val="0B1F33"/>
                </a:solidFill>
                <a:latin typeface="Calibri" pitchFamily="34" charset="0"/>
                <a:ea typeface="Calibri" pitchFamily="34" charset="-122"/>
                <a:cs typeface="Calibri" pitchFamily="34" charset="-120"/>
              </a:rPr>
              <a:t>Detect</a:t>
            </a:r>
            <a:endParaRPr lang="en-US" sz="1600" dirty="0"/>
          </a:p>
        </p:txBody>
      </p:sp>
      <p:sp>
        <p:nvSpPr>
          <p:cNvPr id="25" name="Text 22"/>
          <p:cNvSpPr txBox="1"/>
          <p:nvPr/>
        </p:nvSpPr>
        <p:spPr>
          <a:xfrm>
            <a:off x="4663440" y="2560320"/>
            <a:ext cx="1280160" cy="731520"/>
          </a:xfrm>
          <a:prstGeom prst="rect">
            <a:avLst/>
          </a:prstGeom>
          <a:noFill/>
          <a:ln/>
        </p:spPr>
        <p:txBody>
          <a:bodyPr wrap="square" lIns="0" tIns="0" rIns="0" bIns="0" rtlCol="0" anchor="t"/>
          <a:lstStyle/>
          <a:p>
            <a:pPr algn="ctr" indent="0" marL="0">
              <a:buNone/>
            </a:pPr>
            <a:r>
              <a:rPr lang="en-US" sz="1200" dirty="0">
                <a:solidFill>
                  <a:srgbClr val="5B6B7B"/>
                </a:solidFill>
                <a:latin typeface="Calibri" pitchFamily="34" charset="0"/>
                <a:ea typeface="Calibri" pitchFamily="34" charset="-122"/>
                <a:cs typeface="Calibri" pitchFamily="34" charset="-120"/>
              </a:rPr>
              <a:t>Rules over last 2 minutes</a:t>
            </a:r>
            <a:endParaRPr lang="en-US" sz="1200" dirty="0"/>
          </a:p>
        </p:txBody>
      </p:sp>
      <p:sp>
        <p:nvSpPr>
          <p:cNvPr id="26" name="Shape 23"/>
          <p:cNvSpPr/>
          <p:nvPr/>
        </p:nvSpPr>
        <p:spPr>
          <a:xfrm>
            <a:off x="6355080" y="1325880"/>
            <a:ext cx="731520" cy="731520"/>
          </a:xfrm>
          <a:prstGeom prst="ellipse">
            <a:avLst/>
          </a:prstGeom>
          <a:solidFill>
            <a:srgbClr val="E63946"/>
          </a:solidFill>
          <a:ln w="12700">
            <a:solidFill>
              <a:srgbClr val="E63946"/>
            </a:solidFill>
            <a:prstDash val="solid"/>
          </a:ln>
        </p:spPr>
      </p:sp>
      <p:sp>
        <p:nvSpPr>
          <p:cNvPr id="27" name="Text 24"/>
          <p:cNvSpPr txBox="1"/>
          <p:nvPr/>
        </p:nvSpPr>
        <p:spPr>
          <a:xfrm>
            <a:off x="6355080" y="13258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8" name="Shape 25"/>
          <p:cNvSpPr/>
          <p:nvPr/>
        </p:nvSpPr>
        <p:spPr>
          <a:xfrm>
            <a:off x="7132320" y="1691640"/>
            <a:ext cx="594360" cy="0"/>
          </a:xfrm>
          <a:prstGeom prst="line">
            <a:avLst/>
          </a:prstGeom>
          <a:noFill/>
          <a:ln w="25400">
            <a:solidFill>
              <a:srgbClr val="D5DEE6"/>
            </a:solidFill>
            <a:prstDash val="solid"/>
            <a:tailEnd type="triangle"/>
          </a:ln>
        </p:spPr>
      </p:sp>
      <p:sp>
        <p:nvSpPr>
          <p:cNvPr id="29" name="Text 26"/>
          <p:cNvSpPr txBox="1"/>
          <p:nvPr/>
        </p:nvSpPr>
        <p:spPr>
          <a:xfrm>
            <a:off x="6080760" y="2194560"/>
            <a:ext cx="1280160" cy="365760"/>
          </a:xfrm>
          <a:prstGeom prst="rect">
            <a:avLst/>
          </a:prstGeom>
          <a:noFill/>
          <a:ln/>
        </p:spPr>
        <p:txBody>
          <a:bodyPr wrap="square" lIns="0" tIns="0" rIns="0" bIns="0" rtlCol="0" anchor="ctr"/>
          <a:lstStyle/>
          <a:p>
            <a:pPr algn="ctr" indent="0" marL="0">
              <a:buNone/>
            </a:pPr>
            <a:r>
              <a:rPr lang="en-US" sz="1600" b="1" dirty="0">
                <a:solidFill>
                  <a:srgbClr val="0B1F33"/>
                </a:solidFill>
                <a:latin typeface="Calibri" pitchFamily="34" charset="0"/>
                <a:ea typeface="Calibri" pitchFamily="34" charset="-122"/>
                <a:cs typeface="Calibri" pitchFamily="34" charset="-120"/>
              </a:rPr>
              <a:t>Alert</a:t>
            </a:r>
            <a:endParaRPr lang="en-US" sz="1600" dirty="0"/>
          </a:p>
        </p:txBody>
      </p:sp>
      <p:sp>
        <p:nvSpPr>
          <p:cNvPr id="30" name="Text 27"/>
          <p:cNvSpPr txBox="1"/>
          <p:nvPr/>
        </p:nvSpPr>
        <p:spPr>
          <a:xfrm>
            <a:off x="6080760" y="2560320"/>
            <a:ext cx="1280160" cy="731520"/>
          </a:xfrm>
          <a:prstGeom prst="rect">
            <a:avLst/>
          </a:prstGeom>
          <a:noFill/>
          <a:ln/>
        </p:spPr>
        <p:txBody>
          <a:bodyPr wrap="square" lIns="0" tIns="0" rIns="0" bIns="0" rtlCol="0" anchor="t"/>
          <a:lstStyle/>
          <a:p>
            <a:pPr algn="ctr" indent="0" marL="0">
              <a:buNone/>
            </a:pPr>
            <a:r>
              <a:rPr lang="en-US" sz="1200" dirty="0">
                <a:solidFill>
                  <a:srgbClr val="5B6B7B"/>
                </a:solidFill>
                <a:latin typeface="Calibri" pitchFamily="34" charset="0"/>
                <a:ea typeface="Calibri" pitchFamily="34" charset="-122"/>
                <a:cs typeface="Calibri" pitchFamily="34" charset="-120"/>
              </a:rPr>
              <a:t>Saved with MITRE / CWE ID</a:t>
            </a:r>
            <a:endParaRPr lang="en-US" sz="1200" dirty="0"/>
          </a:p>
        </p:txBody>
      </p:sp>
      <p:sp>
        <p:nvSpPr>
          <p:cNvPr id="31" name="Shape 28"/>
          <p:cNvSpPr/>
          <p:nvPr/>
        </p:nvSpPr>
        <p:spPr>
          <a:xfrm>
            <a:off x="7772400" y="1325880"/>
            <a:ext cx="731520" cy="731520"/>
          </a:xfrm>
          <a:prstGeom prst="ellipse">
            <a:avLst/>
          </a:prstGeom>
          <a:solidFill>
            <a:srgbClr val="0B1F33"/>
          </a:solidFill>
          <a:ln w="12700">
            <a:solidFill>
              <a:srgbClr val="0B1F33"/>
            </a:solidFill>
            <a:prstDash val="solid"/>
          </a:ln>
        </p:spPr>
      </p:sp>
      <p:sp>
        <p:nvSpPr>
          <p:cNvPr id="32" name="Text 29"/>
          <p:cNvSpPr txBox="1"/>
          <p:nvPr/>
        </p:nvSpPr>
        <p:spPr>
          <a:xfrm>
            <a:off x="7772400" y="13258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33" name="Text 30"/>
          <p:cNvSpPr txBox="1"/>
          <p:nvPr/>
        </p:nvSpPr>
        <p:spPr>
          <a:xfrm>
            <a:off x="7498080" y="2194560"/>
            <a:ext cx="1280160" cy="365760"/>
          </a:xfrm>
          <a:prstGeom prst="rect">
            <a:avLst/>
          </a:prstGeom>
          <a:noFill/>
          <a:ln/>
        </p:spPr>
        <p:txBody>
          <a:bodyPr wrap="square" lIns="0" tIns="0" rIns="0" bIns="0" rtlCol="0" anchor="ctr"/>
          <a:lstStyle/>
          <a:p>
            <a:pPr algn="ctr" indent="0" marL="0">
              <a:buNone/>
            </a:pPr>
            <a:r>
              <a:rPr lang="en-US" sz="1600" b="1" dirty="0">
                <a:solidFill>
                  <a:srgbClr val="0B1F33"/>
                </a:solidFill>
                <a:latin typeface="Calibri" pitchFamily="34" charset="0"/>
                <a:ea typeface="Calibri" pitchFamily="34" charset="-122"/>
                <a:cs typeface="Calibri" pitchFamily="34" charset="-120"/>
              </a:rPr>
              <a:t>Visualise</a:t>
            </a:r>
            <a:endParaRPr lang="en-US" sz="1600" dirty="0"/>
          </a:p>
        </p:txBody>
      </p:sp>
      <p:sp>
        <p:nvSpPr>
          <p:cNvPr id="34" name="Text 31"/>
          <p:cNvSpPr txBox="1"/>
          <p:nvPr/>
        </p:nvSpPr>
        <p:spPr>
          <a:xfrm>
            <a:off x="7498080" y="2560320"/>
            <a:ext cx="1280160" cy="731520"/>
          </a:xfrm>
          <a:prstGeom prst="rect">
            <a:avLst/>
          </a:prstGeom>
          <a:noFill/>
          <a:ln/>
        </p:spPr>
        <p:txBody>
          <a:bodyPr wrap="square" lIns="0" tIns="0" rIns="0" bIns="0" rtlCol="0" anchor="t"/>
          <a:lstStyle/>
          <a:p>
            <a:pPr algn="ctr" indent="0" marL="0">
              <a:buNone/>
            </a:pPr>
            <a:r>
              <a:rPr lang="en-US" sz="1200" dirty="0">
                <a:solidFill>
                  <a:srgbClr val="5B6B7B"/>
                </a:solidFill>
                <a:latin typeface="Calibri" pitchFamily="34" charset="0"/>
                <a:ea typeface="Calibri" pitchFamily="34" charset="-122"/>
                <a:cs typeface="Calibri" pitchFamily="34" charset="-120"/>
              </a:rPr>
              <a:t>Live dashboards every 3 s</a:t>
            </a:r>
            <a:endParaRPr lang="en-US" sz="1200" dirty="0"/>
          </a:p>
        </p:txBody>
      </p:sp>
      <p:sp>
        <p:nvSpPr>
          <p:cNvPr id="35" name="Shape 32"/>
          <p:cNvSpPr/>
          <p:nvPr/>
        </p:nvSpPr>
        <p:spPr>
          <a:xfrm>
            <a:off x="457200" y="3520440"/>
            <a:ext cx="8229600" cy="960120"/>
          </a:xfrm>
          <a:prstGeom prst="roundRect">
            <a:avLst>
              <a:gd name="adj" fmla="val 7619"/>
            </a:avLst>
          </a:prstGeom>
          <a:solidFill>
            <a:srgbClr val="F2F6F9"/>
          </a:solidFill>
          <a:ln w="12700">
            <a:solidFill>
              <a:srgbClr val="F2F6F9"/>
            </a:solidFill>
            <a:prstDash val="solid"/>
          </a:ln>
        </p:spPr>
      </p:sp>
      <p:sp>
        <p:nvSpPr>
          <p:cNvPr id="36" name="Text 33"/>
          <p:cNvSpPr txBox="1"/>
          <p:nvPr/>
        </p:nvSpPr>
        <p:spPr>
          <a:xfrm>
            <a:off x="685800" y="3520440"/>
            <a:ext cx="7772400" cy="960120"/>
          </a:xfrm>
          <a:prstGeom prst="rect">
            <a:avLst/>
          </a:prstGeom>
          <a:noFill/>
          <a:ln/>
        </p:spPr>
        <p:txBody>
          <a:bodyPr wrap="square" lIns="0" tIns="0" rIns="0" bIns="0" rtlCol="0" anchor="ctr"/>
          <a:lstStyle/>
          <a:p>
            <a:pPr indent="0" marL="0">
              <a:buNone/>
            </a:pPr>
            <a:r>
              <a:rPr lang="en-US" sz="1400" b="1" dirty="0">
                <a:solidFill>
                  <a:srgbClr val="E63946"/>
                </a:solidFill>
                <a:latin typeface="Calibri" pitchFamily="34" charset="0"/>
                <a:ea typeface="Calibri" pitchFamily="34" charset="-122"/>
                <a:cs typeface="Calibri" pitchFamily="34" charset="-120"/>
              </a:rPr>
              <a:t>Example: </a:t>
            </a:r>
            <a:pPr indent="0" marL="0">
              <a:buNone/>
            </a:pPr>
            <a:r>
              <a:rPr lang="en-US" sz="1400" dirty="0">
                <a:solidFill>
                  <a:srgbClr val="1B2733"/>
                </a:solidFill>
                <a:latin typeface="Calibri" pitchFamily="34" charset="0"/>
                <a:ea typeface="Calibri" pitchFamily="34" charset="-122"/>
                <a:cs typeface="Calibri" pitchFamily="34" charset="-120"/>
              </a:rPr>
              <a:t>6 wrong passwords on the demo login from one IP → 6 login_failed events → rule finds ≥ 5 in 2 minutes → 'Web Login Brute Force' alert (T1110) appears on the admin dashboard within seconds.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Detection Rules</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10 / 20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931920"/>
                <a:gridCol w="219456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Rule</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Logic</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Mapping</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0B1F33"/>
                    </a:solidFill>
                  </a:tcPr>
                </a:tc>
              </a:tr>
              <a:tr h="566928">
                <a:tc>
                  <a:txBody>
                    <a:bodyPr/>
                    <a:lstStyle/>
                    <a:p>
                      <a:pPr indent="0" marL="0">
                        <a:buNone/>
                      </a:pPr>
                      <a:r>
                        <a:rPr lang="en-US" sz="1300" b="1" dirty="0">
                          <a:solidFill>
                            <a:srgbClr val="E63946"/>
                          </a:solidFill>
                          <a:latin typeface="Calibri" pitchFamily="34" charset="0"/>
                          <a:ea typeface="Calibri" pitchFamily="34" charset="-122"/>
                          <a:cs typeface="Calibri" pitchFamily="34" charset="-120"/>
                        </a:rPr>
                        <a:t>Web Login Brute Force</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 5 failed web logins from one IP in 2 min</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T1110 – Brute Force</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E63946"/>
                          </a:solidFill>
                          <a:latin typeface="Calibri" pitchFamily="34" charset="0"/>
                          <a:ea typeface="Calibri" pitchFamily="34" charset="-122"/>
                          <a:cs typeface="Calibri" pitchFamily="34" charset="-120"/>
                        </a:rPr>
                        <a:t>SSH Brute Force</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2F6F9"/>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 5 'Failed password' lines from one IP in 2 min</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2F6F9"/>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T1110 – Brute Force</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2F6F9"/>
                    </a:solidFill>
                  </a:tcPr>
                </a:tc>
              </a:tr>
              <a:tr h="566928">
                <a:tc>
                  <a:txBody>
                    <a:bodyPr/>
                    <a:lstStyle/>
                    <a:p>
                      <a:pPr indent="0" marL="0">
                        <a:buNone/>
                      </a:pPr>
                      <a:r>
                        <a:rPr lang="en-US" sz="1300" b="1" dirty="0">
                          <a:solidFill>
                            <a:srgbClr val="1C6FB8"/>
                          </a:solidFill>
                          <a:latin typeface="Calibri" pitchFamily="34" charset="0"/>
                          <a:ea typeface="Calibri" pitchFamily="34" charset="-122"/>
                          <a:cs typeface="Calibri" pitchFamily="34" charset="-120"/>
                        </a:rPr>
                        <a:t>Suspicious Login</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 2 failures then a success from the same IP</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T1078 – Valid Accounts</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E63946"/>
                          </a:solidFill>
                          <a:latin typeface="Calibri" pitchFamily="34" charset="0"/>
                          <a:ea typeface="Calibri" pitchFamily="34" charset="-122"/>
                          <a:cs typeface="Calibri" pitchFamily="34" charset="-120"/>
                        </a:rPr>
                        <a:t>XSS Attempt</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2F6F9"/>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Known XSS signature in request URL (&lt;script, onerror= …)</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2F6F9"/>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OWASP / CWE-79</a:t>
                      </a:r>
                      <a:endParaRPr lang="en-US" sz="1300" dirty="0">
                        <a:latin typeface="Calibri" charset="0"/>
                        <a:ea typeface="Calibri" charset="0"/>
                        <a:cs typeface="Calibri" charset="0"/>
                      </a:endParaRPr>
                    </a:p>
                  </a:txBody>
                  <a:tcPr marL="73152" marR="73152" marT="73152" marB="73152"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2F6F9"/>
                    </a:solidFill>
                  </a:tcPr>
                </a:tc>
              </a:tr>
            </a:tbl>
          </a:graphicData>
        </a:graphic>
      </p:graphicFrame>
      <p:sp>
        <p:nvSpPr>
          <p:cNvPr id="7" name="Text 3"/>
          <p:cNvSpPr txBox="1"/>
          <p:nvPr/>
        </p:nvSpPr>
        <p:spPr>
          <a:xfrm>
            <a:off x="457200" y="4069080"/>
            <a:ext cx="8229600" cy="457200"/>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All alerts are stored permanently with severity, attempt count and matched rule, so history stays visible after the attack ends.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Actors &amp; Use Cases</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11 / 20</a:t>
            </a:r>
            <a:endParaRPr lang="en-US" sz="900" dirty="0"/>
          </a:p>
        </p:txBody>
      </p:sp>
      <p:sp>
        <p:nvSpPr>
          <p:cNvPr id="6" name="Shape 3"/>
          <p:cNvSpPr/>
          <p:nvPr/>
        </p:nvSpPr>
        <p:spPr>
          <a:xfrm>
            <a:off x="457200" y="1051560"/>
            <a:ext cx="1965960" cy="3474720"/>
          </a:xfrm>
          <a:prstGeom prst="roundRect">
            <a:avLst>
              <a:gd name="adj" fmla="val 3721"/>
            </a:avLst>
          </a:prstGeom>
          <a:solidFill>
            <a:srgbClr val="F2F6F9"/>
          </a:solidFill>
          <a:ln w="12700">
            <a:solidFill>
              <a:srgbClr val="F2F6F9"/>
            </a:solidFill>
            <a:prstDash val="solid"/>
          </a:ln>
        </p:spPr>
      </p:sp>
      <p:sp>
        <p:nvSpPr>
          <p:cNvPr id="7" name="Shape 4"/>
          <p:cNvSpPr/>
          <p:nvPr/>
        </p:nvSpPr>
        <p:spPr>
          <a:xfrm>
            <a:off x="640080" y="1188720"/>
            <a:ext cx="457200" cy="457200"/>
          </a:xfrm>
          <a:prstGeom prst="ellipse">
            <a:avLst/>
          </a:prstGeom>
          <a:solidFill>
            <a:srgbClr val="0B1F33"/>
          </a:solidFill>
          <a:ln w="12700">
            <a:solidFill>
              <a:srgbClr val="0B1F33"/>
            </a:solidFill>
            <a:prstDash val="solid"/>
          </a:ln>
        </p:spPr>
      </p:sp>
      <p:sp>
        <p:nvSpPr>
          <p:cNvPr id="8" name="Text 5"/>
          <p:cNvSpPr txBox="1"/>
          <p:nvPr/>
        </p:nvSpPr>
        <p:spPr>
          <a:xfrm>
            <a:off x="640080" y="1188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9" name="Text 6"/>
          <p:cNvSpPr txBox="1"/>
          <p:nvPr/>
        </p:nvSpPr>
        <p:spPr>
          <a:xfrm>
            <a:off x="1188720" y="1188720"/>
            <a:ext cx="1188720" cy="45720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Admin</a:t>
            </a:r>
            <a:endParaRPr lang="en-US" sz="1400" dirty="0"/>
          </a:p>
        </p:txBody>
      </p:sp>
      <p:sp>
        <p:nvSpPr>
          <p:cNvPr id="10" name="Text 7"/>
          <p:cNvSpPr txBox="1"/>
          <p:nvPr/>
        </p:nvSpPr>
        <p:spPr>
          <a:xfrm>
            <a:off x="594360" y="1828800"/>
            <a:ext cx="1737360" cy="260604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Log in / log out</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View dashboard &amp; charts</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View all logs</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View alerts &amp; threats</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Block IP / account (future)</a:t>
            </a:r>
            <a:endParaRPr lang="en-US" sz="1250" dirty="0"/>
          </a:p>
        </p:txBody>
      </p:sp>
      <p:sp>
        <p:nvSpPr>
          <p:cNvPr id="11" name="Shape 8"/>
          <p:cNvSpPr/>
          <p:nvPr/>
        </p:nvSpPr>
        <p:spPr>
          <a:xfrm>
            <a:off x="2560320" y="1051560"/>
            <a:ext cx="1965960" cy="3474720"/>
          </a:xfrm>
          <a:prstGeom prst="roundRect">
            <a:avLst>
              <a:gd name="adj" fmla="val 3721"/>
            </a:avLst>
          </a:prstGeom>
          <a:solidFill>
            <a:srgbClr val="F2F6F9"/>
          </a:solidFill>
          <a:ln w="12700">
            <a:solidFill>
              <a:srgbClr val="F2F6F9"/>
            </a:solidFill>
            <a:prstDash val="solid"/>
          </a:ln>
        </p:spPr>
      </p:sp>
      <p:sp>
        <p:nvSpPr>
          <p:cNvPr id="12" name="Shape 9"/>
          <p:cNvSpPr/>
          <p:nvPr/>
        </p:nvSpPr>
        <p:spPr>
          <a:xfrm>
            <a:off x="2743200" y="1188720"/>
            <a:ext cx="457200" cy="457200"/>
          </a:xfrm>
          <a:prstGeom prst="ellipse">
            <a:avLst/>
          </a:prstGeom>
          <a:solidFill>
            <a:srgbClr val="1FA2A6"/>
          </a:solidFill>
          <a:ln w="12700">
            <a:solidFill>
              <a:srgbClr val="1FA2A6"/>
            </a:solidFill>
            <a:prstDash val="solid"/>
          </a:ln>
        </p:spPr>
      </p:sp>
      <p:sp>
        <p:nvSpPr>
          <p:cNvPr id="13" name="Text 10"/>
          <p:cNvSpPr txBox="1"/>
          <p:nvPr/>
        </p:nvSpPr>
        <p:spPr>
          <a:xfrm>
            <a:off x="2743200" y="1188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V</a:t>
            </a:r>
            <a:endParaRPr lang="en-US" sz="1600" dirty="0"/>
          </a:p>
        </p:txBody>
      </p:sp>
      <p:sp>
        <p:nvSpPr>
          <p:cNvPr id="14" name="Text 11"/>
          <p:cNvSpPr txBox="1"/>
          <p:nvPr/>
        </p:nvSpPr>
        <p:spPr>
          <a:xfrm>
            <a:off x="3291840" y="1188720"/>
            <a:ext cx="1188720" cy="457200"/>
          </a:xfrm>
          <a:prstGeom prst="rect">
            <a:avLst/>
          </a:prstGeom>
          <a:noFill/>
          <a:ln/>
        </p:spPr>
        <p:txBody>
          <a:bodyPr wrap="square" lIns="0" tIns="0" rIns="0" bIns="0" rtlCol="0" anchor="ctr"/>
          <a:lstStyle/>
          <a:p>
            <a:pPr indent="0" marL="0">
              <a:buNone/>
            </a:pPr>
            <a:r>
              <a:rPr lang="en-US" sz="1400" b="1" dirty="0">
                <a:solidFill>
                  <a:srgbClr val="1FA2A6"/>
                </a:solidFill>
                <a:latin typeface="Calibri" pitchFamily="34" charset="0"/>
                <a:ea typeface="Calibri" pitchFamily="34" charset="-122"/>
                <a:cs typeface="Calibri" pitchFamily="34" charset="-120"/>
              </a:rPr>
              <a:t>Viewer</a:t>
            </a:r>
            <a:endParaRPr lang="en-US" sz="1400" dirty="0"/>
          </a:p>
        </p:txBody>
      </p:sp>
      <p:sp>
        <p:nvSpPr>
          <p:cNvPr id="15" name="Text 12"/>
          <p:cNvSpPr txBox="1"/>
          <p:nvPr/>
        </p:nvSpPr>
        <p:spPr>
          <a:xfrm>
            <a:off x="2697480" y="1828800"/>
            <a:ext cx="1737360" cy="260604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Log in / log out</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View dashboard &amp; charts</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Read-only access</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Admin actions refused (403)</a:t>
            </a:r>
            <a:endParaRPr lang="en-US" sz="1250" dirty="0"/>
          </a:p>
        </p:txBody>
      </p:sp>
      <p:sp>
        <p:nvSpPr>
          <p:cNvPr id="16" name="Shape 13"/>
          <p:cNvSpPr/>
          <p:nvPr/>
        </p:nvSpPr>
        <p:spPr>
          <a:xfrm>
            <a:off x="4663440" y="1051560"/>
            <a:ext cx="1965960" cy="3474720"/>
          </a:xfrm>
          <a:prstGeom prst="roundRect">
            <a:avLst>
              <a:gd name="adj" fmla="val 3721"/>
            </a:avLst>
          </a:prstGeom>
          <a:solidFill>
            <a:srgbClr val="F2F6F9"/>
          </a:solidFill>
          <a:ln w="12700">
            <a:solidFill>
              <a:srgbClr val="F2F6F9"/>
            </a:solidFill>
            <a:prstDash val="solid"/>
          </a:ln>
        </p:spPr>
      </p:sp>
      <p:sp>
        <p:nvSpPr>
          <p:cNvPr id="17" name="Shape 14"/>
          <p:cNvSpPr/>
          <p:nvPr/>
        </p:nvSpPr>
        <p:spPr>
          <a:xfrm>
            <a:off x="4846320" y="1188720"/>
            <a:ext cx="457200" cy="457200"/>
          </a:xfrm>
          <a:prstGeom prst="ellipse">
            <a:avLst/>
          </a:prstGeom>
          <a:solidFill>
            <a:srgbClr val="E63946"/>
          </a:solidFill>
          <a:ln w="12700">
            <a:solidFill>
              <a:srgbClr val="E63946"/>
            </a:solidFill>
            <a:prstDash val="solid"/>
          </a:ln>
        </p:spPr>
      </p:sp>
      <p:sp>
        <p:nvSpPr>
          <p:cNvPr id="18" name="Text 15"/>
          <p:cNvSpPr txBox="1"/>
          <p:nvPr/>
        </p:nvSpPr>
        <p:spPr>
          <a:xfrm>
            <a:off x="4846320" y="1188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9" name="Text 16"/>
          <p:cNvSpPr txBox="1"/>
          <p:nvPr/>
        </p:nvSpPr>
        <p:spPr>
          <a:xfrm>
            <a:off x="5394960" y="1188720"/>
            <a:ext cx="1188720" cy="457200"/>
          </a:xfrm>
          <a:prstGeom prst="rect">
            <a:avLst/>
          </a:prstGeom>
          <a:noFill/>
          <a:ln/>
        </p:spPr>
        <p:txBody>
          <a:bodyPr wrap="square" lIns="0" tIns="0" rIns="0" bIns="0" rtlCol="0" anchor="ctr"/>
          <a:lstStyle/>
          <a:p>
            <a:pPr indent="0" marL="0">
              <a:buNone/>
            </a:pPr>
            <a:r>
              <a:rPr lang="en-US" sz="1400" b="1" dirty="0">
                <a:solidFill>
                  <a:srgbClr val="E63946"/>
                </a:solidFill>
                <a:latin typeface="Calibri" pitchFamily="34" charset="0"/>
                <a:ea typeface="Calibri" pitchFamily="34" charset="-122"/>
                <a:cs typeface="Calibri" pitchFamily="34" charset="-120"/>
              </a:rPr>
              <a:t>Demo User / Attacker</a:t>
            </a:r>
            <a:endParaRPr lang="en-US" sz="1400" dirty="0"/>
          </a:p>
        </p:txBody>
      </p:sp>
      <p:sp>
        <p:nvSpPr>
          <p:cNvPr id="20" name="Text 17"/>
          <p:cNvSpPr txBox="1"/>
          <p:nvPr/>
        </p:nvSpPr>
        <p:spPr>
          <a:xfrm>
            <a:off x="4800600" y="1828800"/>
            <a:ext cx="1737360" cy="260604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Log in to demo portal</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Search on demo portal</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Every attempt is logged</a:t>
            </a:r>
            <a:endParaRPr lang="en-US" sz="1250" dirty="0"/>
          </a:p>
        </p:txBody>
      </p:sp>
      <p:sp>
        <p:nvSpPr>
          <p:cNvPr id="21" name="Shape 18"/>
          <p:cNvSpPr/>
          <p:nvPr/>
        </p:nvSpPr>
        <p:spPr>
          <a:xfrm>
            <a:off x="6766560" y="1051560"/>
            <a:ext cx="1965960" cy="3474720"/>
          </a:xfrm>
          <a:prstGeom prst="roundRect">
            <a:avLst>
              <a:gd name="adj" fmla="val 3721"/>
            </a:avLst>
          </a:prstGeom>
          <a:solidFill>
            <a:srgbClr val="F2F6F9"/>
          </a:solidFill>
          <a:ln w="12700">
            <a:solidFill>
              <a:srgbClr val="F2F6F9"/>
            </a:solidFill>
            <a:prstDash val="solid"/>
          </a:ln>
        </p:spPr>
      </p:sp>
      <p:sp>
        <p:nvSpPr>
          <p:cNvPr id="22" name="Shape 19"/>
          <p:cNvSpPr/>
          <p:nvPr/>
        </p:nvSpPr>
        <p:spPr>
          <a:xfrm>
            <a:off x="6949440" y="1188720"/>
            <a:ext cx="457200" cy="457200"/>
          </a:xfrm>
          <a:prstGeom prst="ellipse">
            <a:avLst/>
          </a:prstGeom>
          <a:solidFill>
            <a:srgbClr val="5B6B7B"/>
          </a:solidFill>
          <a:ln w="12700">
            <a:solidFill>
              <a:srgbClr val="5B6B7B"/>
            </a:solidFill>
            <a:prstDash val="solid"/>
          </a:ln>
        </p:spPr>
      </p:sp>
      <p:sp>
        <p:nvSpPr>
          <p:cNvPr id="23" name="Text 20"/>
          <p:cNvSpPr txBox="1"/>
          <p:nvPr/>
        </p:nvSpPr>
        <p:spPr>
          <a:xfrm>
            <a:off x="6949440" y="1188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p>
        </p:txBody>
      </p:sp>
      <p:sp>
        <p:nvSpPr>
          <p:cNvPr id="24" name="Text 21"/>
          <p:cNvSpPr txBox="1"/>
          <p:nvPr/>
        </p:nvSpPr>
        <p:spPr>
          <a:xfrm>
            <a:off x="7498080" y="1188720"/>
            <a:ext cx="1188720" cy="457200"/>
          </a:xfrm>
          <a:prstGeom prst="rect">
            <a:avLst/>
          </a:prstGeom>
          <a:noFill/>
          <a:ln/>
        </p:spPr>
        <p:txBody>
          <a:bodyPr wrap="square" lIns="0" tIns="0" rIns="0" bIns="0" rtlCol="0" anchor="ctr"/>
          <a:lstStyle/>
          <a:p>
            <a:pPr indent="0" marL="0">
              <a:buNone/>
            </a:pPr>
            <a:r>
              <a:rPr lang="en-US" sz="1400" b="1" dirty="0">
                <a:solidFill>
                  <a:srgbClr val="5B6B7B"/>
                </a:solidFill>
                <a:latin typeface="Calibri" pitchFamily="34" charset="0"/>
                <a:ea typeface="Calibri" pitchFamily="34" charset="-122"/>
                <a:cs typeface="Calibri" pitchFamily="34" charset="-120"/>
              </a:rPr>
              <a:t>System</a:t>
            </a:r>
            <a:endParaRPr lang="en-US" sz="1400" dirty="0"/>
          </a:p>
        </p:txBody>
      </p:sp>
      <p:sp>
        <p:nvSpPr>
          <p:cNvPr id="25" name="Text 22"/>
          <p:cNvSpPr txBox="1"/>
          <p:nvPr/>
        </p:nvSpPr>
        <p:spPr>
          <a:xfrm>
            <a:off x="6903720" y="1828800"/>
            <a:ext cx="1737360" cy="260604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Collect logs (Vector)</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Run detection rules</a:t>
            </a:r>
            <a:endParaRPr lang="en-US" sz="1250" dirty="0"/>
          </a:p>
          <a:p>
            <a:pPr marL="177800" indent="-177800">
              <a:spcAft>
                <a:spcPts val="600"/>
              </a:spcAft>
              <a:buSzPct val="100000"/>
              <a:buChar char="•"/>
            </a:pPr>
            <a:r>
              <a:rPr lang="en-US" sz="1250" dirty="0">
                <a:solidFill>
                  <a:srgbClr val="1B2733"/>
                </a:solidFill>
                <a:latin typeface="Calibri" pitchFamily="34" charset="0"/>
                <a:ea typeface="Calibri" pitchFamily="34" charset="-122"/>
                <a:cs typeface="Calibri" pitchFamily="34" charset="-120"/>
              </a:rPr>
              <a:t>Generate &amp; store alerts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Database Design – OpenSearch Indices</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12 / 20</a:t>
            </a:r>
            <a:endParaRPr lang="en-US" sz="900" dirty="0"/>
          </a:p>
        </p:txBody>
      </p:sp>
      <p:sp>
        <p:nvSpPr>
          <p:cNvPr id="6" name="Shape 3"/>
          <p:cNvSpPr/>
          <p:nvPr/>
        </p:nvSpPr>
        <p:spPr>
          <a:xfrm>
            <a:off x="457200" y="1051560"/>
            <a:ext cx="2606040" cy="685800"/>
          </a:xfrm>
          <a:prstGeom prst="roundRect">
            <a:avLst>
              <a:gd name="adj" fmla="val 10667"/>
            </a:avLst>
          </a:prstGeom>
          <a:solidFill>
            <a:srgbClr val="1FA2A6"/>
          </a:solidFill>
          <a:ln w="12700">
            <a:solidFill>
              <a:srgbClr val="1FA2A6"/>
            </a:solidFill>
            <a:prstDash val="solid"/>
          </a:ln>
        </p:spPr>
      </p:sp>
      <p:sp>
        <p:nvSpPr>
          <p:cNvPr id="7" name="Text 4"/>
          <p:cNvSpPr txBox="1"/>
          <p:nvPr/>
        </p:nvSpPr>
        <p:spPr>
          <a:xfrm>
            <a:off x="594360" y="1051560"/>
            <a:ext cx="2377440" cy="6858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logs-index</a:t>
            </a:r>
            <a:endParaRPr lang="en-US" sz="1700" dirty="0"/>
          </a:p>
          <a:p>
            <a:pPr indent="0" marL="0">
              <a:buNone/>
            </a:pPr>
            <a:r>
              <a:rPr lang="en-US" sz="1100" dirty="0">
                <a:solidFill>
                  <a:srgbClr val="FFFFFF"/>
                </a:solidFill>
                <a:latin typeface="Calibri" pitchFamily="34" charset="0"/>
                <a:ea typeface="Calibri" pitchFamily="34" charset="-122"/>
                <a:cs typeface="Calibri" pitchFamily="34" charset="-120"/>
              </a:rPr>
              <a:t>Every parsed log event</a:t>
            </a:r>
            <a:endParaRPr lang="en-US" sz="1700" dirty="0"/>
          </a:p>
        </p:txBody>
      </p:sp>
      <p:sp>
        <p:nvSpPr>
          <p:cNvPr id="8" name="Shape 5"/>
          <p:cNvSpPr/>
          <p:nvPr/>
        </p:nvSpPr>
        <p:spPr>
          <a:xfrm>
            <a:off x="457200" y="1828800"/>
            <a:ext cx="2606040" cy="2697480"/>
          </a:xfrm>
          <a:prstGeom prst="roundRect">
            <a:avLst>
              <a:gd name="adj" fmla="val 2807"/>
            </a:avLst>
          </a:prstGeom>
          <a:solidFill>
            <a:srgbClr val="F2F6F9"/>
          </a:solidFill>
          <a:ln w="12700">
            <a:solidFill>
              <a:srgbClr val="F2F6F9"/>
            </a:solidFill>
            <a:prstDash val="solid"/>
          </a:ln>
        </p:spPr>
      </p:sp>
      <p:sp>
        <p:nvSpPr>
          <p:cNvPr id="9" name="Text 6"/>
          <p:cNvSpPr txBox="1"/>
          <p:nvPr/>
        </p:nvSpPr>
        <p:spPr>
          <a:xfrm>
            <a:off x="594360" y="1920240"/>
            <a:ext cx="2377440" cy="251460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timestamp</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log_type</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source_ip</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event / username</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path / status</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message</a:t>
            </a:r>
            <a:endParaRPr lang="en-US" sz="1300" dirty="0"/>
          </a:p>
        </p:txBody>
      </p:sp>
      <p:sp>
        <p:nvSpPr>
          <p:cNvPr id="10" name="Shape 7"/>
          <p:cNvSpPr/>
          <p:nvPr/>
        </p:nvSpPr>
        <p:spPr>
          <a:xfrm>
            <a:off x="3246120" y="1051560"/>
            <a:ext cx="2606040" cy="685800"/>
          </a:xfrm>
          <a:prstGeom prst="roundRect">
            <a:avLst>
              <a:gd name="adj" fmla="val 10667"/>
            </a:avLst>
          </a:prstGeom>
          <a:solidFill>
            <a:srgbClr val="E63946"/>
          </a:solidFill>
          <a:ln w="12700">
            <a:solidFill>
              <a:srgbClr val="E63946"/>
            </a:solidFill>
            <a:prstDash val="solid"/>
          </a:ln>
        </p:spPr>
      </p:sp>
      <p:sp>
        <p:nvSpPr>
          <p:cNvPr id="11" name="Text 8"/>
          <p:cNvSpPr txBox="1"/>
          <p:nvPr/>
        </p:nvSpPr>
        <p:spPr>
          <a:xfrm>
            <a:off x="3383280" y="1051560"/>
            <a:ext cx="2377440" cy="6858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alerts-index</a:t>
            </a:r>
            <a:endParaRPr lang="en-US" sz="1700" dirty="0"/>
          </a:p>
          <a:p>
            <a:pPr indent="0" marL="0">
              <a:buNone/>
            </a:pPr>
            <a:r>
              <a:rPr lang="en-US" sz="1100" dirty="0">
                <a:solidFill>
                  <a:srgbClr val="FFFFFF"/>
                </a:solidFill>
                <a:latin typeface="Calibri" pitchFamily="34" charset="0"/>
                <a:ea typeface="Calibri" pitchFamily="34" charset="-122"/>
                <a:cs typeface="Calibri" pitchFamily="34" charset="-120"/>
              </a:rPr>
              <a:t>Every alert raised</a:t>
            </a:r>
            <a:endParaRPr lang="en-US" sz="1700" dirty="0"/>
          </a:p>
        </p:txBody>
      </p:sp>
      <p:sp>
        <p:nvSpPr>
          <p:cNvPr id="12" name="Shape 9"/>
          <p:cNvSpPr/>
          <p:nvPr/>
        </p:nvSpPr>
        <p:spPr>
          <a:xfrm>
            <a:off x="3246120" y="1828800"/>
            <a:ext cx="2606040" cy="2697480"/>
          </a:xfrm>
          <a:prstGeom prst="roundRect">
            <a:avLst>
              <a:gd name="adj" fmla="val 2807"/>
            </a:avLst>
          </a:prstGeom>
          <a:solidFill>
            <a:srgbClr val="F2F6F9"/>
          </a:solidFill>
          <a:ln w="12700">
            <a:solidFill>
              <a:srgbClr val="F2F6F9"/>
            </a:solidFill>
            <a:prstDash val="solid"/>
          </a:ln>
        </p:spPr>
      </p:sp>
      <p:sp>
        <p:nvSpPr>
          <p:cNvPr id="13" name="Text 10"/>
          <p:cNvSpPr txBox="1"/>
          <p:nvPr/>
        </p:nvSpPr>
        <p:spPr>
          <a:xfrm>
            <a:off x="3383280" y="1920240"/>
            <a:ext cx="2377440" cy="251460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timestamp</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alert_type</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source_ip</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attempt_count</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severity</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mitre_id / tactic</a:t>
            </a:r>
            <a:endParaRPr lang="en-US" sz="1300" dirty="0"/>
          </a:p>
        </p:txBody>
      </p:sp>
      <p:sp>
        <p:nvSpPr>
          <p:cNvPr id="14" name="Shape 11"/>
          <p:cNvSpPr/>
          <p:nvPr/>
        </p:nvSpPr>
        <p:spPr>
          <a:xfrm>
            <a:off x="6035040" y="1051560"/>
            <a:ext cx="2606040" cy="685800"/>
          </a:xfrm>
          <a:prstGeom prst="roundRect">
            <a:avLst>
              <a:gd name="adj" fmla="val 10667"/>
            </a:avLst>
          </a:prstGeom>
          <a:solidFill>
            <a:srgbClr val="0B1F33"/>
          </a:solidFill>
          <a:ln w="12700">
            <a:solidFill>
              <a:srgbClr val="0B1F33"/>
            </a:solidFill>
            <a:prstDash val="solid"/>
          </a:ln>
        </p:spPr>
      </p:sp>
      <p:sp>
        <p:nvSpPr>
          <p:cNvPr id="15" name="Text 12"/>
          <p:cNvSpPr txBox="1"/>
          <p:nvPr/>
        </p:nvSpPr>
        <p:spPr>
          <a:xfrm>
            <a:off x="6172200" y="1051560"/>
            <a:ext cx="2377440" cy="6858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blocked-index</a:t>
            </a:r>
            <a:endParaRPr lang="en-US" sz="1700" dirty="0"/>
          </a:p>
          <a:p>
            <a:pPr indent="0" marL="0">
              <a:buNone/>
            </a:pPr>
            <a:r>
              <a:rPr lang="en-US" sz="1100" dirty="0">
                <a:solidFill>
                  <a:srgbClr val="FFFFFF"/>
                </a:solidFill>
                <a:latin typeface="Calibri" pitchFamily="34" charset="0"/>
                <a:ea typeface="Calibri" pitchFamily="34" charset="-122"/>
                <a:cs typeface="Calibri" pitchFamily="34" charset="-120"/>
              </a:rPr>
              <a:t>Blocklist (future feature)</a:t>
            </a:r>
            <a:endParaRPr lang="en-US" sz="1700" dirty="0"/>
          </a:p>
        </p:txBody>
      </p:sp>
      <p:sp>
        <p:nvSpPr>
          <p:cNvPr id="16" name="Shape 13"/>
          <p:cNvSpPr/>
          <p:nvPr/>
        </p:nvSpPr>
        <p:spPr>
          <a:xfrm>
            <a:off x="6035040" y="1828800"/>
            <a:ext cx="2606040" cy="2697480"/>
          </a:xfrm>
          <a:prstGeom prst="roundRect">
            <a:avLst>
              <a:gd name="adj" fmla="val 2807"/>
            </a:avLst>
          </a:prstGeom>
          <a:solidFill>
            <a:srgbClr val="F2F6F9"/>
          </a:solidFill>
          <a:ln w="12700">
            <a:solidFill>
              <a:srgbClr val="F2F6F9"/>
            </a:solidFill>
            <a:prstDash val="solid"/>
          </a:ln>
        </p:spPr>
      </p:sp>
      <p:sp>
        <p:nvSpPr>
          <p:cNvPr id="17" name="Text 14"/>
          <p:cNvSpPr txBox="1"/>
          <p:nvPr/>
        </p:nvSpPr>
        <p:spPr>
          <a:xfrm>
            <a:off x="6172200" y="1920240"/>
            <a:ext cx="2377440" cy="251460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type (ip / account)</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ip</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username</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blocked_at</a:t>
            </a:r>
            <a:endParaRPr lang="en-US" sz="1300" dirty="0"/>
          </a:p>
          <a:p>
            <a:pPr marL="152400" indent="-152400">
              <a:spcAft>
                <a:spcPts val="500"/>
              </a:spcAft>
              <a:buSzPct val="100000"/>
              <a:buChar char="•"/>
            </a:pPr>
            <a:r>
              <a:rPr lang="en-US" sz="1300" dirty="0">
                <a:solidFill>
                  <a:srgbClr val="1B2733"/>
                </a:solidFill>
                <a:latin typeface="Courier New" pitchFamily="34" charset="0"/>
                <a:ea typeface="Courier New" pitchFamily="34" charset="-122"/>
                <a:cs typeface="Courier New" pitchFamily="34" charset="-120"/>
              </a:rPr>
              <a:t>blocked_by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Screenshots – Demo Portal</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13 / 20</a:t>
            </a:r>
            <a:endParaRPr lang="en-US" sz="900" dirty="0"/>
          </a:p>
        </p:txBody>
      </p:sp>
      <p:sp>
        <p:nvSpPr>
          <p:cNvPr id="6" name="Shape 3"/>
          <p:cNvSpPr/>
          <p:nvPr/>
        </p:nvSpPr>
        <p:spPr>
          <a:xfrm>
            <a:off x="457200" y="1051560"/>
            <a:ext cx="3977640" cy="3474720"/>
          </a:xfrm>
          <a:prstGeom prst="rect">
            <a:avLst/>
          </a:prstGeom>
          <a:solidFill>
            <a:srgbClr val="F2F6F9"/>
          </a:solidFill>
          <a:ln w="15875">
            <a:solidFill>
              <a:srgbClr val="8A99A8"/>
            </a:solidFill>
            <a:prstDash val="dash"/>
          </a:ln>
        </p:spPr>
      </p:sp>
      <p:sp>
        <p:nvSpPr>
          <p:cNvPr id="7" name="Text 4"/>
          <p:cNvSpPr txBox="1"/>
          <p:nvPr/>
        </p:nvSpPr>
        <p:spPr>
          <a:xfrm>
            <a:off x="731520" y="1051560"/>
            <a:ext cx="3429000" cy="3474720"/>
          </a:xfrm>
          <a:prstGeom prst="rect">
            <a:avLst/>
          </a:prstGeom>
          <a:noFill/>
          <a:ln/>
        </p:spPr>
        <p:txBody>
          <a:bodyPr wrap="square" lIns="0" tIns="0" rIns="0" bIns="0" rtlCol="0" anchor="ctr"/>
          <a:lstStyle/>
          <a:p>
            <a:pPr algn="ctr" indent="0" marL="0">
              <a:spcAft>
                <a:spcPts val="600"/>
              </a:spcAft>
              <a:buNone/>
            </a:pPr>
            <a:r>
              <a:rPr lang="en-US" sz="1400" b="1" dirty="0">
                <a:solidFill>
                  <a:srgbClr val="E63946"/>
                </a:solidFill>
                <a:latin typeface="Calibri" pitchFamily="34" charset="0"/>
                <a:ea typeface="Calibri" pitchFamily="34" charset="-122"/>
                <a:cs typeface="Calibri" pitchFamily="34" charset="-120"/>
              </a:rPr>
              <a:t>[ INSERT SCREENSHOT ]</a:t>
            </a:r>
            <a:endParaRPr lang="en-US" sz="1400" dirty="0"/>
          </a:p>
          <a:p>
            <a:pPr algn="ctr" indent="0" marL="0">
              <a:spcAft>
                <a:spcPts val="600"/>
              </a:spcAft>
              <a:buNone/>
            </a:pPr>
            <a:r>
              <a:rPr lang="en-US" sz="1300" b="1" dirty="0">
                <a:solidFill>
                  <a:srgbClr val="0B1F33"/>
                </a:solidFill>
                <a:latin typeface="Calibri" pitchFamily="34" charset="0"/>
                <a:ea typeface="Calibri" pitchFamily="34" charset="-122"/>
                <a:cs typeface="Calibri" pitchFamily="34" charset="-120"/>
              </a:rPr>
              <a:t>Demo Login Page</a:t>
            </a:r>
            <a:endParaRPr lang="en-US" sz="1400" dirty="0"/>
          </a:p>
          <a:p>
            <a:pPr algn="ctr" indent="0" marL="0">
              <a:spcAft>
                <a:spcPts val="600"/>
              </a:spcAft>
              <a:buNone/>
            </a:pPr>
            <a:r>
              <a:rPr lang="en-US" sz="1100" i="1" dirty="0">
                <a:solidFill>
                  <a:srgbClr val="5B6B7B"/>
                </a:solidFill>
                <a:latin typeface="Calibri" pitchFamily="34" charset="0"/>
                <a:ea typeface="Calibri" pitchFamily="34" charset="-122"/>
                <a:cs typeface="Calibri" pitchFamily="34" charset="-120"/>
              </a:rPr>
              <a:t>localhost:8080/login.html showing '✖ ACCESS DENIED'</a:t>
            </a:r>
            <a:endParaRPr lang="en-US" sz="1400" dirty="0"/>
          </a:p>
        </p:txBody>
      </p:sp>
      <p:sp>
        <p:nvSpPr>
          <p:cNvPr id="8" name="Shape 5"/>
          <p:cNvSpPr/>
          <p:nvPr/>
        </p:nvSpPr>
        <p:spPr>
          <a:xfrm>
            <a:off x="4709160" y="1051560"/>
            <a:ext cx="3977640" cy="3474720"/>
          </a:xfrm>
          <a:prstGeom prst="rect">
            <a:avLst/>
          </a:prstGeom>
          <a:solidFill>
            <a:srgbClr val="F2F6F9"/>
          </a:solidFill>
          <a:ln w="15875">
            <a:solidFill>
              <a:srgbClr val="8A99A8"/>
            </a:solidFill>
            <a:prstDash val="dash"/>
          </a:ln>
        </p:spPr>
      </p:sp>
      <p:sp>
        <p:nvSpPr>
          <p:cNvPr id="9" name="Text 6"/>
          <p:cNvSpPr txBox="1"/>
          <p:nvPr/>
        </p:nvSpPr>
        <p:spPr>
          <a:xfrm>
            <a:off x="4983480" y="1051560"/>
            <a:ext cx="3429000" cy="3474720"/>
          </a:xfrm>
          <a:prstGeom prst="rect">
            <a:avLst/>
          </a:prstGeom>
          <a:noFill/>
          <a:ln/>
        </p:spPr>
        <p:txBody>
          <a:bodyPr wrap="square" lIns="0" tIns="0" rIns="0" bIns="0" rtlCol="0" anchor="ctr"/>
          <a:lstStyle/>
          <a:p>
            <a:pPr algn="ctr" indent="0" marL="0">
              <a:spcAft>
                <a:spcPts val="600"/>
              </a:spcAft>
              <a:buNone/>
            </a:pPr>
            <a:r>
              <a:rPr lang="en-US" sz="1400" b="1" dirty="0">
                <a:solidFill>
                  <a:srgbClr val="E63946"/>
                </a:solidFill>
                <a:latin typeface="Calibri" pitchFamily="34" charset="0"/>
                <a:ea typeface="Calibri" pitchFamily="34" charset="-122"/>
                <a:cs typeface="Calibri" pitchFamily="34" charset="-120"/>
              </a:rPr>
              <a:t>[ INSERT SCREENSHOT ]</a:t>
            </a:r>
            <a:endParaRPr lang="en-US" sz="1400" dirty="0"/>
          </a:p>
          <a:p>
            <a:pPr algn="ctr" indent="0" marL="0">
              <a:spcAft>
                <a:spcPts val="600"/>
              </a:spcAft>
              <a:buNone/>
            </a:pPr>
            <a:r>
              <a:rPr lang="en-US" sz="1300" b="1" dirty="0">
                <a:solidFill>
                  <a:srgbClr val="0B1F33"/>
                </a:solidFill>
                <a:latin typeface="Calibri" pitchFamily="34" charset="0"/>
                <a:ea typeface="Calibri" pitchFamily="34" charset="-122"/>
                <a:cs typeface="Calibri" pitchFamily="34" charset="-120"/>
              </a:rPr>
              <a:t>Search Page with XSS</a:t>
            </a:r>
            <a:endParaRPr lang="en-US" sz="1400" dirty="0"/>
          </a:p>
          <a:p>
            <a:pPr algn="ctr" indent="0" marL="0">
              <a:spcAft>
                <a:spcPts val="600"/>
              </a:spcAft>
              <a:buNone/>
            </a:pPr>
            <a:r>
              <a:rPr lang="en-US" sz="1100" i="1" dirty="0">
                <a:solidFill>
                  <a:srgbClr val="5B6B7B"/>
                </a:solidFill>
                <a:latin typeface="Calibri" pitchFamily="34" charset="0"/>
                <a:ea typeface="Calibri" pitchFamily="34" charset="-122"/>
                <a:cs typeface="Calibri" pitchFamily="34" charset="-120"/>
              </a:rPr>
              <a:t>search.html after searching &lt;script&gt;alert(1)&lt;/script&gt;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Screenshots – Admin Dashboard</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14 / 20</a:t>
            </a:r>
            <a:endParaRPr lang="en-US" sz="900" dirty="0"/>
          </a:p>
        </p:txBody>
      </p:sp>
      <p:sp>
        <p:nvSpPr>
          <p:cNvPr id="6" name="Shape 3"/>
          <p:cNvSpPr/>
          <p:nvPr/>
        </p:nvSpPr>
        <p:spPr>
          <a:xfrm>
            <a:off x="457200" y="1051560"/>
            <a:ext cx="8229600" cy="3474720"/>
          </a:xfrm>
          <a:prstGeom prst="rect">
            <a:avLst/>
          </a:prstGeom>
          <a:solidFill>
            <a:srgbClr val="F2F6F9"/>
          </a:solidFill>
          <a:ln w="15875">
            <a:solidFill>
              <a:srgbClr val="8A99A8"/>
            </a:solidFill>
            <a:prstDash val="dash"/>
          </a:ln>
        </p:spPr>
      </p:sp>
      <p:sp>
        <p:nvSpPr>
          <p:cNvPr id="7" name="Text 4"/>
          <p:cNvSpPr txBox="1"/>
          <p:nvPr/>
        </p:nvSpPr>
        <p:spPr>
          <a:xfrm>
            <a:off x="731520" y="1051560"/>
            <a:ext cx="7680960" cy="3474720"/>
          </a:xfrm>
          <a:prstGeom prst="rect">
            <a:avLst/>
          </a:prstGeom>
          <a:noFill/>
          <a:ln/>
        </p:spPr>
        <p:txBody>
          <a:bodyPr wrap="square" lIns="0" tIns="0" rIns="0" bIns="0" rtlCol="0" anchor="ctr"/>
          <a:lstStyle/>
          <a:p>
            <a:pPr algn="ctr" indent="0" marL="0">
              <a:spcAft>
                <a:spcPts val="600"/>
              </a:spcAft>
              <a:buNone/>
            </a:pPr>
            <a:r>
              <a:rPr lang="en-US" sz="1400" b="1" dirty="0">
                <a:solidFill>
                  <a:srgbClr val="E63946"/>
                </a:solidFill>
                <a:latin typeface="Calibri" pitchFamily="34" charset="0"/>
                <a:ea typeface="Calibri" pitchFamily="34" charset="-122"/>
                <a:cs typeface="Calibri" pitchFamily="34" charset="-120"/>
              </a:rPr>
              <a:t>[ INSERT SCREENSHOT ]</a:t>
            </a:r>
            <a:endParaRPr lang="en-US" sz="1400" dirty="0"/>
          </a:p>
          <a:p>
            <a:pPr algn="ctr" indent="0" marL="0">
              <a:spcAft>
                <a:spcPts val="600"/>
              </a:spcAft>
              <a:buNone/>
            </a:pPr>
            <a:r>
              <a:rPr lang="en-US" sz="1300" b="1" dirty="0">
                <a:solidFill>
                  <a:srgbClr val="0B1F33"/>
                </a:solidFill>
                <a:latin typeface="Calibri" pitchFamily="34" charset="0"/>
                <a:ea typeface="Calibri" pitchFamily="34" charset="-122"/>
                <a:cs typeface="Calibri" pitchFamily="34" charset="-120"/>
              </a:rPr>
              <a:t>Admin Dashboard – Overview</a:t>
            </a:r>
            <a:endParaRPr lang="en-US" sz="1400" dirty="0"/>
          </a:p>
          <a:p>
            <a:pPr algn="ctr" indent="0" marL="0">
              <a:spcAft>
                <a:spcPts val="600"/>
              </a:spcAft>
              <a:buNone/>
            </a:pPr>
            <a:r>
              <a:rPr lang="en-US" sz="1100" i="1" dirty="0">
                <a:solidFill>
                  <a:srgbClr val="5B6B7B"/>
                </a:solidFill>
                <a:latin typeface="Calibri" pitchFamily="34" charset="0"/>
                <a:ea typeface="Calibri" pitchFamily="34" charset="-122"/>
                <a:cs typeface="Calibri" pitchFamily="34" charset="-120"/>
              </a:rPr>
              <a:t>admin.html Dashboard view after an attack: stat tiles and all three charts (red and blue bars visible)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Screenshots – Alerts &amp; Response</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15 / 20</a:t>
            </a:r>
            <a:endParaRPr lang="en-US" sz="900" dirty="0"/>
          </a:p>
        </p:txBody>
      </p:sp>
      <p:sp>
        <p:nvSpPr>
          <p:cNvPr id="6" name="Shape 3"/>
          <p:cNvSpPr/>
          <p:nvPr/>
        </p:nvSpPr>
        <p:spPr>
          <a:xfrm>
            <a:off x="457200" y="1051560"/>
            <a:ext cx="5120640" cy="3474720"/>
          </a:xfrm>
          <a:prstGeom prst="rect">
            <a:avLst/>
          </a:prstGeom>
          <a:solidFill>
            <a:srgbClr val="F2F6F9"/>
          </a:solidFill>
          <a:ln w="15875">
            <a:solidFill>
              <a:srgbClr val="8A99A8"/>
            </a:solidFill>
            <a:prstDash val="dash"/>
          </a:ln>
        </p:spPr>
      </p:sp>
      <p:sp>
        <p:nvSpPr>
          <p:cNvPr id="7" name="Text 4"/>
          <p:cNvSpPr txBox="1"/>
          <p:nvPr/>
        </p:nvSpPr>
        <p:spPr>
          <a:xfrm>
            <a:off x="731520" y="1051560"/>
            <a:ext cx="4572000" cy="3474720"/>
          </a:xfrm>
          <a:prstGeom prst="rect">
            <a:avLst/>
          </a:prstGeom>
          <a:noFill/>
          <a:ln/>
        </p:spPr>
        <p:txBody>
          <a:bodyPr wrap="square" lIns="0" tIns="0" rIns="0" bIns="0" rtlCol="0" anchor="ctr"/>
          <a:lstStyle/>
          <a:p>
            <a:pPr algn="ctr" indent="0" marL="0">
              <a:spcAft>
                <a:spcPts val="600"/>
              </a:spcAft>
              <a:buNone/>
            </a:pPr>
            <a:r>
              <a:rPr lang="en-US" sz="1400" b="1" dirty="0">
                <a:solidFill>
                  <a:srgbClr val="E63946"/>
                </a:solidFill>
                <a:latin typeface="Calibri" pitchFamily="34" charset="0"/>
                <a:ea typeface="Calibri" pitchFamily="34" charset="-122"/>
                <a:cs typeface="Calibri" pitchFamily="34" charset="-120"/>
              </a:rPr>
              <a:t>[ INSERT SCREENSHOT ]</a:t>
            </a:r>
            <a:endParaRPr lang="en-US" sz="1400" dirty="0"/>
          </a:p>
          <a:p>
            <a:pPr algn="ctr" indent="0" marL="0">
              <a:spcAft>
                <a:spcPts val="600"/>
              </a:spcAft>
              <a:buNone/>
            </a:pPr>
            <a:r>
              <a:rPr lang="en-US" sz="1300" b="1" dirty="0">
                <a:solidFill>
                  <a:srgbClr val="0B1F33"/>
                </a:solidFill>
                <a:latin typeface="Calibri" pitchFamily="34" charset="0"/>
                <a:ea typeface="Calibri" pitchFamily="34" charset="-122"/>
                <a:cs typeface="Calibri" pitchFamily="34" charset="-120"/>
              </a:rPr>
              <a:t>Threats &amp; Action View</a:t>
            </a:r>
            <a:endParaRPr lang="en-US" sz="1400" dirty="0"/>
          </a:p>
          <a:p>
            <a:pPr algn="ctr" indent="0" marL="0">
              <a:spcAft>
                <a:spcPts val="600"/>
              </a:spcAft>
              <a:buNone/>
            </a:pPr>
            <a:r>
              <a:rPr lang="en-US" sz="1100" i="1" dirty="0">
                <a:solidFill>
                  <a:srgbClr val="5B6B7B"/>
                </a:solidFill>
                <a:latin typeface="Calibri" pitchFamily="34" charset="0"/>
                <a:ea typeface="Calibri" pitchFamily="34" charset="-122"/>
                <a:cs typeface="Calibri" pitchFamily="34" charset="-120"/>
              </a:rPr>
              <a:t>Active alerts with source IP, HIGH severity, alert type, MITRE ID</a:t>
            </a:r>
            <a:endParaRPr lang="en-US" sz="1400" dirty="0"/>
          </a:p>
        </p:txBody>
      </p:sp>
      <p:sp>
        <p:nvSpPr>
          <p:cNvPr id="8" name="Shape 5"/>
          <p:cNvSpPr/>
          <p:nvPr/>
        </p:nvSpPr>
        <p:spPr>
          <a:xfrm>
            <a:off x="5852160" y="1051560"/>
            <a:ext cx="2834640" cy="3474720"/>
          </a:xfrm>
          <a:prstGeom prst="rect">
            <a:avLst/>
          </a:prstGeom>
          <a:solidFill>
            <a:srgbClr val="F2F6F9"/>
          </a:solidFill>
          <a:ln w="15875">
            <a:solidFill>
              <a:srgbClr val="8A99A8"/>
            </a:solidFill>
            <a:prstDash val="dash"/>
          </a:ln>
        </p:spPr>
      </p:sp>
      <p:sp>
        <p:nvSpPr>
          <p:cNvPr id="9" name="Text 6"/>
          <p:cNvSpPr txBox="1"/>
          <p:nvPr/>
        </p:nvSpPr>
        <p:spPr>
          <a:xfrm>
            <a:off x="6126480" y="1051560"/>
            <a:ext cx="2286000" cy="3474720"/>
          </a:xfrm>
          <a:prstGeom prst="rect">
            <a:avLst/>
          </a:prstGeom>
          <a:noFill/>
          <a:ln/>
        </p:spPr>
        <p:txBody>
          <a:bodyPr wrap="square" lIns="0" tIns="0" rIns="0" bIns="0" rtlCol="0" anchor="ctr"/>
          <a:lstStyle/>
          <a:p>
            <a:pPr algn="ctr" indent="0" marL="0">
              <a:spcAft>
                <a:spcPts val="600"/>
              </a:spcAft>
              <a:buNone/>
            </a:pPr>
            <a:r>
              <a:rPr lang="en-US" sz="1400" b="1" dirty="0">
                <a:solidFill>
                  <a:srgbClr val="E63946"/>
                </a:solidFill>
                <a:latin typeface="Calibri" pitchFamily="34" charset="0"/>
                <a:ea typeface="Calibri" pitchFamily="34" charset="-122"/>
                <a:cs typeface="Calibri" pitchFamily="34" charset="-120"/>
              </a:rPr>
              <a:t>[ INSERT SCREENSHOT ]</a:t>
            </a:r>
            <a:endParaRPr lang="en-US" sz="1400" dirty="0"/>
          </a:p>
          <a:p>
            <a:pPr algn="ctr" indent="0" marL="0">
              <a:spcAft>
                <a:spcPts val="600"/>
              </a:spcAft>
              <a:buNone/>
            </a:pPr>
            <a:r>
              <a:rPr lang="en-US" sz="1300" b="1" dirty="0">
                <a:solidFill>
                  <a:srgbClr val="0B1F33"/>
                </a:solidFill>
                <a:latin typeface="Calibri" pitchFamily="34" charset="0"/>
                <a:ea typeface="Calibri" pitchFamily="34" charset="-122"/>
                <a:cs typeface="Calibri" pitchFamily="34" charset="-120"/>
              </a:rPr>
              <a:t>Coming Soon Pop-up</a:t>
            </a:r>
            <a:endParaRPr lang="en-US" sz="1400" dirty="0"/>
          </a:p>
          <a:p>
            <a:pPr algn="ctr" indent="0" marL="0">
              <a:spcAft>
                <a:spcPts val="600"/>
              </a:spcAft>
              <a:buNone/>
            </a:pPr>
            <a:r>
              <a:rPr lang="en-US" sz="1100" i="1" dirty="0">
                <a:solidFill>
                  <a:srgbClr val="5B6B7B"/>
                </a:solidFill>
                <a:latin typeface="Calibri" pitchFamily="34" charset="0"/>
                <a:ea typeface="Calibri" pitchFamily="34" charset="-122"/>
                <a:cs typeface="Calibri" pitchFamily="34" charset="-120"/>
              </a:rPr>
              <a:t>After clicking 'Execute IP Level Block'</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Testing</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16 / 20</a:t>
            </a:r>
            <a:endParaRPr lang="en-US" sz="900" dirty="0"/>
          </a:p>
        </p:txBody>
      </p:sp>
      <p:sp>
        <p:nvSpPr>
          <p:cNvPr id="6" name="Shape 3"/>
          <p:cNvSpPr/>
          <p:nvPr/>
        </p:nvSpPr>
        <p:spPr>
          <a:xfrm>
            <a:off x="457200" y="1051560"/>
            <a:ext cx="2606040" cy="1234440"/>
          </a:xfrm>
          <a:prstGeom prst="roundRect">
            <a:avLst>
              <a:gd name="adj" fmla="val 5926"/>
            </a:avLst>
          </a:prstGeom>
          <a:solidFill>
            <a:srgbClr val="F2F6F9"/>
          </a:solidFill>
          <a:ln w="12700">
            <a:solidFill>
              <a:srgbClr val="F2F6F9"/>
            </a:solidFill>
            <a:prstDash val="solid"/>
          </a:ln>
        </p:spPr>
      </p:sp>
      <p:sp>
        <p:nvSpPr>
          <p:cNvPr id="7" name="Text 4"/>
          <p:cNvSpPr txBox="1"/>
          <p:nvPr/>
        </p:nvSpPr>
        <p:spPr>
          <a:xfrm>
            <a:off x="457200" y="1097280"/>
            <a:ext cx="2606040" cy="731520"/>
          </a:xfrm>
          <a:prstGeom prst="rect">
            <a:avLst/>
          </a:prstGeom>
          <a:noFill/>
          <a:ln/>
        </p:spPr>
        <p:txBody>
          <a:bodyPr wrap="square" lIns="0" tIns="0" rIns="0" bIns="0" rtlCol="0" anchor="ctr"/>
          <a:lstStyle/>
          <a:p>
            <a:pPr algn="ctr" indent="0" marL="0">
              <a:buNone/>
            </a:pPr>
            <a:r>
              <a:rPr lang="en-US" sz="4000" b="1" dirty="0">
                <a:solidFill>
                  <a:srgbClr val="0B1F33"/>
                </a:solidFill>
                <a:latin typeface="Cambria" pitchFamily="34" charset="0"/>
                <a:ea typeface="Cambria" pitchFamily="34" charset="-122"/>
                <a:cs typeface="Cambria" pitchFamily="34" charset="-120"/>
              </a:rPr>
              <a:t>19</a:t>
            </a:r>
            <a:endParaRPr lang="en-US" sz="4000" dirty="0"/>
          </a:p>
        </p:txBody>
      </p:sp>
      <p:sp>
        <p:nvSpPr>
          <p:cNvPr id="8" name="Text 5"/>
          <p:cNvSpPr txBox="1"/>
          <p:nvPr/>
        </p:nvSpPr>
        <p:spPr>
          <a:xfrm>
            <a:off x="457200" y="1783080"/>
            <a:ext cx="2606040"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libri" pitchFamily="34" charset="0"/>
                <a:ea typeface="Calibri" pitchFamily="34" charset="-122"/>
                <a:cs typeface="Calibri" pitchFamily="34" charset="-120"/>
              </a:rPr>
              <a:t>test cases</a:t>
            </a:r>
            <a:endParaRPr lang="en-US" sz="1400" dirty="0"/>
          </a:p>
        </p:txBody>
      </p:sp>
      <p:sp>
        <p:nvSpPr>
          <p:cNvPr id="9" name="Shape 6"/>
          <p:cNvSpPr/>
          <p:nvPr/>
        </p:nvSpPr>
        <p:spPr>
          <a:xfrm>
            <a:off x="3246120" y="1051560"/>
            <a:ext cx="2606040" cy="1234440"/>
          </a:xfrm>
          <a:prstGeom prst="roundRect">
            <a:avLst>
              <a:gd name="adj" fmla="val 5926"/>
            </a:avLst>
          </a:prstGeom>
          <a:solidFill>
            <a:srgbClr val="F2F6F9"/>
          </a:solidFill>
          <a:ln w="12700">
            <a:solidFill>
              <a:srgbClr val="F2F6F9"/>
            </a:solidFill>
            <a:prstDash val="solid"/>
          </a:ln>
        </p:spPr>
      </p:sp>
      <p:sp>
        <p:nvSpPr>
          <p:cNvPr id="10" name="Text 7"/>
          <p:cNvSpPr txBox="1"/>
          <p:nvPr/>
        </p:nvSpPr>
        <p:spPr>
          <a:xfrm>
            <a:off x="3246120" y="1097280"/>
            <a:ext cx="2606040" cy="731520"/>
          </a:xfrm>
          <a:prstGeom prst="rect">
            <a:avLst/>
          </a:prstGeom>
          <a:noFill/>
          <a:ln/>
        </p:spPr>
        <p:txBody>
          <a:bodyPr wrap="square" lIns="0" tIns="0" rIns="0" bIns="0" rtlCol="0" anchor="ctr"/>
          <a:lstStyle/>
          <a:p>
            <a:pPr algn="ctr" indent="0" marL="0">
              <a:buNone/>
            </a:pPr>
            <a:r>
              <a:rPr lang="en-US" sz="4000" b="1" dirty="0">
                <a:solidFill>
                  <a:srgbClr val="E63946"/>
                </a:solidFill>
                <a:latin typeface="Cambria" pitchFamily="34" charset="0"/>
                <a:ea typeface="Cambria" pitchFamily="34" charset="-122"/>
                <a:cs typeface="Cambria" pitchFamily="34" charset="-120"/>
              </a:rPr>
              <a:t>3</a:t>
            </a:r>
            <a:endParaRPr lang="en-US" sz="4000" dirty="0"/>
          </a:p>
        </p:txBody>
      </p:sp>
      <p:sp>
        <p:nvSpPr>
          <p:cNvPr id="11" name="Text 8"/>
          <p:cNvSpPr txBox="1"/>
          <p:nvPr/>
        </p:nvSpPr>
        <p:spPr>
          <a:xfrm>
            <a:off x="3246120" y="1783080"/>
            <a:ext cx="2606040"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libri" pitchFamily="34" charset="0"/>
                <a:ea typeface="Calibri" pitchFamily="34" charset="-122"/>
                <a:cs typeface="Calibri" pitchFamily="34" charset="-120"/>
              </a:rPr>
              <a:t>attack simulations</a:t>
            </a:r>
            <a:endParaRPr lang="en-US" sz="1400" dirty="0"/>
          </a:p>
        </p:txBody>
      </p:sp>
      <p:sp>
        <p:nvSpPr>
          <p:cNvPr id="12" name="Shape 9"/>
          <p:cNvSpPr/>
          <p:nvPr/>
        </p:nvSpPr>
        <p:spPr>
          <a:xfrm>
            <a:off x="6035040" y="1051560"/>
            <a:ext cx="2606040" cy="1234440"/>
          </a:xfrm>
          <a:prstGeom prst="roundRect">
            <a:avLst>
              <a:gd name="adj" fmla="val 5926"/>
            </a:avLst>
          </a:prstGeom>
          <a:solidFill>
            <a:srgbClr val="F2F6F9"/>
          </a:solidFill>
          <a:ln w="12700">
            <a:solidFill>
              <a:srgbClr val="F2F6F9"/>
            </a:solidFill>
            <a:prstDash val="solid"/>
          </a:ln>
        </p:spPr>
      </p:sp>
      <p:sp>
        <p:nvSpPr>
          <p:cNvPr id="13" name="Text 10"/>
          <p:cNvSpPr txBox="1"/>
          <p:nvPr/>
        </p:nvSpPr>
        <p:spPr>
          <a:xfrm>
            <a:off x="6035040" y="1097280"/>
            <a:ext cx="2606040" cy="731520"/>
          </a:xfrm>
          <a:prstGeom prst="rect">
            <a:avLst/>
          </a:prstGeom>
          <a:noFill/>
          <a:ln/>
        </p:spPr>
        <p:txBody>
          <a:bodyPr wrap="square" lIns="0" tIns="0" rIns="0" bIns="0" rtlCol="0" anchor="ctr"/>
          <a:lstStyle/>
          <a:p>
            <a:pPr algn="ctr" indent="0" marL="0">
              <a:buNone/>
            </a:pPr>
            <a:r>
              <a:rPr lang="en-US" sz="4000" b="1" dirty="0">
                <a:solidFill>
                  <a:srgbClr val="1FA2A6"/>
                </a:solidFill>
                <a:latin typeface="Cambria" pitchFamily="34" charset="0"/>
                <a:ea typeface="Cambria" pitchFamily="34" charset="-122"/>
                <a:cs typeface="Cambria" pitchFamily="34" charset="-120"/>
              </a:rPr>
              <a:t>8</a:t>
            </a:r>
            <a:endParaRPr lang="en-US" sz="4000" dirty="0"/>
          </a:p>
        </p:txBody>
      </p:sp>
      <p:sp>
        <p:nvSpPr>
          <p:cNvPr id="14" name="Text 11"/>
          <p:cNvSpPr txBox="1"/>
          <p:nvPr/>
        </p:nvSpPr>
        <p:spPr>
          <a:xfrm>
            <a:off x="6035040" y="1783080"/>
            <a:ext cx="2606040" cy="365760"/>
          </a:xfrm>
          <a:prstGeom prst="rect">
            <a:avLst/>
          </a:prstGeom>
          <a:noFill/>
          <a:ln/>
        </p:spPr>
        <p:txBody>
          <a:bodyPr wrap="square" lIns="0" tIns="0" rIns="0" bIns="0" rtlCol="0" anchor="ctr"/>
          <a:lstStyle/>
          <a:p>
            <a:pPr algn="ctr" indent="0" marL="0">
              <a:buNone/>
            </a:pPr>
            <a:r>
              <a:rPr lang="en-US" sz="1400" b="1" dirty="0">
                <a:solidFill>
                  <a:srgbClr val="1B2733"/>
                </a:solidFill>
                <a:latin typeface="Calibri" pitchFamily="34" charset="0"/>
                <a:ea typeface="Calibri" pitchFamily="34" charset="-122"/>
                <a:cs typeface="Calibri" pitchFamily="34" charset="-120"/>
              </a:rPr>
              <a:t>bugs fixed</a:t>
            </a:r>
            <a:endParaRPr lang="en-US" sz="1400" dirty="0"/>
          </a:p>
        </p:txBody>
      </p:sp>
      <p:sp>
        <p:nvSpPr>
          <p:cNvPr id="15" name="Text 12"/>
          <p:cNvSpPr txBox="1"/>
          <p:nvPr/>
        </p:nvSpPr>
        <p:spPr>
          <a:xfrm>
            <a:off x="457200" y="2514600"/>
            <a:ext cx="3931920" cy="365760"/>
          </a:xfrm>
          <a:prstGeom prst="rect">
            <a:avLst/>
          </a:prstGeom>
          <a:noFill/>
          <a:ln/>
        </p:spPr>
        <p:txBody>
          <a:bodyPr wrap="square" lIns="0" tIns="0" rIns="0" bIns="0" rtlCol="0" anchor="ctr"/>
          <a:lstStyle/>
          <a:p>
            <a:pPr indent="0" marL="0">
              <a:buNone/>
            </a:pPr>
            <a:r>
              <a:rPr lang="en-US" sz="1800" b="1" dirty="0">
                <a:solidFill>
                  <a:srgbClr val="0B1F33"/>
                </a:solidFill>
                <a:latin typeface="Cambria" pitchFamily="34" charset="0"/>
                <a:ea typeface="Cambria" pitchFamily="34" charset="-122"/>
                <a:cs typeface="Cambria" pitchFamily="34" charset="-120"/>
              </a:rPr>
              <a:t>Levels</a:t>
            </a:r>
            <a:endParaRPr lang="en-US" sz="1800" dirty="0"/>
          </a:p>
        </p:txBody>
      </p:sp>
      <p:sp>
        <p:nvSpPr>
          <p:cNvPr id="16" name="Text 13"/>
          <p:cNvSpPr txBox="1"/>
          <p:nvPr/>
        </p:nvSpPr>
        <p:spPr>
          <a:xfrm>
            <a:off x="457200" y="2880360"/>
            <a:ext cx="3931920" cy="16459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Unit – rule logic, sessions, IP checks</a:t>
            </a:r>
            <a:endParaRPr lang="en-US" sz="1300" dirty="0"/>
          </a:p>
          <a:p>
            <a:pPr marL="177800" indent="-1778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Integration – API → Vector → OpenSearch</a:t>
            </a:r>
            <a:endParaRPr lang="en-US" sz="1300" dirty="0"/>
          </a:p>
          <a:p>
            <a:pPr marL="177800" indent="-1778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System – full stack in the browser</a:t>
            </a:r>
            <a:endParaRPr lang="en-US" sz="1300" dirty="0"/>
          </a:p>
          <a:p>
            <a:pPr marL="177800" indent="-1778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Security – attacks and role checks</a:t>
            </a:r>
            <a:endParaRPr lang="en-US" sz="1300" dirty="0"/>
          </a:p>
        </p:txBody>
      </p:sp>
      <p:sp>
        <p:nvSpPr>
          <p:cNvPr id="17" name="Text 14"/>
          <p:cNvSpPr txBox="1"/>
          <p:nvPr/>
        </p:nvSpPr>
        <p:spPr>
          <a:xfrm>
            <a:off x="4754880" y="2514600"/>
            <a:ext cx="3931920" cy="365760"/>
          </a:xfrm>
          <a:prstGeom prst="rect">
            <a:avLst/>
          </a:prstGeom>
          <a:noFill/>
          <a:ln/>
        </p:spPr>
        <p:txBody>
          <a:bodyPr wrap="square" lIns="0" tIns="0" rIns="0" bIns="0" rtlCol="0" anchor="ctr"/>
          <a:lstStyle/>
          <a:p>
            <a:pPr indent="0" marL="0">
              <a:buNone/>
            </a:pPr>
            <a:r>
              <a:rPr lang="en-US" sz="1800" b="1" dirty="0">
                <a:solidFill>
                  <a:srgbClr val="E63946"/>
                </a:solidFill>
                <a:latin typeface="Cambria" pitchFamily="34" charset="0"/>
                <a:ea typeface="Cambria" pitchFamily="34" charset="-122"/>
                <a:cs typeface="Cambria" pitchFamily="34" charset="-120"/>
              </a:rPr>
              <a:t>Attack simulations</a:t>
            </a:r>
            <a:endParaRPr lang="en-US" sz="1800" dirty="0"/>
          </a:p>
        </p:txBody>
      </p:sp>
      <p:sp>
        <p:nvSpPr>
          <p:cNvPr id="18" name="Text 15"/>
          <p:cNvSpPr txBox="1"/>
          <p:nvPr/>
        </p:nvSpPr>
        <p:spPr>
          <a:xfrm>
            <a:off x="4754880" y="2880360"/>
            <a:ext cx="3931920" cy="16459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6 wrong logins → Brute Force alert (T1110)</a:t>
            </a:r>
            <a:endParaRPr lang="en-US" sz="1300" dirty="0"/>
          </a:p>
          <a:p>
            <a:pPr marL="177800" indent="-1778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Failures then success → Suspicious Login (T1078)</a:t>
            </a:r>
            <a:endParaRPr lang="en-US" sz="1300" dirty="0"/>
          </a:p>
          <a:p>
            <a:pPr marL="177800" indent="-1778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&lt;script&gt; in search → XSS alert (CWE-79)</a:t>
            </a:r>
            <a:endParaRPr lang="en-US" sz="1300" dirty="0"/>
          </a:p>
          <a:p>
            <a:pPr marL="177800" indent="-177800">
              <a:spcAft>
                <a:spcPts val="600"/>
              </a:spcAft>
              <a:buSzPct val="100000"/>
              <a:buChar char="•"/>
            </a:pPr>
            <a:r>
              <a:rPr lang="en-US" sz="1300" dirty="0">
                <a:solidFill>
                  <a:srgbClr val="1B2733"/>
                </a:solidFill>
                <a:latin typeface="Calibri" pitchFamily="34" charset="0"/>
                <a:ea typeface="Calibri" pitchFamily="34" charset="-122"/>
                <a:cs typeface="Calibri" pitchFamily="34" charset="-120"/>
              </a:rPr>
              <a:t>Viewer calling block → HTTP 403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Limitations</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17 / 20</a:t>
            </a:r>
            <a:endParaRPr lang="en-US" sz="900" dirty="0"/>
          </a:p>
        </p:txBody>
      </p:sp>
      <p:sp>
        <p:nvSpPr>
          <p:cNvPr id="6" name="Shape 3"/>
          <p:cNvSpPr/>
          <p:nvPr/>
        </p:nvSpPr>
        <p:spPr>
          <a:xfrm>
            <a:off x="457200" y="1051560"/>
            <a:ext cx="4023360" cy="1024128"/>
          </a:xfrm>
          <a:prstGeom prst="roundRect">
            <a:avLst>
              <a:gd name="adj" fmla="val 7143"/>
            </a:avLst>
          </a:prstGeom>
          <a:solidFill>
            <a:srgbClr val="F2F6F9"/>
          </a:solidFill>
          <a:ln w="12700">
            <a:solidFill>
              <a:srgbClr val="F2F6F9"/>
            </a:solidFill>
            <a:prstDash val="solid"/>
          </a:ln>
        </p:spPr>
      </p:sp>
      <p:sp>
        <p:nvSpPr>
          <p:cNvPr id="7" name="Shape 4"/>
          <p:cNvSpPr/>
          <p:nvPr/>
        </p:nvSpPr>
        <p:spPr>
          <a:xfrm>
            <a:off x="640080" y="1353312"/>
            <a:ext cx="384048" cy="384048"/>
          </a:xfrm>
          <a:prstGeom prst="ellipse">
            <a:avLst/>
          </a:prstGeom>
          <a:solidFill>
            <a:srgbClr val="E63946"/>
          </a:solidFill>
          <a:ln w="12700">
            <a:solidFill>
              <a:srgbClr val="E63946"/>
            </a:solidFill>
            <a:prstDash val="solid"/>
          </a:ln>
        </p:spPr>
      </p:sp>
      <p:sp>
        <p:nvSpPr>
          <p:cNvPr id="8" name="Text 5"/>
          <p:cNvSpPr txBox="1"/>
          <p:nvPr/>
        </p:nvSpPr>
        <p:spPr>
          <a:xfrm>
            <a:off x="640080" y="13533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188720" y="1143000"/>
            <a:ext cx="3154680" cy="32004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Detection trigger</a:t>
            </a:r>
            <a:endParaRPr lang="en-US" sz="1400" dirty="0"/>
          </a:p>
        </p:txBody>
      </p:sp>
      <p:sp>
        <p:nvSpPr>
          <p:cNvPr id="10" name="Text 7"/>
          <p:cNvSpPr txBox="1"/>
          <p:nvPr/>
        </p:nvSpPr>
        <p:spPr>
          <a:xfrm>
            <a:off x="1188720" y="1463040"/>
            <a:ext cx="3154680" cy="54864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Runs when the dashboard asks for alerts, not as a separate background service</a:t>
            </a:r>
            <a:endParaRPr lang="en-US" sz="1200" dirty="0"/>
          </a:p>
        </p:txBody>
      </p:sp>
      <p:sp>
        <p:nvSpPr>
          <p:cNvPr id="11" name="Shape 8"/>
          <p:cNvSpPr/>
          <p:nvPr/>
        </p:nvSpPr>
        <p:spPr>
          <a:xfrm>
            <a:off x="4663440" y="1051560"/>
            <a:ext cx="4023360" cy="1024128"/>
          </a:xfrm>
          <a:prstGeom prst="roundRect">
            <a:avLst>
              <a:gd name="adj" fmla="val 7143"/>
            </a:avLst>
          </a:prstGeom>
          <a:solidFill>
            <a:srgbClr val="F2F6F9"/>
          </a:solidFill>
          <a:ln w="12700">
            <a:solidFill>
              <a:srgbClr val="F2F6F9"/>
            </a:solidFill>
            <a:prstDash val="solid"/>
          </a:ln>
        </p:spPr>
      </p:sp>
      <p:sp>
        <p:nvSpPr>
          <p:cNvPr id="12" name="Shape 9"/>
          <p:cNvSpPr/>
          <p:nvPr/>
        </p:nvSpPr>
        <p:spPr>
          <a:xfrm>
            <a:off x="4846320" y="1353312"/>
            <a:ext cx="384048" cy="384048"/>
          </a:xfrm>
          <a:prstGeom prst="ellipse">
            <a:avLst/>
          </a:prstGeom>
          <a:solidFill>
            <a:srgbClr val="E63946"/>
          </a:solidFill>
          <a:ln w="12700">
            <a:solidFill>
              <a:srgbClr val="E63946"/>
            </a:solidFill>
            <a:prstDash val="solid"/>
          </a:ln>
        </p:spPr>
      </p:sp>
      <p:sp>
        <p:nvSpPr>
          <p:cNvPr id="13" name="Text 10"/>
          <p:cNvSpPr txBox="1"/>
          <p:nvPr/>
        </p:nvSpPr>
        <p:spPr>
          <a:xfrm>
            <a:off x="4846320" y="13533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5394960" y="1143000"/>
            <a:ext cx="3154680" cy="32004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Duplicate alerts</a:t>
            </a:r>
            <a:endParaRPr lang="en-US" sz="1400" dirty="0"/>
          </a:p>
        </p:txBody>
      </p:sp>
      <p:sp>
        <p:nvSpPr>
          <p:cNvPr id="15" name="Text 12"/>
          <p:cNvSpPr txBox="1"/>
          <p:nvPr/>
        </p:nvSpPr>
        <p:spPr>
          <a:xfrm>
            <a:off x="5394960" y="1463040"/>
            <a:ext cx="3154680" cy="54864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Brute-force alerts are not de-duplicated like XSS alerts</a:t>
            </a:r>
            <a:endParaRPr lang="en-US" sz="1200" dirty="0"/>
          </a:p>
        </p:txBody>
      </p:sp>
      <p:sp>
        <p:nvSpPr>
          <p:cNvPr id="16" name="Shape 13"/>
          <p:cNvSpPr/>
          <p:nvPr/>
        </p:nvSpPr>
        <p:spPr>
          <a:xfrm>
            <a:off x="457200" y="2221992"/>
            <a:ext cx="4023360" cy="1024128"/>
          </a:xfrm>
          <a:prstGeom prst="roundRect">
            <a:avLst>
              <a:gd name="adj" fmla="val 7143"/>
            </a:avLst>
          </a:prstGeom>
          <a:solidFill>
            <a:srgbClr val="F2F6F9"/>
          </a:solidFill>
          <a:ln w="12700">
            <a:solidFill>
              <a:srgbClr val="F2F6F9"/>
            </a:solidFill>
            <a:prstDash val="solid"/>
          </a:ln>
        </p:spPr>
      </p:sp>
      <p:sp>
        <p:nvSpPr>
          <p:cNvPr id="17" name="Shape 14"/>
          <p:cNvSpPr/>
          <p:nvPr/>
        </p:nvSpPr>
        <p:spPr>
          <a:xfrm>
            <a:off x="640080" y="2523744"/>
            <a:ext cx="384048" cy="384048"/>
          </a:xfrm>
          <a:prstGeom prst="ellipse">
            <a:avLst/>
          </a:prstGeom>
          <a:solidFill>
            <a:srgbClr val="E63946"/>
          </a:solidFill>
          <a:ln w="12700">
            <a:solidFill>
              <a:srgbClr val="E63946"/>
            </a:solidFill>
            <a:prstDash val="solid"/>
          </a:ln>
        </p:spPr>
      </p:sp>
      <p:sp>
        <p:nvSpPr>
          <p:cNvPr id="18" name="Text 15"/>
          <p:cNvSpPr txBox="1"/>
          <p:nvPr/>
        </p:nvSpPr>
        <p:spPr>
          <a:xfrm>
            <a:off x="640080" y="25237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6"/>
          <p:cNvSpPr txBox="1"/>
          <p:nvPr/>
        </p:nvSpPr>
        <p:spPr>
          <a:xfrm>
            <a:off x="1188720" y="2313432"/>
            <a:ext cx="3154680" cy="32004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Client IP source</a:t>
            </a:r>
            <a:endParaRPr lang="en-US" sz="1400" dirty="0"/>
          </a:p>
        </p:txBody>
      </p:sp>
      <p:sp>
        <p:nvSpPr>
          <p:cNvPr id="20" name="Text 17"/>
          <p:cNvSpPr txBox="1"/>
          <p:nvPr/>
        </p:nvSpPr>
        <p:spPr>
          <a:xfrm>
            <a:off x="1188720" y="2633472"/>
            <a:ext cx="3154680" cy="54864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Taken from the X-Forwarded-For header, which a client can set</a:t>
            </a:r>
            <a:endParaRPr lang="en-US" sz="1200" dirty="0"/>
          </a:p>
        </p:txBody>
      </p:sp>
      <p:sp>
        <p:nvSpPr>
          <p:cNvPr id="21" name="Shape 18"/>
          <p:cNvSpPr/>
          <p:nvPr/>
        </p:nvSpPr>
        <p:spPr>
          <a:xfrm>
            <a:off x="4663440" y="2221992"/>
            <a:ext cx="4023360" cy="1024128"/>
          </a:xfrm>
          <a:prstGeom prst="roundRect">
            <a:avLst>
              <a:gd name="adj" fmla="val 7143"/>
            </a:avLst>
          </a:prstGeom>
          <a:solidFill>
            <a:srgbClr val="F2F6F9"/>
          </a:solidFill>
          <a:ln w="12700">
            <a:solidFill>
              <a:srgbClr val="F2F6F9"/>
            </a:solidFill>
            <a:prstDash val="solid"/>
          </a:ln>
        </p:spPr>
      </p:sp>
      <p:sp>
        <p:nvSpPr>
          <p:cNvPr id="22" name="Shape 19"/>
          <p:cNvSpPr/>
          <p:nvPr/>
        </p:nvSpPr>
        <p:spPr>
          <a:xfrm>
            <a:off x="4846320" y="2523744"/>
            <a:ext cx="384048" cy="384048"/>
          </a:xfrm>
          <a:prstGeom prst="ellipse">
            <a:avLst/>
          </a:prstGeom>
          <a:solidFill>
            <a:srgbClr val="E63946"/>
          </a:solidFill>
          <a:ln w="12700">
            <a:solidFill>
              <a:srgbClr val="E63946"/>
            </a:solidFill>
            <a:prstDash val="solid"/>
          </a:ln>
        </p:spPr>
      </p:sp>
      <p:sp>
        <p:nvSpPr>
          <p:cNvPr id="23" name="Text 20"/>
          <p:cNvSpPr txBox="1"/>
          <p:nvPr/>
        </p:nvSpPr>
        <p:spPr>
          <a:xfrm>
            <a:off x="4846320" y="25237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1"/>
          <p:cNvSpPr txBox="1"/>
          <p:nvPr/>
        </p:nvSpPr>
        <p:spPr>
          <a:xfrm>
            <a:off x="5394960" y="2313432"/>
            <a:ext cx="3154680" cy="32004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Response actions</a:t>
            </a:r>
            <a:endParaRPr lang="en-US" sz="1400" dirty="0"/>
          </a:p>
        </p:txBody>
      </p:sp>
      <p:sp>
        <p:nvSpPr>
          <p:cNvPr id="25" name="Text 22"/>
          <p:cNvSpPr txBox="1"/>
          <p:nvPr/>
        </p:nvSpPr>
        <p:spPr>
          <a:xfrm>
            <a:off x="5394960" y="2633472"/>
            <a:ext cx="3154680" cy="54864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IP and account blocking are disabled in this version</a:t>
            </a:r>
            <a:endParaRPr lang="en-US" sz="1200" dirty="0"/>
          </a:p>
        </p:txBody>
      </p:sp>
      <p:sp>
        <p:nvSpPr>
          <p:cNvPr id="26" name="Shape 23"/>
          <p:cNvSpPr/>
          <p:nvPr/>
        </p:nvSpPr>
        <p:spPr>
          <a:xfrm>
            <a:off x="457200" y="3392424"/>
            <a:ext cx="4023360" cy="1024128"/>
          </a:xfrm>
          <a:prstGeom prst="roundRect">
            <a:avLst>
              <a:gd name="adj" fmla="val 7143"/>
            </a:avLst>
          </a:prstGeom>
          <a:solidFill>
            <a:srgbClr val="F2F6F9"/>
          </a:solidFill>
          <a:ln w="12700">
            <a:solidFill>
              <a:srgbClr val="F2F6F9"/>
            </a:solidFill>
            <a:prstDash val="solid"/>
          </a:ln>
        </p:spPr>
      </p:sp>
      <p:sp>
        <p:nvSpPr>
          <p:cNvPr id="27" name="Shape 24"/>
          <p:cNvSpPr/>
          <p:nvPr/>
        </p:nvSpPr>
        <p:spPr>
          <a:xfrm>
            <a:off x="640080" y="3694176"/>
            <a:ext cx="384048" cy="384048"/>
          </a:xfrm>
          <a:prstGeom prst="ellipse">
            <a:avLst/>
          </a:prstGeom>
          <a:solidFill>
            <a:srgbClr val="E63946"/>
          </a:solidFill>
          <a:ln w="12700">
            <a:solidFill>
              <a:srgbClr val="E63946"/>
            </a:solidFill>
            <a:prstDash val="solid"/>
          </a:ln>
        </p:spPr>
      </p:sp>
      <p:sp>
        <p:nvSpPr>
          <p:cNvPr id="28" name="Text 25"/>
          <p:cNvSpPr txBox="1"/>
          <p:nvPr/>
        </p:nvSpPr>
        <p:spPr>
          <a:xfrm>
            <a:off x="64008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6"/>
          <p:cNvSpPr txBox="1"/>
          <p:nvPr/>
        </p:nvSpPr>
        <p:spPr>
          <a:xfrm>
            <a:off x="1188720" y="3483864"/>
            <a:ext cx="3154680" cy="32004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Lab security</a:t>
            </a:r>
            <a:endParaRPr lang="en-US" sz="1400" dirty="0"/>
          </a:p>
        </p:txBody>
      </p:sp>
      <p:sp>
        <p:nvSpPr>
          <p:cNvPr id="30" name="Text 27"/>
          <p:cNvSpPr txBox="1"/>
          <p:nvPr/>
        </p:nvSpPr>
        <p:spPr>
          <a:xfrm>
            <a:off x="1188720" y="3803904"/>
            <a:ext cx="3154680" cy="54864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OpenSearch security plugin off; fixed demo credentials</a:t>
            </a:r>
            <a:endParaRPr lang="en-US" sz="1200" dirty="0"/>
          </a:p>
        </p:txBody>
      </p:sp>
      <p:sp>
        <p:nvSpPr>
          <p:cNvPr id="31" name="Shape 28"/>
          <p:cNvSpPr/>
          <p:nvPr/>
        </p:nvSpPr>
        <p:spPr>
          <a:xfrm>
            <a:off x="4663440" y="3392424"/>
            <a:ext cx="4023360" cy="1024128"/>
          </a:xfrm>
          <a:prstGeom prst="roundRect">
            <a:avLst>
              <a:gd name="adj" fmla="val 7143"/>
            </a:avLst>
          </a:prstGeom>
          <a:solidFill>
            <a:srgbClr val="F2F6F9"/>
          </a:solidFill>
          <a:ln w="12700">
            <a:solidFill>
              <a:srgbClr val="F2F6F9"/>
            </a:solidFill>
            <a:prstDash val="solid"/>
          </a:ln>
        </p:spPr>
      </p:sp>
      <p:sp>
        <p:nvSpPr>
          <p:cNvPr id="32" name="Shape 29"/>
          <p:cNvSpPr/>
          <p:nvPr/>
        </p:nvSpPr>
        <p:spPr>
          <a:xfrm>
            <a:off x="4846320" y="3694176"/>
            <a:ext cx="384048" cy="384048"/>
          </a:xfrm>
          <a:prstGeom prst="ellipse">
            <a:avLst/>
          </a:prstGeom>
          <a:solidFill>
            <a:srgbClr val="E63946"/>
          </a:solidFill>
          <a:ln w="12700">
            <a:solidFill>
              <a:srgbClr val="E63946"/>
            </a:solidFill>
            <a:prstDash val="solid"/>
          </a:ln>
        </p:spPr>
      </p:sp>
      <p:sp>
        <p:nvSpPr>
          <p:cNvPr id="33" name="Text 30"/>
          <p:cNvSpPr txBox="1"/>
          <p:nvPr/>
        </p:nvSpPr>
        <p:spPr>
          <a:xfrm>
            <a:off x="484632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1"/>
          <p:cNvSpPr txBox="1"/>
          <p:nvPr/>
        </p:nvSpPr>
        <p:spPr>
          <a:xfrm>
            <a:off x="5394960" y="3483864"/>
            <a:ext cx="3154680" cy="32004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Internet needed</a:t>
            </a:r>
            <a:endParaRPr lang="en-US" sz="1400" dirty="0"/>
          </a:p>
        </p:txBody>
      </p:sp>
      <p:sp>
        <p:nvSpPr>
          <p:cNvPr id="35" name="Text 32"/>
          <p:cNvSpPr txBox="1"/>
          <p:nvPr/>
        </p:nvSpPr>
        <p:spPr>
          <a:xfrm>
            <a:off x="5394960" y="3803904"/>
            <a:ext cx="3154680" cy="54864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Dashboards load Tailwind and Chart.js from a CDN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Future Scope</a:t>
            </a:r>
            <a:endParaRPr lang="en-US" sz="2800" dirty="0"/>
          </a:p>
        </p:txBody>
      </p:sp>
      <p:sp>
        <p:nvSpPr>
          <p:cNvPr id="3" name="Text 1"/>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B7B"/>
                </a:solidFill>
                <a:latin typeface="Calibri" pitchFamily="34" charset="0"/>
                <a:ea typeface="Calibri" pitchFamily="34" charset="-122"/>
                <a:cs typeface="Calibri" pitchFamily="34" charset="-120"/>
              </a:rPr>
              <a:t>Micro-SIEM  |  Minor Project (BC05001081)</a:t>
            </a:r>
            <a:endParaRPr lang="en-US" sz="900" dirty="0"/>
          </a:p>
        </p:txBody>
      </p:sp>
      <p:sp>
        <p:nvSpPr>
          <p:cNvPr id="4" name="Text 2"/>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18 / 20</a:t>
            </a:r>
            <a:endParaRPr lang="en-US" sz="900" dirty="0"/>
          </a:p>
        </p:txBody>
      </p:sp>
      <p:sp>
        <p:nvSpPr>
          <p:cNvPr id="6" name="Shape 3"/>
          <p:cNvSpPr/>
          <p:nvPr/>
        </p:nvSpPr>
        <p:spPr>
          <a:xfrm>
            <a:off x="457200" y="1051560"/>
            <a:ext cx="1938528" cy="1627632"/>
          </a:xfrm>
          <a:prstGeom prst="roundRect">
            <a:avLst>
              <a:gd name="adj" fmla="val 4494"/>
            </a:avLst>
          </a:prstGeom>
          <a:solidFill>
            <a:srgbClr val="F2F6F9"/>
          </a:solidFill>
          <a:ln w="12700">
            <a:solidFill>
              <a:srgbClr val="F2F6F9"/>
            </a:solidFill>
            <a:prstDash val="solid"/>
          </a:ln>
        </p:spPr>
      </p:sp>
      <p:sp>
        <p:nvSpPr>
          <p:cNvPr id="7" name="Shape 4"/>
          <p:cNvSpPr/>
          <p:nvPr/>
        </p:nvSpPr>
        <p:spPr>
          <a:xfrm>
            <a:off x="621792" y="1216152"/>
            <a:ext cx="384048" cy="384048"/>
          </a:xfrm>
          <a:prstGeom prst="ellipse">
            <a:avLst/>
          </a:prstGeom>
          <a:solidFill>
            <a:srgbClr val="0B1F33"/>
          </a:solidFill>
          <a:ln w="12700">
            <a:solidFill>
              <a:srgbClr val="0B1F33"/>
            </a:solidFill>
            <a:prstDash val="solid"/>
          </a:ln>
        </p:spPr>
      </p:sp>
      <p:sp>
        <p:nvSpPr>
          <p:cNvPr id="8" name="Text 5"/>
          <p:cNvSpPr txBox="1"/>
          <p:nvPr/>
        </p:nvSpPr>
        <p:spPr>
          <a:xfrm>
            <a:off x="621792" y="12161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621792" y="1673352"/>
            <a:ext cx="1691640" cy="320040"/>
          </a:xfrm>
          <a:prstGeom prst="rect">
            <a:avLst/>
          </a:prstGeom>
          <a:noFill/>
          <a:ln/>
        </p:spPr>
        <p:txBody>
          <a:bodyPr wrap="square" lIns="0" tIns="0" rIns="0" bIns="0" rtlCol="0" anchor="ctr"/>
          <a:lstStyle/>
          <a:p>
            <a:pPr indent="0" marL="0">
              <a:buNone/>
            </a:pPr>
            <a:r>
              <a:rPr lang="en-US" sz="1300" b="1" dirty="0">
                <a:solidFill>
                  <a:srgbClr val="0B1F33"/>
                </a:solidFill>
                <a:latin typeface="Calibri" pitchFamily="34" charset="0"/>
                <a:ea typeface="Calibri" pitchFamily="34" charset="-122"/>
                <a:cs typeface="Calibri" pitchFamily="34" charset="-120"/>
              </a:rPr>
              <a:t>Response actions</a:t>
            </a:r>
            <a:endParaRPr lang="en-US" sz="1300" dirty="0"/>
          </a:p>
        </p:txBody>
      </p:sp>
      <p:sp>
        <p:nvSpPr>
          <p:cNvPr id="10" name="Text 7"/>
          <p:cNvSpPr txBox="1"/>
          <p:nvPr/>
        </p:nvSpPr>
        <p:spPr>
          <a:xfrm>
            <a:off x="621792" y="2011680"/>
            <a:ext cx="1645920" cy="59436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Enable IP and account blocking</a:t>
            </a:r>
            <a:endParaRPr lang="en-US" sz="1200" dirty="0"/>
          </a:p>
        </p:txBody>
      </p:sp>
      <p:sp>
        <p:nvSpPr>
          <p:cNvPr id="11" name="Shape 8"/>
          <p:cNvSpPr/>
          <p:nvPr/>
        </p:nvSpPr>
        <p:spPr>
          <a:xfrm>
            <a:off x="2542032" y="1051560"/>
            <a:ext cx="1938528" cy="1627632"/>
          </a:xfrm>
          <a:prstGeom prst="roundRect">
            <a:avLst>
              <a:gd name="adj" fmla="val 4494"/>
            </a:avLst>
          </a:prstGeom>
          <a:solidFill>
            <a:srgbClr val="F2F6F9"/>
          </a:solidFill>
          <a:ln w="12700">
            <a:solidFill>
              <a:srgbClr val="F2F6F9"/>
            </a:solidFill>
            <a:prstDash val="solid"/>
          </a:ln>
        </p:spPr>
      </p:sp>
      <p:sp>
        <p:nvSpPr>
          <p:cNvPr id="12" name="Shape 9"/>
          <p:cNvSpPr/>
          <p:nvPr/>
        </p:nvSpPr>
        <p:spPr>
          <a:xfrm>
            <a:off x="2706624" y="1216152"/>
            <a:ext cx="384048" cy="384048"/>
          </a:xfrm>
          <a:prstGeom prst="ellipse">
            <a:avLst/>
          </a:prstGeom>
          <a:solidFill>
            <a:srgbClr val="1FA2A6"/>
          </a:solidFill>
          <a:ln w="12700">
            <a:solidFill>
              <a:srgbClr val="1FA2A6"/>
            </a:solidFill>
            <a:prstDash val="solid"/>
          </a:ln>
        </p:spPr>
      </p:sp>
      <p:sp>
        <p:nvSpPr>
          <p:cNvPr id="13" name="Text 10"/>
          <p:cNvSpPr txBox="1"/>
          <p:nvPr/>
        </p:nvSpPr>
        <p:spPr>
          <a:xfrm>
            <a:off x="2706624" y="12161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2706624" y="1673352"/>
            <a:ext cx="1691640" cy="320040"/>
          </a:xfrm>
          <a:prstGeom prst="rect">
            <a:avLst/>
          </a:prstGeom>
          <a:noFill/>
          <a:ln/>
        </p:spPr>
        <p:txBody>
          <a:bodyPr wrap="square" lIns="0" tIns="0" rIns="0" bIns="0" rtlCol="0" anchor="ctr"/>
          <a:lstStyle/>
          <a:p>
            <a:pPr indent="0" marL="0">
              <a:buNone/>
            </a:pPr>
            <a:r>
              <a:rPr lang="en-US" sz="1300" b="1" dirty="0">
                <a:solidFill>
                  <a:srgbClr val="0B1F33"/>
                </a:solidFill>
                <a:latin typeface="Calibri" pitchFamily="34" charset="0"/>
                <a:ea typeface="Calibri" pitchFamily="34" charset="-122"/>
                <a:cs typeface="Calibri" pitchFamily="34" charset="-120"/>
              </a:rPr>
              <a:t>Password spraying</a:t>
            </a:r>
            <a:endParaRPr lang="en-US" sz="1300" dirty="0"/>
          </a:p>
        </p:txBody>
      </p:sp>
      <p:sp>
        <p:nvSpPr>
          <p:cNvPr id="15" name="Text 12"/>
          <p:cNvSpPr txBox="1"/>
          <p:nvPr/>
        </p:nvSpPr>
        <p:spPr>
          <a:xfrm>
            <a:off x="2706624" y="2011680"/>
            <a:ext cx="1645920" cy="59436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Many usernames from one IP (T1110.003)</a:t>
            </a:r>
            <a:endParaRPr lang="en-US" sz="1200" dirty="0"/>
          </a:p>
        </p:txBody>
      </p:sp>
      <p:sp>
        <p:nvSpPr>
          <p:cNvPr id="16" name="Shape 13"/>
          <p:cNvSpPr/>
          <p:nvPr/>
        </p:nvSpPr>
        <p:spPr>
          <a:xfrm>
            <a:off x="4626864" y="1051560"/>
            <a:ext cx="1938528" cy="1627632"/>
          </a:xfrm>
          <a:prstGeom prst="roundRect">
            <a:avLst>
              <a:gd name="adj" fmla="val 4494"/>
            </a:avLst>
          </a:prstGeom>
          <a:solidFill>
            <a:srgbClr val="F2F6F9"/>
          </a:solidFill>
          <a:ln w="12700">
            <a:solidFill>
              <a:srgbClr val="F2F6F9"/>
            </a:solidFill>
            <a:prstDash val="solid"/>
          </a:ln>
        </p:spPr>
      </p:sp>
      <p:sp>
        <p:nvSpPr>
          <p:cNvPr id="17" name="Shape 14"/>
          <p:cNvSpPr/>
          <p:nvPr/>
        </p:nvSpPr>
        <p:spPr>
          <a:xfrm>
            <a:off x="4791456" y="1216152"/>
            <a:ext cx="384048" cy="384048"/>
          </a:xfrm>
          <a:prstGeom prst="ellipse">
            <a:avLst/>
          </a:prstGeom>
          <a:solidFill>
            <a:srgbClr val="0B1F33"/>
          </a:solidFill>
          <a:ln w="12700">
            <a:solidFill>
              <a:srgbClr val="0B1F33"/>
            </a:solidFill>
            <a:prstDash val="solid"/>
          </a:ln>
        </p:spPr>
      </p:sp>
      <p:sp>
        <p:nvSpPr>
          <p:cNvPr id="18" name="Text 15"/>
          <p:cNvSpPr txBox="1"/>
          <p:nvPr/>
        </p:nvSpPr>
        <p:spPr>
          <a:xfrm>
            <a:off x="4791456" y="12161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6"/>
          <p:cNvSpPr txBox="1"/>
          <p:nvPr/>
        </p:nvSpPr>
        <p:spPr>
          <a:xfrm>
            <a:off x="4791456" y="1673352"/>
            <a:ext cx="1691640" cy="320040"/>
          </a:xfrm>
          <a:prstGeom prst="rect">
            <a:avLst/>
          </a:prstGeom>
          <a:noFill/>
          <a:ln/>
        </p:spPr>
        <p:txBody>
          <a:bodyPr wrap="square" lIns="0" tIns="0" rIns="0" bIns="0" rtlCol="0" anchor="ctr"/>
          <a:lstStyle/>
          <a:p>
            <a:pPr indent="0" marL="0">
              <a:buNone/>
            </a:pPr>
            <a:r>
              <a:rPr lang="en-US" sz="1300" b="1" dirty="0">
                <a:solidFill>
                  <a:srgbClr val="0B1F33"/>
                </a:solidFill>
                <a:latin typeface="Calibri" pitchFamily="34" charset="0"/>
                <a:ea typeface="Calibri" pitchFamily="34" charset="-122"/>
                <a:cs typeface="Calibri" pitchFamily="34" charset="-120"/>
              </a:rPr>
              <a:t>Scan detection</a:t>
            </a:r>
            <a:endParaRPr lang="en-US" sz="1300" dirty="0"/>
          </a:p>
        </p:txBody>
      </p:sp>
      <p:sp>
        <p:nvSpPr>
          <p:cNvPr id="20" name="Text 17"/>
          <p:cNvSpPr txBox="1"/>
          <p:nvPr/>
        </p:nvSpPr>
        <p:spPr>
          <a:xfrm>
            <a:off x="4791456" y="2011680"/>
            <a:ext cx="1645920" cy="59436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Many paths hit quickly by one IP</a:t>
            </a:r>
            <a:endParaRPr lang="en-US" sz="1200" dirty="0"/>
          </a:p>
        </p:txBody>
      </p:sp>
      <p:sp>
        <p:nvSpPr>
          <p:cNvPr id="21" name="Shape 18"/>
          <p:cNvSpPr/>
          <p:nvPr/>
        </p:nvSpPr>
        <p:spPr>
          <a:xfrm>
            <a:off x="6711696" y="1051560"/>
            <a:ext cx="1938528" cy="1627632"/>
          </a:xfrm>
          <a:prstGeom prst="roundRect">
            <a:avLst>
              <a:gd name="adj" fmla="val 4494"/>
            </a:avLst>
          </a:prstGeom>
          <a:solidFill>
            <a:srgbClr val="F2F6F9"/>
          </a:solidFill>
          <a:ln w="12700">
            <a:solidFill>
              <a:srgbClr val="F2F6F9"/>
            </a:solidFill>
            <a:prstDash val="solid"/>
          </a:ln>
        </p:spPr>
      </p:sp>
      <p:sp>
        <p:nvSpPr>
          <p:cNvPr id="22" name="Shape 19"/>
          <p:cNvSpPr/>
          <p:nvPr/>
        </p:nvSpPr>
        <p:spPr>
          <a:xfrm>
            <a:off x="6876288" y="1216152"/>
            <a:ext cx="384048" cy="384048"/>
          </a:xfrm>
          <a:prstGeom prst="ellipse">
            <a:avLst/>
          </a:prstGeom>
          <a:solidFill>
            <a:srgbClr val="1FA2A6"/>
          </a:solidFill>
          <a:ln w="12700">
            <a:solidFill>
              <a:srgbClr val="1FA2A6"/>
            </a:solidFill>
            <a:prstDash val="solid"/>
          </a:ln>
        </p:spPr>
      </p:sp>
      <p:sp>
        <p:nvSpPr>
          <p:cNvPr id="23" name="Text 20"/>
          <p:cNvSpPr txBox="1"/>
          <p:nvPr/>
        </p:nvSpPr>
        <p:spPr>
          <a:xfrm>
            <a:off x="6876288" y="12161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1"/>
          <p:cNvSpPr txBox="1"/>
          <p:nvPr/>
        </p:nvSpPr>
        <p:spPr>
          <a:xfrm>
            <a:off x="6876288" y="1673352"/>
            <a:ext cx="1691640" cy="320040"/>
          </a:xfrm>
          <a:prstGeom prst="rect">
            <a:avLst/>
          </a:prstGeom>
          <a:noFill/>
          <a:ln/>
        </p:spPr>
        <p:txBody>
          <a:bodyPr wrap="square" lIns="0" tIns="0" rIns="0" bIns="0" rtlCol="0" anchor="ctr"/>
          <a:lstStyle/>
          <a:p>
            <a:pPr indent="0" marL="0">
              <a:buNone/>
            </a:pPr>
            <a:r>
              <a:rPr lang="en-US" sz="1300" b="1" dirty="0">
                <a:solidFill>
                  <a:srgbClr val="0B1F33"/>
                </a:solidFill>
                <a:latin typeface="Calibri" pitchFamily="34" charset="0"/>
                <a:ea typeface="Calibri" pitchFamily="34" charset="-122"/>
                <a:cs typeface="Calibri" pitchFamily="34" charset="-120"/>
              </a:rPr>
              <a:t>Scheduler</a:t>
            </a:r>
            <a:endParaRPr lang="en-US" sz="1300" dirty="0"/>
          </a:p>
        </p:txBody>
      </p:sp>
      <p:sp>
        <p:nvSpPr>
          <p:cNvPr id="25" name="Text 22"/>
          <p:cNvSpPr txBox="1"/>
          <p:nvPr/>
        </p:nvSpPr>
        <p:spPr>
          <a:xfrm>
            <a:off x="6876288" y="2011680"/>
            <a:ext cx="1645920" cy="59436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Background detection with de-duplication</a:t>
            </a:r>
            <a:endParaRPr lang="en-US" sz="1200" dirty="0"/>
          </a:p>
        </p:txBody>
      </p:sp>
      <p:sp>
        <p:nvSpPr>
          <p:cNvPr id="26" name="Shape 23"/>
          <p:cNvSpPr/>
          <p:nvPr/>
        </p:nvSpPr>
        <p:spPr>
          <a:xfrm>
            <a:off x="457200" y="2834640"/>
            <a:ext cx="1938528" cy="1627632"/>
          </a:xfrm>
          <a:prstGeom prst="roundRect">
            <a:avLst>
              <a:gd name="adj" fmla="val 4494"/>
            </a:avLst>
          </a:prstGeom>
          <a:solidFill>
            <a:srgbClr val="F2F6F9"/>
          </a:solidFill>
          <a:ln w="12700">
            <a:solidFill>
              <a:srgbClr val="F2F6F9"/>
            </a:solidFill>
            <a:prstDash val="solid"/>
          </a:ln>
        </p:spPr>
      </p:sp>
      <p:sp>
        <p:nvSpPr>
          <p:cNvPr id="27" name="Shape 24"/>
          <p:cNvSpPr/>
          <p:nvPr/>
        </p:nvSpPr>
        <p:spPr>
          <a:xfrm>
            <a:off x="621792" y="2999232"/>
            <a:ext cx="384048" cy="384048"/>
          </a:xfrm>
          <a:prstGeom prst="ellipse">
            <a:avLst/>
          </a:prstGeom>
          <a:solidFill>
            <a:srgbClr val="0B1F33"/>
          </a:solidFill>
          <a:ln w="12700">
            <a:solidFill>
              <a:srgbClr val="0B1F33"/>
            </a:solidFill>
            <a:prstDash val="solid"/>
          </a:ln>
        </p:spPr>
      </p:sp>
      <p:sp>
        <p:nvSpPr>
          <p:cNvPr id="28" name="Text 25"/>
          <p:cNvSpPr txBox="1"/>
          <p:nvPr/>
        </p:nvSpPr>
        <p:spPr>
          <a:xfrm>
            <a:off x="621792" y="29992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6"/>
          <p:cNvSpPr txBox="1"/>
          <p:nvPr/>
        </p:nvSpPr>
        <p:spPr>
          <a:xfrm>
            <a:off x="621792" y="3456432"/>
            <a:ext cx="1691640" cy="320040"/>
          </a:xfrm>
          <a:prstGeom prst="rect">
            <a:avLst/>
          </a:prstGeom>
          <a:noFill/>
          <a:ln/>
        </p:spPr>
        <p:txBody>
          <a:bodyPr wrap="square" lIns="0" tIns="0" rIns="0" bIns="0" rtlCol="0" anchor="ctr"/>
          <a:lstStyle/>
          <a:p>
            <a:pPr indent="0" marL="0">
              <a:buNone/>
            </a:pPr>
            <a:r>
              <a:rPr lang="en-US" sz="1300" b="1" dirty="0">
                <a:solidFill>
                  <a:srgbClr val="0B1F33"/>
                </a:solidFill>
                <a:latin typeface="Calibri" pitchFamily="34" charset="0"/>
                <a:ea typeface="Calibri" pitchFamily="34" charset="-122"/>
                <a:cs typeface="Calibri" pitchFamily="34" charset="-120"/>
              </a:rPr>
              <a:t>More log sources</a:t>
            </a:r>
            <a:endParaRPr lang="en-US" sz="1300" dirty="0"/>
          </a:p>
        </p:txBody>
      </p:sp>
      <p:sp>
        <p:nvSpPr>
          <p:cNvPr id="30" name="Text 27"/>
          <p:cNvSpPr txBox="1"/>
          <p:nvPr/>
        </p:nvSpPr>
        <p:spPr>
          <a:xfrm>
            <a:off x="621792" y="3794760"/>
            <a:ext cx="1645920" cy="59436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Windows, firewall and DNS logs</a:t>
            </a:r>
            <a:endParaRPr lang="en-US" sz="1200" dirty="0"/>
          </a:p>
        </p:txBody>
      </p:sp>
      <p:sp>
        <p:nvSpPr>
          <p:cNvPr id="31" name="Shape 28"/>
          <p:cNvSpPr/>
          <p:nvPr/>
        </p:nvSpPr>
        <p:spPr>
          <a:xfrm>
            <a:off x="2542032" y="2834640"/>
            <a:ext cx="1938528" cy="1627632"/>
          </a:xfrm>
          <a:prstGeom prst="roundRect">
            <a:avLst>
              <a:gd name="adj" fmla="val 4494"/>
            </a:avLst>
          </a:prstGeom>
          <a:solidFill>
            <a:srgbClr val="F2F6F9"/>
          </a:solidFill>
          <a:ln w="12700">
            <a:solidFill>
              <a:srgbClr val="F2F6F9"/>
            </a:solidFill>
            <a:prstDash val="solid"/>
          </a:ln>
        </p:spPr>
      </p:sp>
      <p:sp>
        <p:nvSpPr>
          <p:cNvPr id="32" name="Shape 29"/>
          <p:cNvSpPr/>
          <p:nvPr/>
        </p:nvSpPr>
        <p:spPr>
          <a:xfrm>
            <a:off x="2706624" y="2999232"/>
            <a:ext cx="384048" cy="384048"/>
          </a:xfrm>
          <a:prstGeom prst="ellipse">
            <a:avLst/>
          </a:prstGeom>
          <a:solidFill>
            <a:srgbClr val="1FA2A6"/>
          </a:solidFill>
          <a:ln w="12700">
            <a:solidFill>
              <a:srgbClr val="1FA2A6"/>
            </a:solidFill>
            <a:prstDash val="solid"/>
          </a:ln>
        </p:spPr>
      </p:sp>
      <p:sp>
        <p:nvSpPr>
          <p:cNvPr id="33" name="Text 30"/>
          <p:cNvSpPr txBox="1"/>
          <p:nvPr/>
        </p:nvSpPr>
        <p:spPr>
          <a:xfrm>
            <a:off x="2706624" y="29992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1"/>
          <p:cNvSpPr txBox="1"/>
          <p:nvPr/>
        </p:nvSpPr>
        <p:spPr>
          <a:xfrm>
            <a:off x="2706624" y="3456432"/>
            <a:ext cx="1691640" cy="320040"/>
          </a:xfrm>
          <a:prstGeom prst="rect">
            <a:avLst/>
          </a:prstGeom>
          <a:noFill/>
          <a:ln/>
        </p:spPr>
        <p:txBody>
          <a:bodyPr wrap="square" lIns="0" tIns="0" rIns="0" bIns="0" rtlCol="0" anchor="ctr"/>
          <a:lstStyle/>
          <a:p>
            <a:pPr indent="0" marL="0">
              <a:buNone/>
            </a:pPr>
            <a:r>
              <a:rPr lang="en-US" sz="1300" b="1" dirty="0">
                <a:solidFill>
                  <a:srgbClr val="0B1F33"/>
                </a:solidFill>
                <a:latin typeface="Calibri" pitchFamily="34" charset="0"/>
                <a:ea typeface="Calibri" pitchFamily="34" charset="-122"/>
                <a:cs typeface="Calibri" pitchFamily="34" charset="-120"/>
              </a:rPr>
              <a:t>Notifications</a:t>
            </a:r>
            <a:endParaRPr lang="en-US" sz="1300" dirty="0"/>
          </a:p>
        </p:txBody>
      </p:sp>
      <p:sp>
        <p:nvSpPr>
          <p:cNvPr id="35" name="Text 32"/>
          <p:cNvSpPr txBox="1"/>
          <p:nvPr/>
        </p:nvSpPr>
        <p:spPr>
          <a:xfrm>
            <a:off x="2706624" y="3794760"/>
            <a:ext cx="1645920" cy="59436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E-mail / Telegram alerts</a:t>
            </a:r>
            <a:endParaRPr lang="en-US" sz="1200" dirty="0"/>
          </a:p>
        </p:txBody>
      </p:sp>
      <p:sp>
        <p:nvSpPr>
          <p:cNvPr id="36" name="Shape 33"/>
          <p:cNvSpPr/>
          <p:nvPr/>
        </p:nvSpPr>
        <p:spPr>
          <a:xfrm>
            <a:off x="4626864" y="2834640"/>
            <a:ext cx="1938528" cy="1627632"/>
          </a:xfrm>
          <a:prstGeom prst="roundRect">
            <a:avLst>
              <a:gd name="adj" fmla="val 4494"/>
            </a:avLst>
          </a:prstGeom>
          <a:solidFill>
            <a:srgbClr val="F2F6F9"/>
          </a:solidFill>
          <a:ln w="12700">
            <a:solidFill>
              <a:srgbClr val="F2F6F9"/>
            </a:solidFill>
            <a:prstDash val="solid"/>
          </a:ln>
        </p:spPr>
      </p:sp>
      <p:sp>
        <p:nvSpPr>
          <p:cNvPr id="37" name="Shape 34"/>
          <p:cNvSpPr/>
          <p:nvPr/>
        </p:nvSpPr>
        <p:spPr>
          <a:xfrm>
            <a:off x="4791456" y="2999232"/>
            <a:ext cx="384048" cy="384048"/>
          </a:xfrm>
          <a:prstGeom prst="ellipse">
            <a:avLst/>
          </a:prstGeom>
          <a:solidFill>
            <a:srgbClr val="0B1F33"/>
          </a:solidFill>
          <a:ln w="12700">
            <a:solidFill>
              <a:srgbClr val="0B1F33"/>
            </a:solidFill>
            <a:prstDash val="solid"/>
          </a:ln>
        </p:spPr>
      </p:sp>
      <p:sp>
        <p:nvSpPr>
          <p:cNvPr id="38" name="Text 35"/>
          <p:cNvSpPr txBox="1"/>
          <p:nvPr/>
        </p:nvSpPr>
        <p:spPr>
          <a:xfrm>
            <a:off x="4791456" y="29992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6"/>
          <p:cNvSpPr txBox="1"/>
          <p:nvPr/>
        </p:nvSpPr>
        <p:spPr>
          <a:xfrm>
            <a:off x="4791456" y="3456432"/>
            <a:ext cx="1691640" cy="320040"/>
          </a:xfrm>
          <a:prstGeom prst="rect">
            <a:avLst/>
          </a:prstGeom>
          <a:noFill/>
          <a:ln/>
        </p:spPr>
        <p:txBody>
          <a:bodyPr wrap="square" lIns="0" tIns="0" rIns="0" bIns="0" rtlCol="0" anchor="ctr"/>
          <a:lstStyle/>
          <a:p>
            <a:pPr indent="0" marL="0">
              <a:buNone/>
            </a:pPr>
            <a:r>
              <a:rPr lang="en-US" sz="1300" b="1" dirty="0">
                <a:solidFill>
                  <a:srgbClr val="0B1F33"/>
                </a:solidFill>
                <a:latin typeface="Calibri" pitchFamily="34" charset="0"/>
                <a:ea typeface="Calibri" pitchFamily="34" charset="-122"/>
                <a:cs typeface="Calibri" pitchFamily="34" charset="-120"/>
              </a:rPr>
              <a:t>Threat intel</a:t>
            </a:r>
            <a:endParaRPr lang="en-US" sz="1300" dirty="0"/>
          </a:p>
        </p:txBody>
      </p:sp>
      <p:sp>
        <p:nvSpPr>
          <p:cNvPr id="40" name="Text 37"/>
          <p:cNvSpPr txBox="1"/>
          <p:nvPr/>
        </p:nvSpPr>
        <p:spPr>
          <a:xfrm>
            <a:off x="4791456" y="3794760"/>
            <a:ext cx="1645920" cy="59436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GeoIP and IP reputation</a:t>
            </a:r>
            <a:endParaRPr lang="en-US" sz="1200" dirty="0"/>
          </a:p>
        </p:txBody>
      </p:sp>
      <p:sp>
        <p:nvSpPr>
          <p:cNvPr id="41" name="Shape 38"/>
          <p:cNvSpPr/>
          <p:nvPr/>
        </p:nvSpPr>
        <p:spPr>
          <a:xfrm>
            <a:off x="6711696" y="2834640"/>
            <a:ext cx="1938528" cy="1627632"/>
          </a:xfrm>
          <a:prstGeom prst="roundRect">
            <a:avLst>
              <a:gd name="adj" fmla="val 4494"/>
            </a:avLst>
          </a:prstGeom>
          <a:solidFill>
            <a:srgbClr val="F2F6F9"/>
          </a:solidFill>
          <a:ln w="12700">
            <a:solidFill>
              <a:srgbClr val="F2F6F9"/>
            </a:solidFill>
            <a:prstDash val="solid"/>
          </a:ln>
        </p:spPr>
      </p:sp>
      <p:sp>
        <p:nvSpPr>
          <p:cNvPr id="42" name="Shape 39"/>
          <p:cNvSpPr/>
          <p:nvPr/>
        </p:nvSpPr>
        <p:spPr>
          <a:xfrm>
            <a:off x="6876288" y="2999232"/>
            <a:ext cx="384048" cy="384048"/>
          </a:xfrm>
          <a:prstGeom prst="ellipse">
            <a:avLst/>
          </a:prstGeom>
          <a:solidFill>
            <a:srgbClr val="1FA2A6"/>
          </a:solidFill>
          <a:ln w="12700">
            <a:solidFill>
              <a:srgbClr val="1FA2A6"/>
            </a:solidFill>
            <a:prstDash val="solid"/>
          </a:ln>
        </p:spPr>
      </p:sp>
      <p:sp>
        <p:nvSpPr>
          <p:cNvPr id="43" name="Text 40"/>
          <p:cNvSpPr txBox="1"/>
          <p:nvPr/>
        </p:nvSpPr>
        <p:spPr>
          <a:xfrm>
            <a:off x="6876288" y="29992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4" name="Text 41"/>
          <p:cNvSpPr txBox="1"/>
          <p:nvPr/>
        </p:nvSpPr>
        <p:spPr>
          <a:xfrm>
            <a:off x="6876288" y="3456432"/>
            <a:ext cx="1691640" cy="320040"/>
          </a:xfrm>
          <a:prstGeom prst="rect">
            <a:avLst/>
          </a:prstGeom>
          <a:noFill/>
          <a:ln/>
        </p:spPr>
        <p:txBody>
          <a:bodyPr wrap="square" lIns="0" tIns="0" rIns="0" bIns="0" rtlCol="0" anchor="ctr"/>
          <a:lstStyle/>
          <a:p>
            <a:pPr indent="0" marL="0">
              <a:buNone/>
            </a:pPr>
            <a:r>
              <a:rPr lang="en-US" sz="1300" b="1" dirty="0">
                <a:solidFill>
                  <a:srgbClr val="0B1F33"/>
                </a:solidFill>
                <a:latin typeface="Calibri" pitchFamily="34" charset="0"/>
                <a:ea typeface="Calibri" pitchFamily="34" charset="-122"/>
                <a:cs typeface="Calibri" pitchFamily="34" charset="-120"/>
              </a:rPr>
              <a:t>Hardening</a:t>
            </a:r>
            <a:endParaRPr lang="en-US" sz="1300" dirty="0"/>
          </a:p>
        </p:txBody>
      </p:sp>
      <p:sp>
        <p:nvSpPr>
          <p:cNvPr id="45" name="Text 42"/>
          <p:cNvSpPr txBox="1"/>
          <p:nvPr/>
        </p:nvSpPr>
        <p:spPr>
          <a:xfrm>
            <a:off x="6876288" y="3794760"/>
            <a:ext cx="1645920" cy="594360"/>
          </a:xfrm>
          <a:prstGeom prst="rect">
            <a:avLst/>
          </a:prstGeom>
          <a:noFill/>
          <a:ln/>
        </p:spPr>
        <p:txBody>
          <a:bodyPr wrap="square" lIns="0" tIns="0" rIns="0" bIns="0" rtlCol="0" anchor="t"/>
          <a:lstStyle/>
          <a:p>
            <a:pPr indent="0" marL="0">
              <a:buNone/>
            </a:pPr>
            <a:r>
              <a:rPr lang="en-US" sz="1200" dirty="0">
                <a:solidFill>
                  <a:srgbClr val="5B6B7B"/>
                </a:solidFill>
                <a:latin typeface="Calibri" pitchFamily="34" charset="0"/>
                <a:ea typeface="Calibri" pitchFamily="34" charset="-122"/>
                <a:cs typeface="Calibri" pitchFamily="34" charset="-120"/>
              </a:rPr>
              <a:t>TLS, auth plugin, rate limiting</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a:t>
            </a:r>
            <a:endParaRPr lang="en-US" sz="3000" dirty="0"/>
          </a:p>
        </p:txBody>
      </p:sp>
      <p:sp>
        <p:nvSpPr>
          <p:cNvPr id="3" name="Shape 1"/>
          <p:cNvSpPr/>
          <p:nvPr/>
        </p:nvSpPr>
        <p:spPr>
          <a:xfrm>
            <a:off x="548640" y="1188720"/>
            <a:ext cx="384048" cy="384048"/>
          </a:xfrm>
          <a:prstGeom prst="ellipse">
            <a:avLst/>
          </a:prstGeom>
          <a:solidFill>
            <a:srgbClr val="1FA2A6"/>
          </a:solidFill>
          <a:ln w="12700">
            <a:solidFill>
              <a:srgbClr val="1FA2A6"/>
            </a:solidFill>
            <a:prstDash val="solid"/>
          </a:ln>
        </p:spPr>
      </p:sp>
      <p:sp>
        <p:nvSpPr>
          <p:cNvPr id="4" name="Text 2"/>
          <p:cNvSpPr txBox="1"/>
          <p:nvPr/>
        </p:nvSpPr>
        <p:spPr>
          <a:xfrm>
            <a:off x="548640" y="11887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143000" y="1097280"/>
            <a:ext cx="7498080" cy="6858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Built a complete, working SIEM pipeline from scratch – collect, parse, store, detect, alert and visualise.</a:t>
            </a:r>
            <a:endParaRPr lang="en-US" sz="1500" dirty="0"/>
          </a:p>
        </p:txBody>
      </p:sp>
      <p:sp>
        <p:nvSpPr>
          <p:cNvPr id="6" name="Shape 4"/>
          <p:cNvSpPr/>
          <p:nvPr/>
        </p:nvSpPr>
        <p:spPr>
          <a:xfrm>
            <a:off x="548640" y="2057400"/>
            <a:ext cx="384048" cy="384048"/>
          </a:xfrm>
          <a:prstGeom prst="ellipse">
            <a:avLst/>
          </a:prstGeom>
          <a:solidFill>
            <a:srgbClr val="E63946"/>
          </a:solidFill>
          <a:ln w="12700">
            <a:solidFill>
              <a:srgbClr val="E63946"/>
            </a:solidFill>
            <a:prstDash val="solid"/>
          </a:ln>
        </p:spPr>
      </p:sp>
      <p:sp>
        <p:nvSpPr>
          <p:cNvPr id="7" name="Text 5"/>
          <p:cNvSpPr txBox="1"/>
          <p:nvPr/>
        </p:nvSpPr>
        <p:spPr>
          <a:xfrm>
            <a:off x="548640" y="2057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8" name="Text 6"/>
          <p:cNvSpPr txBox="1"/>
          <p:nvPr/>
        </p:nvSpPr>
        <p:spPr>
          <a:xfrm>
            <a:off x="1143000" y="1965960"/>
            <a:ext cx="7498080" cy="6858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Detects brute force, credential compromise and XSS from real log data, honestly mapped to MITRE ATT&amp;CK and OWASP / CWE.</a:t>
            </a:r>
            <a:endParaRPr lang="en-US" sz="1500" dirty="0"/>
          </a:p>
        </p:txBody>
      </p:sp>
      <p:sp>
        <p:nvSpPr>
          <p:cNvPr id="9" name="Shape 7"/>
          <p:cNvSpPr/>
          <p:nvPr/>
        </p:nvSpPr>
        <p:spPr>
          <a:xfrm>
            <a:off x="548640" y="2926080"/>
            <a:ext cx="384048" cy="384048"/>
          </a:xfrm>
          <a:prstGeom prst="ellipse">
            <a:avLst/>
          </a:prstGeom>
          <a:solidFill>
            <a:srgbClr val="1FA2A6"/>
          </a:solidFill>
          <a:ln w="12700">
            <a:solidFill>
              <a:srgbClr val="1FA2A6"/>
            </a:solidFill>
            <a:prstDash val="solid"/>
          </a:ln>
        </p:spPr>
      </p:sp>
      <p:sp>
        <p:nvSpPr>
          <p:cNvPr id="10" name="Text 8"/>
          <p:cNvSpPr txBox="1"/>
          <p:nvPr/>
        </p:nvSpPr>
        <p:spPr>
          <a:xfrm>
            <a:off x="548640" y="2926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1" name="Text 9"/>
          <p:cNvSpPr txBox="1"/>
          <p:nvPr/>
        </p:nvSpPr>
        <p:spPr>
          <a:xfrm>
            <a:off x="1143000" y="2834640"/>
            <a:ext cx="7498080" cy="6858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Role-based live dashboards with server-side session security, deployed with a single Docker Compose command.</a:t>
            </a:r>
            <a:endParaRPr lang="en-US" sz="1500" dirty="0"/>
          </a:p>
        </p:txBody>
      </p:sp>
      <p:sp>
        <p:nvSpPr>
          <p:cNvPr id="12" name="Shape 10"/>
          <p:cNvSpPr/>
          <p:nvPr/>
        </p:nvSpPr>
        <p:spPr>
          <a:xfrm>
            <a:off x="548640" y="3794760"/>
            <a:ext cx="384048" cy="384048"/>
          </a:xfrm>
          <a:prstGeom prst="ellipse">
            <a:avLst/>
          </a:prstGeom>
          <a:solidFill>
            <a:srgbClr val="E63946"/>
          </a:solidFill>
          <a:ln w="12700">
            <a:solidFill>
              <a:srgbClr val="E63946"/>
            </a:solidFill>
            <a:prstDash val="solid"/>
          </a:ln>
        </p:spPr>
      </p:sp>
      <p:sp>
        <p:nvSpPr>
          <p:cNvPr id="13" name="Text 11"/>
          <p:cNvSpPr txBox="1"/>
          <p:nvPr/>
        </p:nvSpPr>
        <p:spPr>
          <a:xfrm>
            <a:off x="548640" y="3794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4" name="Text 12"/>
          <p:cNvSpPr txBox="1"/>
          <p:nvPr/>
        </p:nvSpPr>
        <p:spPr>
          <a:xfrm>
            <a:off x="1143000" y="3703320"/>
            <a:ext cx="7498080" cy="6858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Hands-on skills gained in log management, detection engineering, APIs, search engines and containers – directly relevant to a SOC.</a:t>
            </a:r>
            <a:endParaRPr lang="en-US" sz="1500" dirty="0"/>
          </a:p>
        </p:txBody>
      </p:sp>
      <p:sp>
        <p:nvSpPr>
          <p:cNvPr id="15" name="Text 13"/>
          <p:cNvSpPr txBox="1"/>
          <p:nvPr/>
        </p:nvSpPr>
        <p:spPr>
          <a:xfrm>
            <a:off x="7772400" y="4754880"/>
            <a:ext cx="914400" cy="228600"/>
          </a:xfrm>
          <a:prstGeom prst="rect">
            <a:avLst/>
          </a:prstGeom>
          <a:noFill/>
          <a:ln/>
        </p:spPr>
        <p:txBody>
          <a:bodyPr wrap="square" lIns="0" tIns="0" rIns="0" bIns="0" rtlCol="0" anchor="ctr"/>
          <a:lstStyle/>
          <a:p>
            <a:pPr algn="r" indent="0" marL="0">
              <a:buNone/>
            </a:pPr>
            <a:r>
              <a:rPr lang="en-US" sz="900" dirty="0">
                <a:solidFill>
                  <a:srgbClr val="B8C7D6"/>
                </a:solidFill>
                <a:latin typeface="Calibri" pitchFamily="34" charset="0"/>
                <a:ea typeface="Calibri" pitchFamily="34" charset="-122"/>
                <a:cs typeface="Calibri" pitchFamily="34" charset="-120"/>
              </a:rPr>
              <a:t>19 / 20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457200" y="1371600"/>
            <a:ext cx="8229600"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457200" y="2286000"/>
            <a:ext cx="8229600" cy="457200"/>
          </a:xfrm>
          <a:prstGeom prst="rect">
            <a:avLst/>
          </a:prstGeom>
          <a:noFill/>
          <a:ln/>
        </p:spPr>
        <p:txBody>
          <a:bodyPr wrap="square" lIns="0" tIns="0" rIns="0" bIns="0" rtlCol="0" anchor="ctr"/>
          <a:lstStyle/>
          <a:p>
            <a:pPr algn="ctr" indent="0" marL="0">
              <a:buNone/>
            </a:pPr>
            <a:r>
              <a:rPr lang="en-US" sz="2200" dirty="0">
                <a:solidFill>
                  <a:srgbClr val="1FA2A6"/>
                </a:solidFill>
                <a:latin typeface="Calibri" pitchFamily="34" charset="0"/>
                <a:ea typeface="Calibri" pitchFamily="34" charset="-122"/>
                <a:cs typeface="Calibri" pitchFamily="34" charset="-120"/>
              </a:rPr>
              <a:t>Questions &amp; Live Demo</a:t>
            </a:r>
            <a:endParaRPr lang="en-US" sz="2200" dirty="0"/>
          </a:p>
        </p:txBody>
      </p:sp>
      <p:sp>
        <p:nvSpPr>
          <p:cNvPr id="4" name="Text 2"/>
          <p:cNvSpPr txBox="1"/>
          <p:nvPr/>
        </p:nvSpPr>
        <p:spPr>
          <a:xfrm>
            <a:off x="457200" y="3291840"/>
            <a:ext cx="8229600" cy="365760"/>
          </a:xfrm>
          <a:prstGeom prst="rect">
            <a:avLst/>
          </a:prstGeom>
          <a:noFill/>
          <a:ln/>
        </p:spPr>
        <p:txBody>
          <a:bodyPr wrap="square" lIns="0" tIns="0" rIns="0" bIns="0" rtlCol="0" anchor="ctr"/>
          <a:lstStyle/>
          <a:p>
            <a:pPr algn="ctr" indent="0" marL="0">
              <a:buNone/>
            </a:pPr>
            <a:r>
              <a:rPr lang="en-US" sz="1300" dirty="0">
                <a:solidFill>
                  <a:srgbClr val="B8C7D6"/>
                </a:solidFill>
                <a:latin typeface="Calibri" pitchFamily="34" charset="0"/>
                <a:ea typeface="Calibri" pitchFamily="34" charset="-122"/>
                <a:cs typeface="Calibri" pitchFamily="34" charset="-120"/>
              </a:rPr>
              <a:t>Student Name  •  (Enrollment No)  •  Guide: Internal Guide Name</a:t>
            </a:r>
            <a:endParaRPr lang="en-US" sz="1300" dirty="0"/>
          </a:p>
        </p:txBody>
      </p:sp>
      <p:sp>
        <p:nvSpPr>
          <p:cNvPr id="5" name="Text 3"/>
          <p:cNvSpPr txBox="1"/>
          <p:nvPr/>
        </p:nvSpPr>
        <p:spPr>
          <a:xfrm>
            <a:off x="457200" y="3657600"/>
            <a:ext cx="8229600" cy="320040"/>
          </a:xfrm>
          <a:prstGeom prst="rect">
            <a:avLst/>
          </a:prstGeom>
          <a:noFill/>
          <a:ln/>
        </p:spPr>
        <p:txBody>
          <a:bodyPr wrap="square" lIns="0" tIns="0" rIns="0" bIns="0" rtlCol="0" anchor="ctr"/>
          <a:lstStyle/>
          <a:p>
            <a:pPr algn="ctr" indent="0" marL="0">
              <a:buNone/>
            </a:pPr>
            <a:r>
              <a:rPr lang="en-US" sz="1200" dirty="0">
                <a:solidFill>
                  <a:srgbClr val="B8C7D6"/>
                </a:solidFill>
                <a:latin typeface="Calibri" pitchFamily="34" charset="0"/>
                <a:ea typeface="Calibri" pitchFamily="34" charset="-122"/>
                <a:cs typeface="Calibri" pitchFamily="34" charset="-120"/>
              </a:rPr>
              <a:t>github.com/jay-sorathiya1/micro-siem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Micro-SIEM – Minor Project</dc:title>
  <dc:subject>PptxGenJS Presentation</dc:subject>
  <dc:creator>PptxGenJS</dc:creator>
  <cp:lastModifiedBy>PptxGenJS</cp:lastModifiedBy>
  <cp:revision>1</cp:revision>
  <dcterms:created xsi:type="dcterms:W3CDTF">2026-09-25T20:23:02Z</dcterms:created>
  <dcterms:modified xsi:type="dcterms:W3CDTF">2026-09-25T20:23:02Z</dcterms:modified>
</cp:coreProperties>
</file>