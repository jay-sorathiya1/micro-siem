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yourself, your guide and the project title: Micro-SIEM, a lightweight Security Information and Event Management system 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the presentation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SIEM in simple terms: collect logs from many places, look for attack patterns, alert the analyst. Commercial tools like Splunk and QRadar are costly and complex; Micro-SIEM shows the same idea in a small, explainable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problem with our solution. Emphasise 'explainable' – every rule is a few lines of Python that can be defended in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is included and what is intentionally left out – this shows realistic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each tool was chosen: all open-source and industry-standard; the security logic itself is our own Python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left to right: log sources → Vector → OpenSearch → FastAPI detection engine → dashboards. The demo portal generates the web login and Nginx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six stages with one sentence each. Dashboards refresh every 3 seconds, so alerts appear almost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honest mapping: XSS is a web vulnerability class, not an ATT&amp;CK technique, so it is mapped to OWASP / CWE-79. Colours match the dashboard chart: red for brute force and XSS, blue for suspicious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actors. Role checks are enforced by the server: a viewer calling an admin action gets HTTP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OpenSearch is a document store – JSON documents in indices instead of rows in tables. Three indices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portal is the attack target: login page (all attempts logged) and search page (intentionally reflects input, so XSS can be shown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stat tiles, login doughnut, live activity line chart, and attack vector bar chart – red for brute force / XSS, blue for suspicious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Threats view lists alerts grouped by IP with MITRE ID. Blocking is designed but switched off – it shows a 'Coming Soon' pop-up and is part of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testing levels and the three live attack simulations. Eight real bugs were found and fixed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shows understanding. Each one has a clear fix in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first two: enabling response actions (already built, switched off) and a password-spraying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four points, then move to the live demo 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For the live demo: open the admin dashboard, then attack the demo portal from a phone – 6 wrong logins, then the correct one, then an XSS search – and show the alerts 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90" Type="http://schemas.openxmlformats.org/officeDocument/2006/relationships/image" Target="../media/shot_13_0.png"/><Relationship Id="rId91" Type="http://schemas.openxmlformats.org/officeDocument/2006/relationships/image" Target="../media/shot_13_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90" Type="http://schemas.openxmlformats.org/officeDocument/2006/relationships/image" Target="../media/shot_14_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90" Type="http://schemas.openxmlformats.org/officeDocument/2006/relationships/image" Target="../media/shot_15_0.png"/><Relationship Id="rId91" Type="http://schemas.openxmlformats.org/officeDocument/2006/relationships/image" Target="../media/shot_15_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115" name="Motif 115"/>
          <p:cNvSpPr/>
          <p:nvPr/>
        </p:nvSpPr>
        <p:spPr>
          <a:xfrm>
            <a:off x="8549640" y="4526280"/>
            <a:ext cx="1645920" cy="1645920"/>
          </a:xfrm>
          <a:prstGeom prst="ellipse">
            <a:avLst/>
          </a:prstGeom>
          <a:noFill/>
          <a:ln w="12700">
            <a:solidFill>
              <a:srgbClr val="1FA2A6">
                <a:alpha val="35000"/>
              </a:srgbClr>
            </a:solidFill>
          </a:ln>
        </p:spPr>
      </p:sp>
      <p:sp>
        <p:nvSpPr>
          <p:cNvPr id="116" name="Motif 116"/>
          <p:cNvSpPr/>
          <p:nvPr/>
        </p:nvSpPr>
        <p:spPr>
          <a:xfrm>
            <a:off x="8001000" y="3977640"/>
            <a:ext cx="2743200" cy="2743200"/>
          </a:xfrm>
          <a:prstGeom prst="ellipse">
            <a:avLst/>
          </a:prstGeom>
          <a:noFill/>
          <a:ln w="12700">
            <a:solidFill>
              <a:srgbClr val="1FA2A6">
                <a:alpha val="25000"/>
              </a:srgbClr>
            </a:solidFill>
          </a:ln>
        </p:spPr>
      </p:sp>
      <p:sp>
        <p:nvSpPr>
          <p:cNvPr id="117" name="Motif 117"/>
          <p:cNvSpPr/>
          <p:nvPr/>
        </p:nvSpPr>
        <p:spPr>
          <a:xfrm>
            <a:off x="7452360" y="3429000"/>
            <a:ext cx="3840480" cy="3840480"/>
          </a:xfrm>
          <a:prstGeom prst="ellipse">
            <a:avLst/>
          </a:prstGeom>
          <a:noFill/>
          <a:ln w="12700">
            <a:solidFill>
              <a:srgbClr val="1FA2A6">
                <a:alpha val="16000"/>
              </a:srgbClr>
            </a:solidFill>
          </a:ln>
        </p:spPr>
      </p:sp>
      <p:sp>
        <p:nvSpPr>
          <p:cNvPr id="118" name="Motif 118"/>
          <p:cNvSpPr/>
          <p:nvPr/>
        </p:nvSpPr>
        <p:spPr>
          <a:xfrm>
            <a:off x="6903720" y="2880360"/>
            <a:ext cx="4937760" cy="4937760"/>
          </a:xfrm>
          <a:prstGeom prst="ellipse">
            <a:avLst/>
          </a:prstGeom>
          <a:noFill/>
          <a:ln w="12700">
            <a:solidFill>
              <a:srgbClr val="1FA2A6">
                <a:alpha val="10000"/>
              </a:srgbClr>
            </a:solidFill>
          </a:ln>
        </p:spPr>
      </p:sp>
      <p:sp>
        <p:nvSpPr>
          <p:cNvPr id="119" name="Motif 119"/>
          <p:cNvSpPr/>
          <p:nvPr/>
        </p:nvSpPr>
        <p:spPr>
          <a:xfrm>
            <a:off x="-1051560" y="-1005840"/>
            <a:ext cx="1645920" cy="1645920"/>
          </a:xfrm>
          <a:prstGeom prst="ellipse">
            <a:avLst/>
          </a:prstGeom>
          <a:noFill/>
          <a:ln w="12700">
            <a:solidFill>
              <a:srgbClr val="1FA2A6">
                <a:alpha val="35000"/>
              </a:srgbClr>
            </a:solidFill>
          </a:ln>
        </p:spPr>
      </p:sp>
      <p:sp>
        <p:nvSpPr>
          <p:cNvPr id="120" name="Motif 120"/>
          <p:cNvSpPr/>
          <p:nvPr/>
        </p:nvSpPr>
        <p:spPr>
          <a:xfrm>
            <a:off x="-1600200" y="-1554480"/>
            <a:ext cx="2743200" cy="2743200"/>
          </a:xfrm>
          <a:prstGeom prst="ellipse">
            <a:avLst/>
          </a:prstGeom>
          <a:noFill/>
          <a:ln w="12700">
            <a:solidFill>
              <a:srgbClr val="1FA2A6">
                <a:alpha val="25000"/>
              </a:srgbClr>
            </a:solidFill>
          </a:ln>
        </p:spPr>
      </p:sp>
      <p:sp>
        <p:nvSpPr>
          <p:cNvPr id="121" name="Motif 121"/>
          <p:cNvSpPr/>
          <p:nvPr/>
        </p:nvSpPr>
        <p:spPr>
          <a:xfrm>
            <a:off x="-2148840" y="-2103120"/>
            <a:ext cx="3840480" cy="3840480"/>
          </a:xfrm>
          <a:prstGeom prst="ellipse">
            <a:avLst/>
          </a:prstGeom>
          <a:noFill/>
          <a:ln w="12700">
            <a:solidFill>
              <a:srgbClr val="1FA2A6">
                <a:alpha val="16000"/>
              </a:srgbClr>
            </a:solidFill>
          </a:ln>
        </p:spPr>
      </p:sp>
      <p:sp>
        <p:nvSpPr>
          <p:cNvPr id="122" name="Motif 122"/>
          <p:cNvSpPr/>
          <p:nvPr/>
        </p:nvSpPr>
        <p:spPr>
          <a:xfrm>
            <a:off x="-2697480" y="-2651760"/>
            <a:ext cx="4937760" cy="4937760"/>
          </a:xfrm>
          <a:prstGeom prst="ellipse">
            <a:avLst/>
          </a:prstGeom>
          <a:noFill/>
          <a:ln w="12700">
            <a:solidFill>
              <a:srgbClr val="1FA2A6">
                <a:alpha val="10000"/>
              </a:srgbClr>
            </a:solidFill>
          </a:ln>
        </p:spPr>
      </p:sp>
      <p:sp>
        <p:nvSpPr>
          <p:cNvPr id="2" name="Shape 0"/>
          <p:cNvSpPr/>
          <p:nvPr/>
        </p:nvSpPr>
        <p:spPr>
          <a:xfrm>
            <a:off x="457200" y="320040"/>
            <a:ext cx="960120" cy="960120"/>
          </a:xfrm>
          <a:prstGeom prst="roundRect">
            <a:avLst>
              <a:gd name="adj" fmla="val 7619"/>
            </a:avLst>
          </a:prstGeom>
          <a:solidFill>
            <a:srgbClr val="FFFFFF"/>
          </a:solidFill>
          <a:ln w="12700">
            <a:solidFill>
              <a:srgbClr val="FFFFFF"/>
            </a:solidFill>
            <a:prstDash val="solid"/>
          </a:ln>
        </p:spPr>
      </p:sp>
      <p:pic>
        <p:nvPicPr>
          <p:cNvPr id="3" name="Image 0" descr="/tmp/claude-1000/-home-rabbit-micro-siem/4a721168-31b6-4dc7-bbda-4fe2daea7bac/scratchpad/logos/word/media/image2.png">    </p:cNvPr>
          <p:cNvPicPr>
            <a:picLocks noChangeAspect="1"/>
          </p:cNvPicPr>
          <p:nvPr/>
        </p:nvPicPr>
        <p:blipFill>
          <a:blip r:embed="rId1"/>
          <a:srcRect l="0" r="0" t="0" b="0"/>
          <a:stretch/>
        </p:blipFill>
        <p:spPr>
          <a:xfrm>
            <a:off x="502920" y="475488"/>
            <a:ext cx="868680" cy="548640"/>
          </a:xfrm>
          <a:prstGeom prst="rect">
            <a:avLst/>
          </a:prstGeom>
        </p:spPr>
      </p:pic>
      <p:sp>
        <p:nvSpPr>
          <p:cNvPr id="4" name="Shape 1"/>
          <p:cNvSpPr/>
          <p:nvPr/>
        </p:nvSpPr>
        <p:spPr>
          <a:xfrm>
            <a:off x="7726680" y="320040"/>
            <a:ext cx="960120" cy="960120"/>
          </a:xfrm>
          <a:prstGeom prst="roundRect">
            <a:avLst>
              <a:gd name="adj" fmla="val 7619"/>
            </a:avLst>
          </a:prstGeom>
          <a:solidFill>
            <a:srgbClr val="FFFFFF"/>
          </a:solidFill>
          <a:ln w="12700">
            <a:solidFill>
              <a:srgbClr val="FFFFFF"/>
            </a:solidFill>
            <a:prstDash val="solid"/>
          </a:ln>
        </p:spPr>
      </p:sp>
      <p:pic>
        <p:nvPicPr>
          <p:cNvPr id="5" name="Image 1" descr="/tmp/claude-1000/-home-rabbit-micro-siem/4a721168-31b6-4dc7-bbda-4fe2daea7bac/scratchpad/logos/word/media/image1.jpeg">    </p:cNvPr>
          <p:cNvPicPr>
            <a:picLocks noChangeAspect="1"/>
          </p:cNvPicPr>
          <p:nvPr/>
        </p:nvPicPr>
        <p:blipFill>
          <a:blip r:embed="rId2"/>
          <a:srcRect l="0" r="0" t="0" b="0"/>
          <a:stretch/>
        </p:blipFill>
        <p:spPr>
          <a:xfrm>
            <a:off x="7818120" y="384048"/>
            <a:ext cx="777240" cy="822960"/>
          </a:xfrm>
          <a:prstGeom prst="rect">
            <a:avLst/>
          </a:prstGeom>
        </p:spPr>
      </p:pic>
      <p:sp>
        <p:nvSpPr>
          <p:cNvPr id="6" name="Text 2"/>
          <p:cNvSpPr txBox="1"/>
          <p:nvPr/>
        </p:nvSpPr>
        <p:spPr>
          <a:xfrm>
            <a:off x="1645920" y="411480"/>
            <a:ext cx="58521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Shree Swami Atmanand Saraswati Institute of Technology, Surat</a:t>
            </a:r>
            <a:endParaRPr lang="en-US" sz="1400" dirty="0"/>
          </a:p>
        </p:txBody>
      </p:sp>
      <p:sp>
        <p:nvSpPr>
          <p:cNvPr id="7" name="Text 3"/>
          <p:cNvSpPr txBox="1"/>
          <p:nvPr/>
        </p:nvSpPr>
        <p:spPr>
          <a:xfrm>
            <a:off x="1645920" y="731520"/>
            <a:ext cx="5852160" cy="274320"/>
          </a:xfrm>
          <a:prstGeom prst="rect">
            <a:avLst/>
          </a:prstGeom>
          <a:noFill/>
          <a:ln/>
        </p:spPr>
        <p:txBody>
          <a:bodyPr wrap="square" lIns="0" tIns="0" rIns="0" bIns="0" rtlCol="0" anchor="ctr"/>
          <a:lstStyle/>
          <a:p>
            <a:pPr algn="ctr" indent="0" marL="0">
              <a:buNone/>
            </a:pPr>
            <a:r>
              <a:rPr lang="en-US" sz="1100" dirty="0">
                <a:solidFill>
                  <a:srgbClr val="B8C7D6"/>
                </a:solidFill>
                <a:latin typeface="Calibri" pitchFamily="34" charset="0"/>
                <a:ea typeface="Calibri" pitchFamily="34" charset="-122"/>
                <a:cs typeface="Calibri" pitchFamily="34" charset="-120"/>
              </a:rPr>
              <a:t>Affiliated with Gujarat Technological University, Ahmedabad</a:t>
            </a:r>
            <a:endParaRPr lang="en-US" sz="1100" dirty="0"/>
          </a:p>
        </p:txBody>
      </p:sp>
      <p:sp>
        <p:nvSpPr>
          <p:cNvPr id="8" name="Text 4"/>
          <p:cNvSpPr txBox="1"/>
          <p:nvPr/>
        </p:nvSpPr>
        <p:spPr>
          <a:xfrm>
            <a:off x="457200" y="1508760"/>
            <a:ext cx="8229600" cy="731520"/>
          </a:xfrm>
          <a:prstGeom prst="rect">
            <a:avLst/>
          </a:prstGeom>
          <a:noFill/>
          <a:ln/>
        </p:spPr>
        <p:txBody>
          <a:bodyPr wrap="square" lIns="0" tIns="0" rIns="0" bIns="0" rtlCol="0" anchor="ctr"/>
          <a:lstStyle/>
          <a:p>
            <a:pPr algn="ctr" indent="0" marL="0">
              <a:buNone/>
            </a:pPr>
            <a:r>
              <a:rPr lang="en-US" sz="4800" b="1" spc="400" kern="0" dirty="0">
                <a:solidFill>
                  <a:srgbClr val="FFFFFF"/>
                </a:solidFill>
                <a:latin typeface="Cambria" pitchFamily="34" charset="0"/>
                <a:ea typeface="Cambria" pitchFamily="34" charset="-122"/>
                <a:cs typeface="Cambria" pitchFamily="34" charset="-120"/>
              </a:rPr>
              <a:t>MICRO-SIEM</a:t>
            </a:r>
            <a:endParaRPr lang="en-US" sz="4800" dirty="0"/>
          </a:p>
        </p:txBody>
      </p:sp>
      <p:sp>
        <p:nvSpPr>
          <p:cNvPr id="9" name="Text 5"/>
          <p:cNvSpPr txBox="1"/>
          <p:nvPr/>
        </p:nvSpPr>
        <p:spPr>
          <a:xfrm>
            <a:off x="457200" y="2240280"/>
            <a:ext cx="8229600" cy="411480"/>
          </a:xfrm>
          <a:prstGeom prst="rect">
            <a:avLst/>
          </a:prstGeom>
          <a:noFill/>
          <a:ln/>
        </p:spPr>
        <p:txBody>
          <a:bodyPr wrap="square" lIns="0" tIns="0" rIns="0" bIns="0" rtlCol="0" anchor="ctr"/>
          <a:lstStyle/>
          <a:p>
            <a:pPr algn="ctr" indent="0" marL="0">
              <a:buNone/>
            </a:pPr>
            <a:r>
              <a:rPr lang="en-US" sz="1800" i="1" dirty="0">
                <a:solidFill>
                  <a:srgbClr val="1FA2A6"/>
                </a:solidFill>
                <a:latin typeface="Calibri" pitchFamily="34" charset="0"/>
                <a:ea typeface="Calibri" pitchFamily="34" charset="-122"/>
                <a:cs typeface="Calibri" pitchFamily="34" charset="-120"/>
              </a:rPr>
              <a:t>A Lightweight Security Information and Event Management System</a:t>
            </a:r>
            <a:endParaRPr lang="en-US" sz="1800" dirty="0"/>
          </a:p>
        </p:txBody>
      </p:sp>
      <p:sp>
        <p:nvSpPr>
          <p:cNvPr id="10" name="Text 6"/>
          <p:cNvSpPr txBox="1"/>
          <p:nvPr/>
        </p:nvSpPr>
        <p:spPr>
          <a:xfrm>
            <a:off x="457200" y="2697480"/>
            <a:ext cx="8229600" cy="274320"/>
          </a:xfrm>
          <a:prstGeom prst="rect">
            <a:avLst/>
          </a:prstGeom>
          <a:noFill/>
          <a:ln/>
        </p:spPr>
        <p:txBody>
          <a:bodyPr wrap="square" lIns="0" tIns="0" rIns="0" bIns="0" rtlCol="0" anchor="ctr"/>
          <a:lstStyle/>
          <a:p>
            <a:pPr algn="ctr" indent="0" marL="0">
              <a:buNone/>
            </a:pPr>
            <a:r>
              <a:rPr lang="en-US" sz="1200" dirty="0">
                <a:solidFill>
                  <a:srgbClr val="B8C7D6"/>
                </a:solidFill>
                <a:latin typeface="Calibri" pitchFamily="34" charset="0"/>
                <a:ea typeface="Calibri" pitchFamily="34" charset="-122"/>
                <a:cs typeface="Calibri" pitchFamily="34" charset="-120"/>
              </a:rPr>
              <a:t>Minor Project (BC05001081)  •  BCA Semester V  •  Academic Year 2026-27</a:t>
            </a:r>
            <a:endParaRPr lang="en-US" sz="1200" dirty="0"/>
          </a:p>
        </p:txBody>
      </p:sp>
      <p:sp>
        <p:nvSpPr>
          <p:cNvPr id="11" name="Shape 7"/>
          <p:cNvSpPr/>
          <p:nvPr/>
        </p:nvSpPr>
        <p:spPr>
          <a:xfrm>
            <a:off x="1371600" y="3246120"/>
            <a:ext cx="2926080" cy="1097280"/>
          </a:xfrm>
          <a:prstGeom prst="roundRect">
            <a:avLst>
              <a:gd name="adj" fmla="val 6667"/>
            </a:avLst>
          </a:prstGeom>
          <a:solidFill>
            <a:srgbClr val="163452"/>
          </a:solidFill>
          <a:ln w="12700">
            <a:solidFill>
              <a:srgbClr val="163452"/>
            </a:solidFill>
            <a:prstDash val="solid"/>
          </a:ln>
        </p:spPr>
      </p:sp>
      <p:sp>
        <p:nvSpPr>
          <p:cNvPr id="12" name="Text 8"/>
          <p:cNvSpPr txBox="1"/>
          <p:nvPr/>
        </p:nvSpPr>
        <p:spPr>
          <a:xfrm>
            <a:off x="1463040" y="3291840"/>
            <a:ext cx="2743200" cy="1005840"/>
          </a:xfrm>
          <a:prstGeom prst="rect">
            <a:avLst/>
          </a:prstGeom>
          <a:noFill/>
          <a:ln/>
        </p:spPr>
        <p:txBody>
          <a:bodyPr wrap="square" lIns="0" tIns="0" rIns="0" bIns="0" rtlCol="0" anchor="ctr"/>
          <a:lstStyle/>
          <a:p>
            <a:pPr algn="ctr" indent="0" marL="0">
              <a:buNone/>
            </a:pPr>
            <a:r>
              <a:rPr lang="en-US" sz="1100" dirty="0">
                <a:solidFill>
                  <a:srgbClr val="B8C7D6"/>
                </a:solidFill>
                <a:latin typeface="Calibri" pitchFamily="34" charset="0"/>
                <a:ea typeface="Calibri" pitchFamily="34" charset="-122"/>
                <a:cs typeface="Calibri" pitchFamily="34" charset="-120"/>
              </a:rPr>
              <a:t>Submitted By</a:t>
            </a:r>
            <a:endParaRPr lang="en-US" sz="1100" dirty="0"/>
          </a:p>
          <a:p>
            <a:pPr algn="ctr" indent="0" marL="0">
              <a:buNone/>
            </a:pPr>
            <a:r>
              <a:rPr lang="en-US" sz="1600" b="1" dirty="0">
                <a:solidFill>
                  <a:srgbClr val="FFFFFF"/>
                </a:solidFill>
                <a:latin typeface="Calibri" pitchFamily="34" charset="0"/>
                <a:ea typeface="Calibri" pitchFamily="34" charset="-122"/>
                <a:cs typeface="Calibri" pitchFamily="34" charset="-120"/>
              </a:rPr>
              <a:t>Student Name</a:t>
            </a:r>
            <a:endParaRPr lang="en-US" sz="1100" dirty="0"/>
          </a:p>
          <a:p>
            <a:pPr algn="ctr" indent="0" marL="0">
              <a:buNone/>
            </a:pPr>
            <a:r>
              <a:rPr lang="en-US" sz="1200" dirty="0">
                <a:solidFill>
                  <a:srgbClr val="FFFFFF"/>
                </a:solidFill>
                <a:latin typeface="Calibri" pitchFamily="34" charset="0"/>
                <a:ea typeface="Calibri" pitchFamily="34" charset="-122"/>
                <a:cs typeface="Calibri" pitchFamily="34" charset="-120"/>
              </a:rPr>
              <a:t>(Enrollment No)</a:t>
            </a:r>
            <a:endParaRPr lang="en-US" sz="1100" dirty="0"/>
          </a:p>
        </p:txBody>
      </p:sp>
      <p:sp>
        <p:nvSpPr>
          <p:cNvPr id="13" name="Shape 9"/>
          <p:cNvSpPr/>
          <p:nvPr/>
        </p:nvSpPr>
        <p:spPr>
          <a:xfrm>
            <a:off x="4846320" y="3246120"/>
            <a:ext cx="2926080" cy="1097280"/>
          </a:xfrm>
          <a:prstGeom prst="roundRect">
            <a:avLst>
              <a:gd name="adj" fmla="val 6667"/>
            </a:avLst>
          </a:prstGeom>
          <a:solidFill>
            <a:srgbClr val="163452"/>
          </a:solidFill>
          <a:ln w="12700">
            <a:solidFill>
              <a:srgbClr val="163452"/>
            </a:solidFill>
            <a:prstDash val="solid"/>
          </a:ln>
        </p:spPr>
      </p:sp>
      <p:sp>
        <p:nvSpPr>
          <p:cNvPr id="14" name="Text 10"/>
          <p:cNvSpPr txBox="1"/>
          <p:nvPr/>
        </p:nvSpPr>
        <p:spPr>
          <a:xfrm>
            <a:off x="4937760" y="3291840"/>
            <a:ext cx="2743200" cy="1005840"/>
          </a:xfrm>
          <a:prstGeom prst="rect">
            <a:avLst/>
          </a:prstGeom>
          <a:noFill/>
          <a:ln/>
        </p:spPr>
        <p:txBody>
          <a:bodyPr wrap="square" lIns="0" tIns="0" rIns="0" bIns="0" rtlCol="0" anchor="ctr"/>
          <a:lstStyle/>
          <a:p>
            <a:pPr algn="ctr" indent="0" marL="0">
              <a:buNone/>
            </a:pPr>
            <a:r>
              <a:rPr lang="en-US" sz="1100" dirty="0">
                <a:solidFill>
                  <a:srgbClr val="B8C7D6"/>
                </a:solidFill>
                <a:latin typeface="Calibri" pitchFamily="34" charset="0"/>
                <a:ea typeface="Calibri" pitchFamily="34" charset="-122"/>
                <a:cs typeface="Calibri" pitchFamily="34" charset="-120"/>
              </a:rPr>
              <a:t>Under the Guidance of</a:t>
            </a:r>
            <a:endParaRPr lang="en-US" sz="1100" dirty="0"/>
          </a:p>
          <a:p>
            <a:pPr algn="ctr" indent="0" marL="0">
              <a:buNone/>
            </a:pPr>
            <a:r>
              <a:rPr lang="en-US" sz="1600" b="1" dirty="0">
                <a:solidFill>
                  <a:srgbClr val="FFFFFF"/>
                </a:solidFill>
                <a:latin typeface="Calibri" pitchFamily="34" charset="0"/>
                <a:ea typeface="Calibri" pitchFamily="34" charset="-122"/>
                <a:cs typeface="Calibri" pitchFamily="34" charset="-120"/>
              </a:rPr>
              <a:t>Internal Guide Name</a:t>
            </a:r>
            <a:endParaRPr lang="en-US" sz="1100" dirty="0"/>
          </a:p>
          <a:p>
            <a:pPr algn="ctr" indent="0" marL="0">
              <a:buNone/>
            </a:pPr>
            <a:r>
              <a:rPr lang="en-US" sz="1200" dirty="0">
                <a:solidFill>
                  <a:srgbClr val="FFFFFF"/>
                </a:solidFill>
                <a:latin typeface="Calibri" pitchFamily="34" charset="0"/>
                <a:ea typeface="Calibri" pitchFamily="34" charset="-122"/>
                <a:cs typeface="Calibri" pitchFamily="34" charset="-120"/>
              </a:rPr>
              <a:t>Department of BCA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cxnSp>
        <p:nvCxnSpPr>
          <p:cNvPr id="151" name="Motif 151"/>
          <p:cNvCxnSpPr/>
          <p:nvPr/>
        </p:nvCxnSpPr>
        <p:spPr>
          <a:xfrm flipV="1">
            <a:off x="7501738" y="340157"/>
            <a:ext cx="320954" cy="263347"/>
          </a:xfrm>
          <a:prstGeom prst="line">
            <a:avLst/>
          </a:prstGeom>
          <a:ln w="9525">
            <a:solidFill>
              <a:srgbClr val="0B1F33">
                <a:alpha val="40000"/>
              </a:srgbClr>
            </a:solidFill>
          </a:ln>
        </p:spPr>
      </p:cxnSp>
      <p:cxnSp>
        <p:nvCxnSpPr>
          <p:cNvPr id="152" name="Motif 152"/>
          <p:cNvCxnSpPr/>
          <p:nvPr/>
        </p:nvCxnSpPr>
        <p:spPr>
          <a:xfrm>
            <a:off x="7501738" y="603504"/>
            <a:ext cx="395021" cy="142646"/>
          </a:xfrm>
          <a:prstGeom prst="line">
            <a:avLst/>
          </a:prstGeom>
          <a:ln w="9525">
            <a:solidFill>
              <a:srgbClr val="0B1F33">
                <a:alpha val="40000"/>
              </a:srgbClr>
            </a:solidFill>
          </a:ln>
        </p:spPr>
      </p:cxnSp>
      <p:cxnSp>
        <p:nvCxnSpPr>
          <p:cNvPr id="153" name="Motif 153"/>
          <p:cNvCxnSpPr/>
          <p:nvPr/>
        </p:nvCxnSpPr>
        <p:spPr>
          <a:xfrm>
            <a:off x="7822692" y="340157"/>
            <a:ext cx="370332" cy="186538"/>
          </a:xfrm>
          <a:prstGeom prst="line">
            <a:avLst/>
          </a:prstGeom>
          <a:ln w="9525">
            <a:solidFill>
              <a:srgbClr val="0B1F33">
                <a:alpha val="40000"/>
              </a:srgbClr>
            </a:solidFill>
          </a:ln>
        </p:spPr>
      </p:cxnSp>
      <p:cxnSp>
        <p:nvCxnSpPr>
          <p:cNvPr id="154" name="Motif 154"/>
          <p:cNvCxnSpPr/>
          <p:nvPr/>
        </p:nvCxnSpPr>
        <p:spPr>
          <a:xfrm flipV="1">
            <a:off x="7896758" y="526694"/>
            <a:ext cx="296266" cy="219456"/>
          </a:xfrm>
          <a:prstGeom prst="line">
            <a:avLst/>
          </a:prstGeom>
          <a:ln w="9525">
            <a:solidFill>
              <a:srgbClr val="0B1F33">
                <a:alpha val="40000"/>
              </a:srgbClr>
            </a:solidFill>
          </a:ln>
        </p:spPr>
      </p:cxnSp>
      <p:cxnSp>
        <p:nvCxnSpPr>
          <p:cNvPr id="155" name="Motif 155"/>
          <p:cNvCxnSpPr/>
          <p:nvPr/>
        </p:nvCxnSpPr>
        <p:spPr>
          <a:xfrm flipV="1">
            <a:off x="8193024" y="318211"/>
            <a:ext cx="296266" cy="208483"/>
          </a:xfrm>
          <a:prstGeom prst="line">
            <a:avLst/>
          </a:prstGeom>
          <a:ln w="9525">
            <a:solidFill>
              <a:srgbClr val="0B1F33">
                <a:alpha val="40000"/>
              </a:srgbClr>
            </a:solidFill>
          </a:ln>
        </p:spPr>
      </p:cxnSp>
      <p:cxnSp>
        <p:nvCxnSpPr>
          <p:cNvPr id="156" name="Motif 156"/>
          <p:cNvCxnSpPr/>
          <p:nvPr/>
        </p:nvCxnSpPr>
        <p:spPr>
          <a:xfrm>
            <a:off x="8193024" y="526694"/>
            <a:ext cx="456743" cy="142646"/>
          </a:xfrm>
          <a:prstGeom prst="line">
            <a:avLst/>
          </a:prstGeom>
          <a:ln w="9525">
            <a:solidFill>
              <a:srgbClr val="0B1F33">
                <a:alpha val="40000"/>
              </a:srgbClr>
            </a:solidFill>
          </a:ln>
        </p:spPr>
      </p:cxnSp>
      <p:cxnSp>
        <p:nvCxnSpPr>
          <p:cNvPr id="157" name="Motif 157"/>
          <p:cNvCxnSpPr/>
          <p:nvPr/>
        </p:nvCxnSpPr>
        <p:spPr>
          <a:xfrm>
            <a:off x="8489290" y="318211"/>
            <a:ext cx="160477" cy="351130"/>
          </a:xfrm>
          <a:prstGeom prst="line">
            <a:avLst/>
          </a:prstGeom>
          <a:ln w="9525">
            <a:solidFill>
              <a:srgbClr val="0B1F33">
                <a:alpha val="40000"/>
              </a:srgbClr>
            </a:solidFill>
          </a:ln>
        </p:spPr>
      </p:cxnSp>
      <p:sp>
        <p:nvSpPr>
          <p:cNvPr id="158" name="Motif 158"/>
          <p:cNvSpPr/>
          <p:nvPr/>
        </p:nvSpPr>
        <p:spPr>
          <a:xfrm>
            <a:off x="7452360" y="554126"/>
            <a:ext cx="98755" cy="98755"/>
          </a:xfrm>
          <a:prstGeom prst="ellipse">
            <a:avLst/>
          </a:prstGeom>
          <a:solidFill>
            <a:srgbClr val="1FA2A6">
              <a:alpha val="85000"/>
            </a:srgbClr>
          </a:solidFill>
          <a:ln>
            <a:noFill/>
          </a:ln>
        </p:spPr>
      </p:sp>
      <p:sp>
        <p:nvSpPr>
          <p:cNvPr id="159" name="Motif 159"/>
          <p:cNvSpPr/>
          <p:nvPr/>
        </p:nvSpPr>
        <p:spPr>
          <a:xfrm>
            <a:off x="7784287" y="301752"/>
            <a:ext cx="76810" cy="76810"/>
          </a:xfrm>
          <a:prstGeom prst="ellipse">
            <a:avLst/>
          </a:prstGeom>
          <a:solidFill>
            <a:srgbClr val="0B1F33">
              <a:alpha val="85000"/>
            </a:srgbClr>
          </a:solidFill>
          <a:ln>
            <a:noFill/>
          </a:ln>
        </p:spPr>
      </p:sp>
      <p:sp>
        <p:nvSpPr>
          <p:cNvPr id="160" name="Motif 160"/>
          <p:cNvSpPr/>
          <p:nvPr/>
        </p:nvSpPr>
        <p:spPr>
          <a:xfrm>
            <a:off x="7863840" y="713232"/>
            <a:ext cx="65837" cy="65837"/>
          </a:xfrm>
          <a:prstGeom prst="ellipse">
            <a:avLst/>
          </a:prstGeom>
          <a:solidFill>
            <a:srgbClr val="0B1F33">
              <a:alpha val="85000"/>
            </a:srgbClr>
          </a:solidFill>
          <a:ln>
            <a:noFill/>
          </a:ln>
        </p:spPr>
      </p:sp>
      <p:sp>
        <p:nvSpPr>
          <p:cNvPr id="161" name="Motif 161"/>
          <p:cNvSpPr/>
          <p:nvPr/>
        </p:nvSpPr>
        <p:spPr>
          <a:xfrm>
            <a:off x="8124444" y="458114"/>
            <a:ext cx="137160" cy="137160"/>
          </a:xfrm>
          <a:prstGeom prst="ellipse">
            <a:avLst/>
          </a:prstGeom>
          <a:solidFill>
            <a:srgbClr val="E63946">
              <a:alpha val="85000"/>
            </a:srgbClr>
          </a:solidFill>
          <a:ln>
            <a:noFill/>
          </a:ln>
        </p:spPr>
      </p:sp>
      <p:sp>
        <p:nvSpPr>
          <p:cNvPr id="162" name="Motif 162"/>
          <p:cNvSpPr/>
          <p:nvPr/>
        </p:nvSpPr>
        <p:spPr>
          <a:xfrm>
            <a:off x="8448142" y="277063"/>
            <a:ext cx="82296" cy="82296"/>
          </a:xfrm>
          <a:prstGeom prst="ellipse">
            <a:avLst/>
          </a:prstGeom>
          <a:solidFill>
            <a:srgbClr val="1FA2A6">
              <a:alpha val="85000"/>
            </a:srgbClr>
          </a:solidFill>
          <a:ln>
            <a:noFill/>
          </a:ln>
        </p:spPr>
      </p:sp>
      <p:sp>
        <p:nvSpPr>
          <p:cNvPr id="163" name="Motif 163"/>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Contents</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 / 20</a:t>
            </a:r>
            <a:endParaRPr lang="en-US" sz="900" dirty="0"/>
          </a:p>
        </p:txBody>
      </p:sp>
      <p:sp>
        <p:nvSpPr>
          <p:cNvPr id="6" name="Shape 3"/>
          <p:cNvSpPr/>
          <p:nvPr/>
        </p:nvSpPr>
        <p:spPr>
          <a:xfrm>
            <a:off x="640080" y="1051560"/>
            <a:ext cx="329184" cy="329184"/>
          </a:xfrm>
          <a:prstGeom prst="ellipse">
            <a:avLst/>
          </a:prstGeom>
          <a:solidFill>
            <a:srgbClr val="0B1F33"/>
          </a:solidFill>
          <a:ln w="12700">
            <a:solidFill>
              <a:srgbClr val="0B1F33"/>
            </a:solidFill>
            <a:prstDash val="solid"/>
          </a:ln>
        </p:spPr>
      </p:sp>
      <p:sp>
        <p:nvSpPr>
          <p:cNvPr id="7" name="Text 4"/>
          <p:cNvSpPr txBox="1"/>
          <p:nvPr/>
        </p:nvSpPr>
        <p:spPr>
          <a:xfrm>
            <a:off x="640080" y="10515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097280" y="1051560"/>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Introduction</a:t>
            </a:r>
            <a:endParaRPr lang="en-US" sz="1500" dirty="0"/>
          </a:p>
        </p:txBody>
      </p:sp>
      <p:sp>
        <p:nvSpPr>
          <p:cNvPr id="9" name="Shape 6"/>
          <p:cNvSpPr/>
          <p:nvPr/>
        </p:nvSpPr>
        <p:spPr>
          <a:xfrm>
            <a:off x="640080" y="1499616"/>
            <a:ext cx="329184" cy="329184"/>
          </a:xfrm>
          <a:prstGeom prst="ellipse">
            <a:avLst/>
          </a:prstGeom>
          <a:solidFill>
            <a:srgbClr val="1FA2A6"/>
          </a:solidFill>
          <a:ln w="12700">
            <a:solidFill>
              <a:srgbClr val="1FA2A6"/>
            </a:solidFill>
            <a:prstDash val="solid"/>
          </a:ln>
        </p:spPr>
      </p:sp>
      <p:sp>
        <p:nvSpPr>
          <p:cNvPr id="10" name="Text 7"/>
          <p:cNvSpPr txBox="1"/>
          <p:nvPr/>
        </p:nvSpPr>
        <p:spPr>
          <a:xfrm>
            <a:off x="640080"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097280" y="1499616"/>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Problem Statement</a:t>
            </a:r>
            <a:endParaRPr lang="en-US" sz="1500" dirty="0"/>
          </a:p>
        </p:txBody>
      </p:sp>
      <p:sp>
        <p:nvSpPr>
          <p:cNvPr id="12" name="Shape 9"/>
          <p:cNvSpPr/>
          <p:nvPr/>
        </p:nvSpPr>
        <p:spPr>
          <a:xfrm>
            <a:off x="640080" y="1947672"/>
            <a:ext cx="329184" cy="329184"/>
          </a:xfrm>
          <a:prstGeom prst="ellipse">
            <a:avLst/>
          </a:prstGeom>
          <a:solidFill>
            <a:srgbClr val="0B1F33"/>
          </a:solidFill>
          <a:ln w="12700">
            <a:solidFill>
              <a:srgbClr val="0B1F33"/>
            </a:solidFill>
            <a:prstDash val="solid"/>
          </a:ln>
        </p:spPr>
      </p:sp>
      <p:sp>
        <p:nvSpPr>
          <p:cNvPr id="13" name="Text 10"/>
          <p:cNvSpPr txBox="1"/>
          <p:nvPr/>
        </p:nvSpPr>
        <p:spPr>
          <a:xfrm>
            <a:off x="640080" y="1947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txBox="1"/>
          <p:nvPr/>
        </p:nvSpPr>
        <p:spPr>
          <a:xfrm>
            <a:off x="1097280" y="1947672"/>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Objectives</a:t>
            </a:r>
            <a:endParaRPr lang="en-US" sz="1500" dirty="0"/>
          </a:p>
        </p:txBody>
      </p:sp>
      <p:sp>
        <p:nvSpPr>
          <p:cNvPr id="15" name="Shape 12"/>
          <p:cNvSpPr/>
          <p:nvPr/>
        </p:nvSpPr>
        <p:spPr>
          <a:xfrm>
            <a:off x="640080" y="2395728"/>
            <a:ext cx="329184" cy="329184"/>
          </a:xfrm>
          <a:prstGeom prst="ellipse">
            <a:avLst/>
          </a:prstGeom>
          <a:solidFill>
            <a:srgbClr val="1FA2A6"/>
          </a:solidFill>
          <a:ln w="12700">
            <a:solidFill>
              <a:srgbClr val="1FA2A6"/>
            </a:solidFill>
            <a:prstDash val="solid"/>
          </a:ln>
        </p:spPr>
      </p:sp>
      <p:sp>
        <p:nvSpPr>
          <p:cNvPr id="16" name="Text 13"/>
          <p:cNvSpPr txBox="1"/>
          <p:nvPr/>
        </p:nvSpPr>
        <p:spPr>
          <a:xfrm>
            <a:off x="640080" y="23957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txBox="1"/>
          <p:nvPr/>
        </p:nvSpPr>
        <p:spPr>
          <a:xfrm>
            <a:off x="1097280" y="2395728"/>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Scope</a:t>
            </a:r>
            <a:endParaRPr lang="en-US" sz="1500" dirty="0"/>
          </a:p>
        </p:txBody>
      </p:sp>
      <p:sp>
        <p:nvSpPr>
          <p:cNvPr id="18" name="Shape 15"/>
          <p:cNvSpPr/>
          <p:nvPr/>
        </p:nvSpPr>
        <p:spPr>
          <a:xfrm>
            <a:off x="640080" y="2843784"/>
            <a:ext cx="329184" cy="329184"/>
          </a:xfrm>
          <a:prstGeom prst="ellipse">
            <a:avLst/>
          </a:prstGeom>
          <a:solidFill>
            <a:srgbClr val="0B1F33"/>
          </a:solidFill>
          <a:ln w="12700">
            <a:solidFill>
              <a:srgbClr val="0B1F33"/>
            </a:solidFill>
            <a:prstDash val="solid"/>
          </a:ln>
        </p:spPr>
      </p:sp>
      <p:sp>
        <p:nvSpPr>
          <p:cNvPr id="19" name="Text 16"/>
          <p:cNvSpPr txBox="1"/>
          <p:nvPr/>
        </p:nvSpPr>
        <p:spPr>
          <a:xfrm>
            <a:off x="640080" y="28437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7"/>
          <p:cNvSpPr txBox="1"/>
          <p:nvPr/>
        </p:nvSpPr>
        <p:spPr>
          <a:xfrm>
            <a:off x="1097280" y="2843784"/>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Technology Stack</a:t>
            </a:r>
            <a:endParaRPr lang="en-US" sz="1500" dirty="0"/>
          </a:p>
        </p:txBody>
      </p:sp>
      <p:sp>
        <p:nvSpPr>
          <p:cNvPr id="21" name="Shape 18"/>
          <p:cNvSpPr/>
          <p:nvPr/>
        </p:nvSpPr>
        <p:spPr>
          <a:xfrm>
            <a:off x="640080" y="3291840"/>
            <a:ext cx="329184" cy="329184"/>
          </a:xfrm>
          <a:prstGeom prst="ellipse">
            <a:avLst/>
          </a:prstGeom>
          <a:solidFill>
            <a:srgbClr val="1FA2A6"/>
          </a:solidFill>
          <a:ln w="12700">
            <a:solidFill>
              <a:srgbClr val="1FA2A6"/>
            </a:solidFill>
            <a:prstDash val="solid"/>
          </a:ln>
        </p:spPr>
      </p:sp>
      <p:sp>
        <p:nvSpPr>
          <p:cNvPr id="22" name="Text 19"/>
          <p:cNvSpPr txBox="1"/>
          <p:nvPr/>
        </p:nvSpPr>
        <p:spPr>
          <a:xfrm>
            <a:off x="6400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0"/>
          <p:cNvSpPr txBox="1"/>
          <p:nvPr/>
        </p:nvSpPr>
        <p:spPr>
          <a:xfrm>
            <a:off x="1097280" y="3291840"/>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System Architecture</a:t>
            </a:r>
            <a:endParaRPr lang="en-US" sz="1500" dirty="0"/>
          </a:p>
        </p:txBody>
      </p:sp>
      <p:sp>
        <p:nvSpPr>
          <p:cNvPr id="24" name="Shape 21"/>
          <p:cNvSpPr/>
          <p:nvPr/>
        </p:nvSpPr>
        <p:spPr>
          <a:xfrm>
            <a:off x="640080" y="3739896"/>
            <a:ext cx="329184" cy="329184"/>
          </a:xfrm>
          <a:prstGeom prst="ellipse">
            <a:avLst/>
          </a:prstGeom>
          <a:solidFill>
            <a:srgbClr val="0B1F33"/>
          </a:solidFill>
          <a:ln w="12700">
            <a:solidFill>
              <a:srgbClr val="0B1F33"/>
            </a:solidFill>
            <a:prstDash val="solid"/>
          </a:ln>
        </p:spPr>
      </p:sp>
      <p:sp>
        <p:nvSpPr>
          <p:cNvPr id="25" name="Text 22"/>
          <p:cNvSpPr txBox="1"/>
          <p:nvPr/>
        </p:nvSpPr>
        <p:spPr>
          <a:xfrm>
            <a:off x="640080" y="3739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3"/>
          <p:cNvSpPr txBox="1"/>
          <p:nvPr/>
        </p:nvSpPr>
        <p:spPr>
          <a:xfrm>
            <a:off x="1097280" y="3739896"/>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Working Flow</a:t>
            </a:r>
            <a:endParaRPr lang="en-US" sz="1500" dirty="0"/>
          </a:p>
        </p:txBody>
      </p:sp>
      <p:sp>
        <p:nvSpPr>
          <p:cNvPr id="27" name="Shape 24"/>
          <p:cNvSpPr/>
          <p:nvPr/>
        </p:nvSpPr>
        <p:spPr>
          <a:xfrm>
            <a:off x="640080" y="4187952"/>
            <a:ext cx="329184" cy="329184"/>
          </a:xfrm>
          <a:prstGeom prst="ellipse">
            <a:avLst/>
          </a:prstGeom>
          <a:solidFill>
            <a:srgbClr val="1FA2A6"/>
          </a:solidFill>
          <a:ln w="12700">
            <a:solidFill>
              <a:srgbClr val="1FA2A6"/>
            </a:solidFill>
            <a:prstDash val="solid"/>
          </a:ln>
        </p:spPr>
      </p:sp>
      <p:sp>
        <p:nvSpPr>
          <p:cNvPr id="28" name="Text 25"/>
          <p:cNvSpPr txBox="1"/>
          <p:nvPr/>
        </p:nvSpPr>
        <p:spPr>
          <a:xfrm>
            <a:off x="640080" y="41879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6"/>
          <p:cNvSpPr txBox="1"/>
          <p:nvPr/>
        </p:nvSpPr>
        <p:spPr>
          <a:xfrm>
            <a:off x="1097280" y="4187952"/>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Detection Rules</a:t>
            </a:r>
            <a:endParaRPr lang="en-US" sz="1500" dirty="0"/>
          </a:p>
        </p:txBody>
      </p:sp>
      <p:sp>
        <p:nvSpPr>
          <p:cNvPr id="30" name="Shape 27"/>
          <p:cNvSpPr/>
          <p:nvPr/>
        </p:nvSpPr>
        <p:spPr>
          <a:xfrm>
            <a:off x="4754880" y="1051560"/>
            <a:ext cx="329184" cy="329184"/>
          </a:xfrm>
          <a:prstGeom prst="ellipse">
            <a:avLst/>
          </a:prstGeom>
          <a:solidFill>
            <a:srgbClr val="0B1F33"/>
          </a:solidFill>
          <a:ln w="12700">
            <a:solidFill>
              <a:srgbClr val="0B1F33"/>
            </a:solidFill>
            <a:prstDash val="solid"/>
          </a:ln>
        </p:spPr>
      </p:sp>
      <p:sp>
        <p:nvSpPr>
          <p:cNvPr id="31" name="Text 28"/>
          <p:cNvSpPr txBox="1"/>
          <p:nvPr/>
        </p:nvSpPr>
        <p:spPr>
          <a:xfrm>
            <a:off x="4754880" y="10515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29"/>
          <p:cNvSpPr txBox="1"/>
          <p:nvPr/>
        </p:nvSpPr>
        <p:spPr>
          <a:xfrm>
            <a:off x="5212080" y="1051560"/>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Actors &amp; Use Cases</a:t>
            </a:r>
            <a:endParaRPr lang="en-US" sz="1500" dirty="0"/>
          </a:p>
        </p:txBody>
      </p:sp>
      <p:sp>
        <p:nvSpPr>
          <p:cNvPr id="33" name="Shape 30"/>
          <p:cNvSpPr/>
          <p:nvPr/>
        </p:nvSpPr>
        <p:spPr>
          <a:xfrm>
            <a:off x="4754880" y="1499616"/>
            <a:ext cx="329184" cy="329184"/>
          </a:xfrm>
          <a:prstGeom prst="ellipse">
            <a:avLst/>
          </a:prstGeom>
          <a:solidFill>
            <a:srgbClr val="1FA2A6"/>
          </a:solidFill>
          <a:ln w="12700">
            <a:solidFill>
              <a:srgbClr val="1FA2A6"/>
            </a:solidFill>
            <a:prstDash val="solid"/>
          </a:ln>
        </p:spPr>
      </p:sp>
      <p:sp>
        <p:nvSpPr>
          <p:cNvPr id="34" name="Text 31"/>
          <p:cNvSpPr txBox="1"/>
          <p:nvPr/>
        </p:nvSpPr>
        <p:spPr>
          <a:xfrm>
            <a:off x="4754880"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2"/>
          <p:cNvSpPr txBox="1"/>
          <p:nvPr/>
        </p:nvSpPr>
        <p:spPr>
          <a:xfrm>
            <a:off x="5212080" y="1499616"/>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Database Design</a:t>
            </a:r>
            <a:endParaRPr lang="en-US" sz="1500" dirty="0"/>
          </a:p>
        </p:txBody>
      </p:sp>
      <p:sp>
        <p:nvSpPr>
          <p:cNvPr id="36" name="Shape 33"/>
          <p:cNvSpPr/>
          <p:nvPr/>
        </p:nvSpPr>
        <p:spPr>
          <a:xfrm>
            <a:off x="4754880" y="1947672"/>
            <a:ext cx="329184" cy="329184"/>
          </a:xfrm>
          <a:prstGeom prst="ellipse">
            <a:avLst/>
          </a:prstGeom>
          <a:solidFill>
            <a:srgbClr val="0B1F33"/>
          </a:solidFill>
          <a:ln w="12700">
            <a:solidFill>
              <a:srgbClr val="0B1F33"/>
            </a:solidFill>
            <a:prstDash val="solid"/>
          </a:ln>
        </p:spPr>
      </p:sp>
      <p:sp>
        <p:nvSpPr>
          <p:cNvPr id="37" name="Text 34"/>
          <p:cNvSpPr txBox="1"/>
          <p:nvPr/>
        </p:nvSpPr>
        <p:spPr>
          <a:xfrm>
            <a:off x="4754880" y="1947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5"/>
          <p:cNvSpPr txBox="1"/>
          <p:nvPr/>
        </p:nvSpPr>
        <p:spPr>
          <a:xfrm>
            <a:off x="5212080" y="1947672"/>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Screenshots</a:t>
            </a:r>
            <a:endParaRPr lang="en-US" sz="1500" dirty="0"/>
          </a:p>
        </p:txBody>
      </p:sp>
      <p:sp>
        <p:nvSpPr>
          <p:cNvPr id="39" name="Shape 36"/>
          <p:cNvSpPr/>
          <p:nvPr/>
        </p:nvSpPr>
        <p:spPr>
          <a:xfrm>
            <a:off x="4754880" y="2395728"/>
            <a:ext cx="329184" cy="329184"/>
          </a:xfrm>
          <a:prstGeom prst="ellipse">
            <a:avLst/>
          </a:prstGeom>
          <a:solidFill>
            <a:srgbClr val="1FA2A6"/>
          </a:solidFill>
          <a:ln w="12700">
            <a:solidFill>
              <a:srgbClr val="1FA2A6"/>
            </a:solidFill>
            <a:prstDash val="solid"/>
          </a:ln>
        </p:spPr>
      </p:sp>
      <p:sp>
        <p:nvSpPr>
          <p:cNvPr id="40" name="Text 37"/>
          <p:cNvSpPr txBox="1"/>
          <p:nvPr/>
        </p:nvSpPr>
        <p:spPr>
          <a:xfrm>
            <a:off x="4754880" y="23957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8"/>
          <p:cNvSpPr txBox="1"/>
          <p:nvPr/>
        </p:nvSpPr>
        <p:spPr>
          <a:xfrm>
            <a:off x="5212080" y="2395728"/>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Testing</a:t>
            </a:r>
            <a:endParaRPr lang="en-US" sz="1500" dirty="0"/>
          </a:p>
        </p:txBody>
      </p:sp>
      <p:sp>
        <p:nvSpPr>
          <p:cNvPr id="42" name="Shape 39"/>
          <p:cNvSpPr/>
          <p:nvPr/>
        </p:nvSpPr>
        <p:spPr>
          <a:xfrm>
            <a:off x="4754880" y="2843784"/>
            <a:ext cx="329184" cy="329184"/>
          </a:xfrm>
          <a:prstGeom prst="ellipse">
            <a:avLst/>
          </a:prstGeom>
          <a:solidFill>
            <a:srgbClr val="0B1F33"/>
          </a:solidFill>
          <a:ln w="12700">
            <a:solidFill>
              <a:srgbClr val="0B1F33"/>
            </a:solidFill>
            <a:prstDash val="solid"/>
          </a:ln>
        </p:spPr>
      </p:sp>
      <p:sp>
        <p:nvSpPr>
          <p:cNvPr id="43" name="Text 40"/>
          <p:cNvSpPr txBox="1"/>
          <p:nvPr/>
        </p:nvSpPr>
        <p:spPr>
          <a:xfrm>
            <a:off x="4754880" y="28437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4" name="Text 41"/>
          <p:cNvSpPr txBox="1"/>
          <p:nvPr/>
        </p:nvSpPr>
        <p:spPr>
          <a:xfrm>
            <a:off x="5212080" y="2843784"/>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Limitations</a:t>
            </a:r>
            <a:endParaRPr lang="en-US" sz="1500" dirty="0"/>
          </a:p>
        </p:txBody>
      </p:sp>
      <p:sp>
        <p:nvSpPr>
          <p:cNvPr id="45" name="Shape 42"/>
          <p:cNvSpPr/>
          <p:nvPr/>
        </p:nvSpPr>
        <p:spPr>
          <a:xfrm>
            <a:off x="4754880" y="3291840"/>
            <a:ext cx="329184" cy="329184"/>
          </a:xfrm>
          <a:prstGeom prst="ellipse">
            <a:avLst/>
          </a:prstGeom>
          <a:solidFill>
            <a:srgbClr val="1FA2A6"/>
          </a:solidFill>
          <a:ln w="12700">
            <a:solidFill>
              <a:srgbClr val="1FA2A6"/>
            </a:solidFill>
            <a:prstDash val="solid"/>
          </a:ln>
        </p:spPr>
      </p:sp>
      <p:sp>
        <p:nvSpPr>
          <p:cNvPr id="46" name="Text 43"/>
          <p:cNvSpPr txBox="1"/>
          <p:nvPr/>
        </p:nvSpPr>
        <p:spPr>
          <a:xfrm>
            <a:off x="47548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7" name="Text 44"/>
          <p:cNvSpPr txBox="1"/>
          <p:nvPr/>
        </p:nvSpPr>
        <p:spPr>
          <a:xfrm>
            <a:off x="5212080" y="3291840"/>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Future Scope</a:t>
            </a:r>
            <a:endParaRPr lang="en-US" sz="1500" dirty="0"/>
          </a:p>
        </p:txBody>
      </p:sp>
      <p:sp>
        <p:nvSpPr>
          <p:cNvPr id="48" name="Shape 45"/>
          <p:cNvSpPr/>
          <p:nvPr/>
        </p:nvSpPr>
        <p:spPr>
          <a:xfrm>
            <a:off x="4754880" y="3739896"/>
            <a:ext cx="329184" cy="329184"/>
          </a:xfrm>
          <a:prstGeom prst="ellipse">
            <a:avLst/>
          </a:prstGeom>
          <a:solidFill>
            <a:srgbClr val="0B1F33"/>
          </a:solidFill>
          <a:ln w="12700">
            <a:solidFill>
              <a:srgbClr val="0B1F33"/>
            </a:solidFill>
            <a:prstDash val="solid"/>
          </a:ln>
        </p:spPr>
      </p:sp>
      <p:sp>
        <p:nvSpPr>
          <p:cNvPr id="49" name="Text 46"/>
          <p:cNvSpPr txBox="1"/>
          <p:nvPr/>
        </p:nvSpPr>
        <p:spPr>
          <a:xfrm>
            <a:off x="4754880" y="3739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50" name="Text 47"/>
          <p:cNvSpPr txBox="1"/>
          <p:nvPr/>
        </p:nvSpPr>
        <p:spPr>
          <a:xfrm>
            <a:off x="5212080" y="3739896"/>
            <a:ext cx="329184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cxnSp>
        <p:nvCxnSpPr>
          <p:cNvPr id="117" name="Motif 117"/>
          <p:cNvCxnSpPr/>
          <p:nvPr/>
        </p:nvCxnSpPr>
        <p:spPr>
          <a:xfrm flipV="1">
            <a:off x="7501738" y="340157"/>
            <a:ext cx="320954" cy="263347"/>
          </a:xfrm>
          <a:prstGeom prst="line">
            <a:avLst/>
          </a:prstGeom>
          <a:ln w="9525">
            <a:solidFill>
              <a:srgbClr val="0B1F33">
                <a:alpha val="40000"/>
              </a:srgbClr>
            </a:solidFill>
          </a:ln>
        </p:spPr>
      </p:cxnSp>
      <p:cxnSp>
        <p:nvCxnSpPr>
          <p:cNvPr id="118" name="Motif 118"/>
          <p:cNvCxnSpPr/>
          <p:nvPr/>
        </p:nvCxnSpPr>
        <p:spPr>
          <a:xfrm>
            <a:off x="7501738" y="603504"/>
            <a:ext cx="395021" cy="142646"/>
          </a:xfrm>
          <a:prstGeom prst="line">
            <a:avLst/>
          </a:prstGeom>
          <a:ln w="9525">
            <a:solidFill>
              <a:srgbClr val="0B1F33">
                <a:alpha val="40000"/>
              </a:srgbClr>
            </a:solidFill>
          </a:ln>
        </p:spPr>
      </p:cxnSp>
      <p:cxnSp>
        <p:nvCxnSpPr>
          <p:cNvPr id="119" name="Motif 119"/>
          <p:cNvCxnSpPr/>
          <p:nvPr/>
        </p:nvCxnSpPr>
        <p:spPr>
          <a:xfrm>
            <a:off x="7822692" y="340157"/>
            <a:ext cx="370332" cy="186538"/>
          </a:xfrm>
          <a:prstGeom prst="line">
            <a:avLst/>
          </a:prstGeom>
          <a:ln w="9525">
            <a:solidFill>
              <a:srgbClr val="0B1F33">
                <a:alpha val="40000"/>
              </a:srgbClr>
            </a:solidFill>
          </a:ln>
        </p:spPr>
      </p:cxnSp>
      <p:cxnSp>
        <p:nvCxnSpPr>
          <p:cNvPr id="120" name="Motif 120"/>
          <p:cNvCxnSpPr/>
          <p:nvPr/>
        </p:nvCxnSpPr>
        <p:spPr>
          <a:xfrm flipV="1">
            <a:off x="7896758" y="526694"/>
            <a:ext cx="296266" cy="219456"/>
          </a:xfrm>
          <a:prstGeom prst="line">
            <a:avLst/>
          </a:prstGeom>
          <a:ln w="9525">
            <a:solidFill>
              <a:srgbClr val="0B1F33">
                <a:alpha val="40000"/>
              </a:srgbClr>
            </a:solidFill>
          </a:ln>
        </p:spPr>
      </p:cxnSp>
      <p:cxnSp>
        <p:nvCxnSpPr>
          <p:cNvPr id="121" name="Motif 121"/>
          <p:cNvCxnSpPr/>
          <p:nvPr/>
        </p:nvCxnSpPr>
        <p:spPr>
          <a:xfrm flipV="1">
            <a:off x="8193024" y="318211"/>
            <a:ext cx="296266" cy="208483"/>
          </a:xfrm>
          <a:prstGeom prst="line">
            <a:avLst/>
          </a:prstGeom>
          <a:ln w="9525">
            <a:solidFill>
              <a:srgbClr val="0B1F33">
                <a:alpha val="40000"/>
              </a:srgbClr>
            </a:solidFill>
          </a:ln>
        </p:spPr>
      </p:cxnSp>
      <p:cxnSp>
        <p:nvCxnSpPr>
          <p:cNvPr id="122" name="Motif 122"/>
          <p:cNvCxnSpPr/>
          <p:nvPr/>
        </p:nvCxnSpPr>
        <p:spPr>
          <a:xfrm>
            <a:off x="8193024" y="526694"/>
            <a:ext cx="456743" cy="142646"/>
          </a:xfrm>
          <a:prstGeom prst="line">
            <a:avLst/>
          </a:prstGeom>
          <a:ln w="9525">
            <a:solidFill>
              <a:srgbClr val="0B1F33">
                <a:alpha val="40000"/>
              </a:srgbClr>
            </a:solidFill>
          </a:ln>
        </p:spPr>
      </p:cxnSp>
      <p:cxnSp>
        <p:nvCxnSpPr>
          <p:cNvPr id="123" name="Motif 123"/>
          <p:cNvCxnSpPr/>
          <p:nvPr/>
        </p:nvCxnSpPr>
        <p:spPr>
          <a:xfrm>
            <a:off x="8489290" y="318211"/>
            <a:ext cx="160477" cy="351130"/>
          </a:xfrm>
          <a:prstGeom prst="line">
            <a:avLst/>
          </a:prstGeom>
          <a:ln w="9525">
            <a:solidFill>
              <a:srgbClr val="0B1F33">
                <a:alpha val="40000"/>
              </a:srgbClr>
            </a:solidFill>
          </a:ln>
        </p:spPr>
      </p:cxnSp>
      <p:sp>
        <p:nvSpPr>
          <p:cNvPr id="124" name="Motif 124"/>
          <p:cNvSpPr/>
          <p:nvPr/>
        </p:nvSpPr>
        <p:spPr>
          <a:xfrm>
            <a:off x="7452360" y="554126"/>
            <a:ext cx="98755" cy="98755"/>
          </a:xfrm>
          <a:prstGeom prst="ellipse">
            <a:avLst/>
          </a:prstGeom>
          <a:solidFill>
            <a:srgbClr val="1FA2A6">
              <a:alpha val="85000"/>
            </a:srgbClr>
          </a:solidFill>
          <a:ln>
            <a:noFill/>
          </a:ln>
        </p:spPr>
      </p:sp>
      <p:sp>
        <p:nvSpPr>
          <p:cNvPr id="125" name="Motif 125"/>
          <p:cNvSpPr/>
          <p:nvPr/>
        </p:nvSpPr>
        <p:spPr>
          <a:xfrm>
            <a:off x="7784287" y="301752"/>
            <a:ext cx="76810" cy="76810"/>
          </a:xfrm>
          <a:prstGeom prst="ellipse">
            <a:avLst/>
          </a:prstGeom>
          <a:solidFill>
            <a:srgbClr val="0B1F33">
              <a:alpha val="85000"/>
            </a:srgbClr>
          </a:solidFill>
          <a:ln>
            <a:noFill/>
          </a:ln>
        </p:spPr>
      </p:sp>
      <p:sp>
        <p:nvSpPr>
          <p:cNvPr id="126" name="Motif 126"/>
          <p:cNvSpPr/>
          <p:nvPr/>
        </p:nvSpPr>
        <p:spPr>
          <a:xfrm>
            <a:off x="7863840" y="713232"/>
            <a:ext cx="65837" cy="65837"/>
          </a:xfrm>
          <a:prstGeom prst="ellipse">
            <a:avLst/>
          </a:prstGeom>
          <a:solidFill>
            <a:srgbClr val="0B1F33">
              <a:alpha val="85000"/>
            </a:srgbClr>
          </a:solidFill>
          <a:ln>
            <a:noFill/>
          </a:ln>
        </p:spPr>
      </p:sp>
      <p:sp>
        <p:nvSpPr>
          <p:cNvPr id="127" name="Motif 127"/>
          <p:cNvSpPr/>
          <p:nvPr/>
        </p:nvSpPr>
        <p:spPr>
          <a:xfrm>
            <a:off x="8124444" y="458114"/>
            <a:ext cx="137160" cy="137160"/>
          </a:xfrm>
          <a:prstGeom prst="ellipse">
            <a:avLst/>
          </a:prstGeom>
          <a:solidFill>
            <a:srgbClr val="E63946">
              <a:alpha val="85000"/>
            </a:srgbClr>
          </a:solidFill>
          <a:ln>
            <a:noFill/>
          </a:ln>
        </p:spPr>
      </p:sp>
      <p:sp>
        <p:nvSpPr>
          <p:cNvPr id="128" name="Motif 128"/>
          <p:cNvSpPr/>
          <p:nvPr/>
        </p:nvSpPr>
        <p:spPr>
          <a:xfrm>
            <a:off x="8448142" y="277063"/>
            <a:ext cx="82296" cy="82296"/>
          </a:xfrm>
          <a:prstGeom prst="ellipse">
            <a:avLst/>
          </a:prstGeom>
          <a:solidFill>
            <a:srgbClr val="1FA2A6">
              <a:alpha val="85000"/>
            </a:srgbClr>
          </a:solidFill>
          <a:ln>
            <a:noFill/>
          </a:ln>
        </p:spPr>
      </p:sp>
      <p:sp>
        <p:nvSpPr>
          <p:cNvPr id="129" name="Motif 129"/>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Introduction – What is a SIEM?</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 / 20</a:t>
            </a:r>
            <a:endParaRPr lang="en-US" sz="900" dirty="0"/>
          </a:p>
        </p:txBody>
      </p:sp>
      <p:sp>
        <p:nvSpPr>
          <p:cNvPr id="6" name="Text 3"/>
          <p:cNvSpPr txBox="1"/>
          <p:nvPr/>
        </p:nvSpPr>
        <p:spPr>
          <a:xfrm>
            <a:off x="457200" y="1051560"/>
            <a:ext cx="4754880" cy="11887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A Security Information and Event Management (SIEM) system collects logs from many sources into one place, analyses them with detection rules, and raises alerts so that security analysts can respond to attacks quickly.</a:t>
            </a:r>
            <a:endParaRPr lang="en-US" sz="1500" dirty="0"/>
          </a:p>
        </p:txBody>
      </p:sp>
      <p:sp>
        <p:nvSpPr>
          <p:cNvPr id="7" name="Text 4"/>
          <p:cNvSpPr txBox="1"/>
          <p:nvPr/>
        </p:nvSpPr>
        <p:spPr>
          <a:xfrm>
            <a:off x="457200" y="2331720"/>
            <a:ext cx="475488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Logs hold the first evidence of almost every attack</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Evidence is scattered across files and formats</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Commercial SIEMs are costly and complex</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Micro-SIEM: a small, working, explainable SIEM</a:t>
            </a:r>
            <a:endParaRPr lang="en-US" sz="1500" dirty="0"/>
          </a:p>
        </p:txBody>
      </p:sp>
      <p:sp>
        <p:nvSpPr>
          <p:cNvPr id="8" name="Shape 5"/>
          <p:cNvSpPr/>
          <p:nvPr/>
        </p:nvSpPr>
        <p:spPr>
          <a:xfrm>
            <a:off x="5669280" y="1051560"/>
            <a:ext cx="3017520" cy="1005840"/>
          </a:xfrm>
          <a:prstGeom prst="roundRect">
            <a:avLst>
              <a:gd name="adj" fmla="val 7273"/>
            </a:avLst>
          </a:prstGeom>
          <a:solidFill>
            <a:srgbClr val="F2F6F9"/>
          </a:solidFill>
          <a:ln w="12700">
            <a:solidFill>
              <a:srgbClr val="F2F6F9"/>
            </a:solidFill>
            <a:prstDash val="solid"/>
          </a:ln>
        </p:spPr>
      </p:sp>
      <p:sp>
        <p:nvSpPr>
          <p:cNvPr id="9" name="Text 6"/>
          <p:cNvSpPr txBox="1"/>
          <p:nvPr/>
        </p:nvSpPr>
        <p:spPr>
          <a:xfrm>
            <a:off x="5806440" y="1051560"/>
            <a:ext cx="1005840" cy="1005840"/>
          </a:xfrm>
          <a:prstGeom prst="rect">
            <a:avLst/>
          </a:prstGeom>
          <a:noFill/>
          <a:ln/>
        </p:spPr>
        <p:txBody>
          <a:bodyPr wrap="square" lIns="0" tIns="0" rIns="0" bIns="0" rtlCol="0" anchor="ctr"/>
          <a:lstStyle/>
          <a:p>
            <a:pPr algn="ctr" indent="0" marL="0">
              <a:buNone/>
            </a:pPr>
            <a:r>
              <a:rPr lang="en-US" sz="4400" b="1" dirty="0">
                <a:solidFill>
                  <a:srgbClr val="0B1F33"/>
                </a:solidFill>
                <a:latin typeface="Cambria" pitchFamily="34" charset="0"/>
                <a:ea typeface="Cambria" pitchFamily="34" charset="-122"/>
                <a:cs typeface="Cambria" pitchFamily="34" charset="-120"/>
              </a:rPr>
              <a:t>3</a:t>
            </a:r>
            <a:endParaRPr lang="en-US" sz="4400" dirty="0"/>
          </a:p>
        </p:txBody>
      </p:sp>
      <p:sp>
        <p:nvSpPr>
          <p:cNvPr id="10" name="Text 7"/>
          <p:cNvSpPr txBox="1"/>
          <p:nvPr/>
        </p:nvSpPr>
        <p:spPr>
          <a:xfrm>
            <a:off x="6858000" y="1051560"/>
            <a:ext cx="1737360" cy="100584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log sources</a:t>
            </a:r>
            <a:endParaRPr lang="en-US" sz="1600" dirty="0"/>
          </a:p>
        </p:txBody>
      </p:sp>
      <p:sp>
        <p:nvSpPr>
          <p:cNvPr id="11" name="Shape 8"/>
          <p:cNvSpPr/>
          <p:nvPr/>
        </p:nvSpPr>
        <p:spPr>
          <a:xfrm>
            <a:off x="5669280" y="2240280"/>
            <a:ext cx="3017520" cy="1005840"/>
          </a:xfrm>
          <a:prstGeom prst="roundRect">
            <a:avLst>
              <a:gd name="adj" fmla="val 7273"/>
            </a:avLst>
          </a:prstGeom>
          <a:solidFill>
            <a:srgbClr val="F2F6F9"/>
          </a:solidFill>
          <a:ln w="12700">
            <a:solidFill>
              <a:srgbClr val="F2F6F9"/>
            </a:solidFill>
            <a:prstDash val="solid"/>
          </a:ln>
        </p:spPr>
      </p:sp>
      <p:sp>
        <p:nvSpPr>
          <p:cNvPr id="12" name="Text 9"/>
          <p:cNvSpPr txBox="1"/>
          <p:nvPr/>
        </p:nvSpPr>
        <p:spPr>
          <a:xfrm>
            <a:off x="5806440" y="2240280"/>
            <a:ext cx="1005840" cy="1005840"/>
          </a:xfrm>
          <a:prstGeom prst="rect">
            <a:avLst/>
          </a:prstGeom>
          <a:noFill/>
          <a:ln/>
        </p:spPr>
        <p:txBody>
          <a:bodyPr wrap="square" lIns="0" tIns="0" rIns="0" bIns="0" rtlCol="0" anchor="ctr"/>
          <a:lstStyle/>
          <a:p>
            <a:pPr algn="ctr" indent="0" marL="0">
              <a:buNone/>
            </a:pPr>
            <a:r>
              <a:rPr lang="en-US" sz="4400" b="1" dirty="0">
                <a:solidFill>
                  <a:srgbClr val="E63946"/>
                </a:solidFill>
                <a:latin typeface="Cambria" pitchFamily="34" charset="0"/>
                <a:ea typeface="Cambria" pitchFamily="34" charset="-122"/>
                <a:cs typeface="Cambria" pitchFamily="34" charset="-120"/>
              </a:rPr>
              <a:t>4</a:t>
            </a:r>
            <a:endParaRPr lang="en-US" sz="4400" dirty="0"/>
          </a:p>
        </p:txBody>
      </p:sp>
      <p:sp>
        <p:nvSpPr>
          <p:cNvPr id="13" name="Text 10"/>
          <p:cNvSpPr txBox="1"/>
          <p:nvPr/>
        </p:nvSpPr>
        <p:spPr>
          <a:xfrm>
            <a:off x="6858000" y="2240280"/>
            <a:ext cx="1737360" cy="100584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detection rules</a:t>
            </a:r>
            <a:endParaRPr lang="en-US" sz="1600" dirty="0"/>
          </a:p>
        </p:txBody>
      </p:sp>
      <p:sp>
        <p:nvSpPr>
          <p:cNvPr id="14" name="Shape 11"/>
          <p:cNvSpPr/>
          <p:nvPr/>
        </p:nvSpPr>
        <p:spPr>
          <a:xfrm>
            <a:off x="5669280" y="3429000"/>
            <a:ext cx="3017520" cy="1005840"/>
          </a:xfrm>
          <a:prstGeom prst="roundRect">
            <a:avLst>
              <a:gd name="adj" fmla="val 7273"/>
            </a:avLst>
          </a:prstGeom>
          <a:solidFill>
            <a:srgbClr val="F2F6F9"/>
          </a:solidFill>
          <a:ln w="12700">
            <a:solidFill>
              <a:srgbClr val="F2F6F9"/>
            </a:solidFill>
            <a:prstDash val="solid"/>
          </a:ln>
        </p:spPr>
      </p:sp>
      <p:sp>
        <p:nvSpPr>
          <p:cNvPr id="15" name="Text 12"/>
          <p:cNvSpPr txBox="1"/>
          <p:nvPr/>
        </p:nvSpPr>
        <p:spPr>
          <a:xfrm>
            <a:off x="5806440" y="3429000"/>
            <a:ext cx="1005840" cy="1005840"/>
          </a:xfrm>
          <a:prstGeom prst="rect">
            <a:avLst/>
          </a:prstGeom>
          <a:noFill/>
          <a:ln/>
        </p:spPr>
        <p:txBody>
          <a:bodyPr wrap="square" lIns="0" tIns="0" rIns="0" bIns="0" rtlCol="0" anchor="ctr"/>
          <a:lstStyle/>
          <a:p>
            <a:pPr algn="ctr" indent="0" marL="0">
              <a:buNone/>
            </a:pPr>
            <a:r>
              <a:rPr lang="en-US" sz="4400" b="1" dirty="0">
                <a:solidFill>
                  <a:srgbClr val="1FA2A6"/>
                </a:solidFill>
                <a:latin typeface="Cambria" pitchFamily="34" charset="0"/>
                <a:ea typeface="Cambria" pitchFamily="34" charset="-122"/>
                <a:cs typeface="Cambria" pitchFamily="34" charset="-120"/>
              </a:rPr>
              <a:t>6</a:t>
            </a:r>
            <a:endParaRPr lang="en-US" sz="4400" dirty="0"/>
          </a:p>
        </p:txBody>
      </p:sp>
      <p:sp>
        <p:nvSpPr>
          <p:cNvPr id="16" name="Text 13"/>
          <p:cNvSpPr txBox="1"/>
          <p:nvPr/>
        </p:nvSpPr>
        <p:spPr>
          <a:xfrm>
            <a:off x="6858000" y="3429000"/>
            <a:ext cx="1737360" cy="100584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Docker containers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cxnSp>
        <p:nvCxnSpPr>
          <p:cNvPr id="116" name="Motif 116"/>
          <p:cNvCxnSpPr/>
          <p:nvPr/>
        </p:nvCxnSpPr>
        <p:spPr>
          <a:xfrm flipV="1">
            <a:off x="7501738" y="340157"/>
            <a:ext cx="320954" cy="263347"/>
          </a:xfrm>
          <a:prstGeom prst="line">
            <a:avLst/>
          </a:prstGeom>
          <a:ln w="9525">
            <a:solidFill>
              <a:srgbClr val="0B1F33">
                <a:alpha val="40000"/>
              </a:srgbClr>
            </a:solidFill>
          </a:ln>
        </p:spPr>
      </p:cxnSp>
      <p:cxnSp>
        <p:nvCxnSpPr>
          <p:cNvPr id="117" name="Motif 117"/>
          <p:cNvCxnSpPr/>
          <p:nvPr/>
        </p:nvCxnSpPr>
        <p:spPr>
          <a:xfrm>
            <a:off x="7501738" y="603504"/>
            <a:ext cx="395021" cy="142646"/>
          </a:xfrm>
          <a:prstGeom prst="line">
            <a:avLst/>
          </a:prstGeom>
          <a:ln w="9525">
            <a:solidFill>
              <a:srgbClr val="0B1F33">
                <a:alpha val="40000"/>
              </a:srgbClr>
            </a:solidFill>
          </a:ln>
        </p:spPr>
      </p:cxnSp>
      <p:cxnSp>
        <p:nvCxnSpPr>
          <p:cNvPr id="118" name="Motif 118"/>
          <p:cNvCxnSpPr/>
          <p:nvPr/>
        </p:nvCxnSpPr>
        <p:spPr>
          <a:xfrm>
            <a:off x="7822692" y="340157"/>
            <a:ext cx="370332" cy="186538"/>
          </a:xfrm>
          <a:prstGeom prst="line">
            <a:avLst/>
          </a:prstGeom>
          <a:ln w="9525">
            <a:solidFill>
              <a:srgbClr val="0B1F33">
                <a:alpha val="40000"/>
              </a:srgbClr>
            </a:solidFill>
          </a:ln>
        </p:spPr>
      </p:cxnSp>
      <p:cxnSp>
        <p:nvCxnSpPr>
          <p:cNvPr id="119" name="Motif 119"/>
          <p:cNvCxnSpPr/>
          <p:nvPr/>
        </p:nvCxnSpPr>
        <p:spPr>
          <a:xfrm flipV="1">
            <a:off x="7896758" y="526694"/>
            <a:ext cx="296266" cy="219456"/>
          </a:xfrm>
          <a:prstGeom prst="line">
            <a:avLst/>
          </a:prstGeom>
          <a:ln w="9525">
            <a:solidFill>
              <a:srgbClr val="0B1F33">
                <a:alpha val="40000"/>
              </a:srgbClr>
            </a:solidFill>
          </a:ln>
        </p:spPr>
      </p:cxnSp>
      <p:cxnSp>
        <p:nvCxnSpPr>
          <p:cNvPr id="120" name="Motif 120"/>
          <p:cNvCxnSpPr/>
          <p:nvPr/>
        </p:nvCxnSpPr>
        <p:spPr>
          <a:xfrm flipV="1">
            <a:off x="8193024" y="318211"/>
            <a:ext cx="296266" cy="208483"/>
          </a:xfrm>
          <a:prstGeom prst="line">
            <a:avLst/>
          </a:prstGeom>
          <a:ln w="9525">
            <a:solidFill>
              <a:srgbClr val="0B1F33">
                <a:alpha val="40000"/>
              </a:srgbClr>
            </a:solidFill>
          </a:ln>
        </p:spPr>
      </p:cxnSp>
      <p:cxnSp>
        <p:nvCxnSpPr>
          <p:cNvPr id="121" name="Motif 121"/>
          <p:cNvCxnSpPr/>
          <p:nvPr/>
        </p:nvCxnSpPr>
        <p:spPr>
          <a:xfrm>
            <a:off x="8193024" y="526694"/>
            <a:ext cx="456743" cy="142646"/>
          </a:xfrm>
          <a:prstGeom prst="line">
            <a:avLst/>
          </a:prstGeom>
          <a:ln w="9525">
            <a:solidFill>
              <a:srgbClr val="0B1F33">
                <a:alpha val="40000"/>
              </a:srgbClr>
            </a:solidFill>
          </a:ln>
        </p:spPr>
      </p:cxnSp>
      <p:cxnSp>
        <p:nvCxnSpPr>
          <p:cNvPr id="122" name="Motif 122"/>
          <p:cNvCxnSpPr/>
          <p:nvPr/>
        </p:nvCxnSpPr>
        <p:spPr>
          <a:xfrm>
            <a:off x="8489290" y="318211"/>
            <a:ext cx="160477" cy="351130"/>
          </a:xfrm>
          <a:prstGeom prst="line">
            <a:avLst/>
          </a:prstGeom>
          <a:ln w="9525">
            <a:solidFill>
              <a:srgbClr val="0B1F33">
                <a:alpha val="40000"/>
              </a:srgbClr>
            </a:solidFill>
          </a:ln>
        </p:spPr>
      </p:cxnSp>
      <p:sp>
        <p:nvSpPr>
          <p:cNvPr id="123" name="Motif 123"/>
          <p:cNvSpPr/>
          <p:nvPr/>
        </p:nvSpPr>
        <p:spPr>
          <a:xfrm>
            <a:off x="7452360" y="554126"/>
            <a:ext cx="98755" cy="98755"/>
          </a:xfrm>
          <a:prstGeom prst="ellipse">
            <a:avLst/>
          </a:prstGeom>
          <a:solidFill>
            <a:srgbClr val="1FA2A6">
              <a:alpha val="85000"/>
            </a:srgbClr>
          </a:solidFill>
          <a:ln>
            <a:noFill/>
          </a:ln>
        </p:spPr>
      </p:sp>
      <p:sp>
        <p:nvSpPr>
          <p:cNvPr id="124" name="Motif 124"/>
          <p:cNvSpPr/>
          <p:nvPr/>
        </p:nvSpPr>
        <p:spPr>
          <a:xfrm>
            <a:off x="7784287" y="301752"/>
            <a:ext cx="76810" cy="76810"/>
          </a:xfrm>
          <a:prstGeom prst="ellipse">
            <a:avLst/>
          </a:prstGeom>
          <a:solidFill>
            <a:srgbClr val="0B1F33">
              <a:alpha val="85000"/>
            </a:srgbClr>
          </a:solidFill>
          <a:ln>
            <a:noFill/>
          </a:ln>
        </p:spPr>
      </p:sp>
      <p:sp>
        <p:nvSpPr>
          <p:cNvPr id="125" name="Motif 125"/>
          <p:cNvSpPr/>
          <p:nvPr/>
        </p:nvSpPr>
        <p:spPr>
          <a:xfrm>
            <a:off x="7863840" y="713232"/>
            <a:ext cx="65837" cy="65837"/>
          </a:xfrm>
          <a:prstGeom prst="ellipse">
            <a:avLst/>
          </a:prstGeom>
          <a:solidFill>
            <a:srgbClr val="0B1F33">
              <a:alpha val="85000"/>
            </a:srgbClr>
          </a:solidFill>
          <a:ln>
            <a:noFill/>
          </a:ln>
        </p:spPr>
      </p:sp>
      <p:sp>
        <p:nvSpPr>
          <p:cNvPr id="126" name="Motif 126"/>
          <p:cNvSpPr/>
          <p:nvPr/>
        </p:nvSpPr>
        <p:spPr>
          <a:xfrm>
            <a:off x="8124444" y="458114"/>
            <a:ext cx="137160" cy="137160"/>
          </a:xfrm>
          <a:prstGeom prst="ellipse">
            <a:avLst/>
          </a:prstGeom>
          <a:solidFill>
            <a:srgbClr val="E63946">
              <a:alpha val="85000"/>
            </a:srgbClr>
          </a:solidFill>
          <a:ln>
            <a:noFill/>
          </a:ln>
        </p:spPr>
      </p:sp>
      <p:sp>
        <p:nvSpPr>
          <p:cNvPr id="127" name="Motif 127"/>
          <p:cNvSpPr/>
          <p:nvPr/>
        </p:nvSpPr>
        <p:spPr>
          <a:xfrm>
            <a:off x="8448142" y="277063"/>
            <a:ext cx="82296" cy="82296"/>
          </a:xfrm>
          <a:prstGeom prst="ellipse">
            <a:avLst/>
          </a:prstGeom>
          <a:solidFill>
            <a:srgbClr val="1FA2A6">
              <a:alpha val="85000"/>
            </a:srgbClr>
          </a:solidFill>
          <a:ln>
            <a:noFill/>
          </a:ln>
        </p:spPr>
      </p:sp>
      <p:sp>
        <p:nvSpPr>
          <p:cNvPr id="128" name="Motif 12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Problem Statement</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 / 20</a:t>
            </a:r>
            <a:endParaRPr lang="en-US" sz="900" dirty="0"/>
          </a:p>
        </p:txBody>
      </p:sp>
      <p:sp>
        <p:nvSpPr>
          <p:cNvPr id="6" name="Shape 3"/>
          <p:cNvSpPr/>
          <p:nvPr/>
        </p:nvSpPr>
        <p:spPr>
          <a:xfrm>
            <a:off x="457200" y="1051560"/>
            <a:ext cx="3931920" cy="3474720"/>
          </a:xfrm>
          <a:prstGeom prst="roundRect">
            <a:avLst>
              <a:gd name="adj" fmla="val 2105"/>
            </a:avLst>
          </a:prstGeom>
          <a:solidFill>
            <a:srgbClr val="FDECEE"/>
          </a:solidFill>
          <a:ln w="12700">
            <a:solidFill>
              <a:srgbClr val="FDECEE"/>
            </a:solidFill>
            <a:prstDash val="solid"/>
          </a:ln>
        </p:spPr>
      </p:sp>
      <p:sp>
        <p:nvSpPr>
          <p:cNvPr id="7" name="Shape 4"/>
          <p:cNvSpPr/>
          <p:nvPr/>
        </p:nvSpPr>
        <p:spPr>
          <a:xfrm>
            <a:off x="685800" y="1234440"/>
            <a:ext cx="457200" cy="457200"/>
          </a:xfrm>
          <a:prstGeom prst="ellipse">
            <a:avLst/>
          </a:prstGeom>
          <a:solidFill>
            <a:srgbClr val="E63946"/>
          </a:solidFill>
          <a:ln w="12700">
            <a:solidFill>
              <a:srgbClr val="E63946"/>
            </a:solidFill>
            <a:prstDash val="solid"/>
          </a:ln>
        </p:spPr>
      </p:sp>
      <p:sp>
        <p:nvSpPr>
          <p:cNvPr id="8" name="Text 5"/>
          <p:cNvSpPr txBox="1"/>
          <p:nvPr/>
        </p:nvSpPr>
        <p:spPr>
          <a:xfrm>
            <a:off x="6858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1280160" y="1234440"/>
            <a:ext cx="292608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The Problem</a:t>
            </a:r>
            <a:endParaRPr lang="en-US" sz="2000" dirty="0"/>
          </a:p>
        </p:txBody>
      </p:sp>
      <p:sp>
        <p:nvSpPr>
          <p:cNvPr id="10" name="Text 7"/>
          <p:cNvSpPr txBox="1"/>
          <p:nvPr/>
        </p:nvSpPr>
        <p:spPr>
          <a:xfrm>
            <a:off x="731520" y="1920240"/>
            <a:ext cx="3474720" cy="24688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Nobody reads logs in real time</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Attacks like password guessing go unnoticed</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Logs are spread across many files and formats</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Existing SIEMs are expensive, heavy and work like black boxes</a:t>
            </a:r>
            <a:endParaRPr lang="en-US" sz="1500" dirty="0"/>
          </a:p>
        </p:txBody>
      </p:sp>
      <p:sp>
        <p:nvSpPr>
          <p:cNvPr id="11" name="Shape 8"/>
          <p:cNvSpPr/>
          <p:nvPr/>
        </p:nvSpPr>
        <p:spPr>
          <a:xfrm>
            <a:off x="4754880" y="1051560"/>
            <a:ext cx="3931920" cy="3474720"/>
          </a:xfrm>
          <a:prstGeom prst="roundRect">
            <a:avLst>
              <a:gd name="adj" fmla="val 2105"/>
            </a:avLst>
          </a:prstGeom>
          <a:solidFill>
            <a:srgbClr val="E3F4F4"/>
          </a:solidFill>
          <a:ln w="12700">
            <a:solidFill>
              <a:srgbClr val="E3F4F4"/>
            </a:solidFill>
            <a:prstDash val="solid"/>
          </a:ln>
        </p:spPr>
      </p:sp>
      <p:sp>
        <p:nvSpPr>
          <p:cNvPr id="12" name="Shape 9"/>
          <p:cNvSpPr/>
          <p:nvPr/>
        </p:nvSpPr>
        <p:spPr>
          <a:xfrm>
            <a:off x="4983480" y="1234440"/>
            <a:ext cx="457200" cy="457200"/>
          </a:xfrm>
          <a:prstGeom prst="ellipse">
            <a:avLst/>
          </a:prstGeom>
          <a:solidFill>
            <a:srgbClr val="1FA2A6"/>
          </a:solidFill>
          <a:ln w="12700">
            <a:solidFill>
              <a:srgbClr val="1FA2A6"/>
            </a:solidFill>
            <a:prstDash val="solid"/>
          </a:ln>
        </p:spPr>
      </p:sp>
      <p:sp>
        <p:nvSpPr>
          <p:cNvPr id="13" name="Text 10"/>
          <p:cNvSpPr txBox="1"/>
          <p:nvPr/>
        </p:nvSpPr>
        <p:spPr>
          <a:xfrm>
            <a:off x="498348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1"/>
          <p:cNvSpPr txBox="1"/>
          <p:nvPr/>
        </p:nvSpPr>
        <p:spPr>
          <a:xfrm>
            <a:off x="5577840" y="1234440"/>
            <a:ext cx="2926080" cy="457200"/>
          </a:xfrm>
          <a:prstGeom prst="rect">
            <a:avLst/>
          </a:prstGeom>
          <a:noFill/>
          <a:ln/>
        </p:spPr>
        <p:txBody>
          <a:bodyPr wrap="square" lIns="0" tIns="0" rIns="0" bIns="0" rtlCol="0" anchor="ctr"/>
          <a:lstStyle/>
          <a:p>
            <a:pPr indent="0" marL="0">
              <a:buNone/>
            </a:pPr>
            <a:r>
              <a:rPr lang="en-US" sz="2000" b="1" dirty="0">
                <a:solidFill>
                  <a:srgbClr val="1FA2A6"/>
                </a:solidFill>
                <a:latin typeface="Cambria" pitchFamily="34" charset="0"/>
                <a:ea typeface="Cambria" pitchFamily="34" charset="-122"/>
                <a:cs typeface="Cambria" pitchFamily="34" charset="-120"/>
              </a:rPr>
              <a:t>Our Solution</a:t>
            </a:r>
            <a:endParaRPr lang="en-US" sz="2000" dirty="0"/>
          </a:p>
        </p:txBody>
      </p:sp>
      <p:sp>
        <p:nvSpPr>
          <p:cNvPr id="15" name="Text 12"/>
          <p:cNvSpPr txBox="1"/>
          <p:nvPr/>
        </p:nvSpPr>
        <p:spPr>
          <a:xfrm>
            <a:off x="5029200" y="1920240"/>
            <a:ext cx="3474720" cy="24688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Centralise live logs automatically</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Detect attacks with clear, readable rules</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Alert on role-based live dashboards</a:t>
            </a:r>
            <a:endParaRPr lang="en-US" sz="1500" dirty="0"/>
          </a:p>
          <a:p>
            <a:pPr marL="177800" indent="-1778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Open-source and one-command deployment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cxnSp>
        <p:nvCxnSpPr>
          <p:cNvPr id="136" name="Motif 136"/>
          <p:cNvCxnSpPr/>
          <p:nvPr/>
        </p:nvCxnSpPr>
        <p:spPr>
          <a:xfrm flipV="1">
            <a:off x="7501738" y="340157"/>
            <a:ext cx="320954" cy="263347"/>
          </a:xfrm>
          <a:prstGeom prst="line">
            <a:avLst/>
          </a:prstGeom>
          <a:ln w="9525">
            <a:solidFill>
              <a:srgbClr val="0B1F33">
                <a:alpha val="40000"/>
              </a:srgbClr>
            </a:solidFill>
          </a:ln>
        </p:spPr>
      </p:cxnSp>
      <p:cxnSp>
        <p:nvCxnSpPr>
          <p:cNvPr id="137" name="Motif 137"/>
          <p:cNvCxnSpPr/>
          <p:nvPr/>
        </p:nvCxnSpPr>
        <p:spPr>
          <a:xfrm>
            <a:off x="7501738" y="603504"/>
            <a:ext cx="395021" cy="142646"/>
          </a:xfrm>
          <a:prstGeom prst="line">
            <a:avLst/>
          </a:prstGeom>
          <a:ln w="9525">
            <a:solidFill>
              <a:srgbClr val="0B1F33">
                <a:alpha val="40000"/>
              </a:srgbClr>
            </a:solidFill>
          </a:ln>
        </p:spPr>
      </p:cxnSp>
      <p:cxnSp>
        <p:nvCxnSpPr>
          <p:cNvPr id="138" name="Motif 138"/>
          <p:cNvCxnSpPr/>
          <p:nvPr/>
        </p:nvCxnSpPr>
        <p:spPr>
          <a:xfrm>
            <a:off x="7822692" y="340157"/>
            <a:ext cx="370332" cy="186538"/>
          </a:xfrm>
          <a:prstGeom prst="line">
            <a:avLst/>
          </a:prstGeom>
          <a:ln w="9525">
            <a:solidFill>
              <a:srgbClr val="0B1F33">
                <a:alpha val="40000"/>
              </a:srgbClr>
            </a:solidFill>
          </a:ln>
        </p:spPr>
      </p:cxnSp>
      <p:cxnSp>
        <p:nvCxnSpPr>
          <p:cNvPr id="139" name="Motif 139"/>
          <p:cNvCxnSpPr/>
          <p:nvPr/>
        </p:nvCxnSpPr>
        <p:spPr>
          <a:xfrm flipV="1">
            <a:off x="7896758" y="526694"/>
            <a:ext cx="296266" cy="219456"/>
          </a:xfrm>
          <a:prstGeom prst="line">
            <a:avLst/>
          </a:prstGeom>
          <a:ln w="9525">
            <a:solidFill>
              <a:srgbClr val="0B1F33">
                <a:alpha val="40000"/>
              </a:srgbClr>
            </a:solidFill>
          </a:ln>
        </p:spPr>
      </p:cxnSp>
      <p:cxnSp>
        <p:nvCxnSpPr>
          <p:cNvPr id="140" name="Motif 140"/>
          <p:cNvCxnSpPr/>
          <p:nvPr/>
        </p:nvCxnSpPr>
        <p:spPr>
          <a:xfrm flipV="1">
            <a:off x="8193024" y="318211"/>
            <a:ext cx="296266" cy="208483"/>
          </a:xfrm>
          <a:prstGeom prst="line">
            <a:avLst/>
          </a:prstGeom>
          <a:ln w="9525">
            <a:solidFill>
              <a:srgbClr val="0B1F33">
                <a:alpha val="40000"/>
              </a:srgbClr>
            </a:solidFill>
          </a:ln>
        </p:spPr>
      </p:cxnSp>
      <p:cxnSp>
        <p:nvCxnSpPr>
          <p:cNvPr id="141" name="Motif 141"/>
          <p:cNvCxnSpPr/>
          <p:nvPr/>
        </p:nvCxnSpPr>
        <p:spPr>
          <a:xfrm>
            <a:off x="8193024" y="526694"/>
            <a:ext cx="456743" cy="142646"/>
          </a:xfrm>
          <a:prstGeom prst="line">
            <a:avLst/>
          </a:prstGeom>
          <a:ln w="9525">
            <a:solidFill>
              <a:srgbClr val="0B1F33">
                <a:alpha val="40000"/>
              </a:srgbClr>
            </a:solidFill>
          </a:ln>
        </p:spPr>
      </p:cxnSp>
      <p:cxnSp>
        <p:nvCxnSpPr>
          <p:cNvPr id="142" name="Motif 142"/>
          <p:cNvCxnSpPr/>
          <p:nvPr/>
        </p:nvCxnSpPr>
        <p:spPr>
          <a:xfrm>
            <a:off x="8489290" y="318211"/>
            <a:ext cx="160477" cy="351130"/>
          </a:xfrm>
          <a:prstGeom prst="line">
            <a:avLst/>
          </a:prstGeom>
          <a:ln w="9525">
            <a:solidFill>
              <a:srgbClr val="0B1F33">
                <a:alpha val="40000"/>
              </a:srgbClr>
            </a:solidFill>
          </a:ln>
        </p:spPr>
      </p:cxnSp>
      <p:sp>
        <p:nvSpPr>
          <p:cNvPr id="143" name="Motif 143"/>
          <p:cNvSpPr/>
          <p:nvPr/>
        </p:nvSpPr>
        <p:spPr>
          <a:xfrm>
            <a:off x="7452360" y="554126"/>
            <a:ext cx="98755" cy="98755"/>
          </a:xfrm>
          <a:prstGeom prst="ellipse">
            <a:avLst/>
          </a:prstGeom>
          <a:solidFill>
            <a:srgbClr val="1FA2A6">
              <a:alpha val="85000"/>
            </a:srgbClr>
          </a:solidFill>
          <a:ln>
            <a:noFill/>
          </a:ln>
        </p:spPr>
      </p:sp>
      <p:sp>
        <p:nvSpPr>
          <p:cNvPr id="144" name="Motif 144"/>
          <p:cNvSpPr/>
          <p:nvPr/>
        </p:nvSpPr>
        <p:spPr>
          <a:xfrm>
            <a:off x="7784287" y="301752"/>
            <a:ext cx="76810" cy="76810"/>
          </a:xfrm>
          <a:prstGeom prst="ellipse">
            <a:avLst/>
          </a:prstGeom>
          <a:solidFill>
            <a:srgbClr val="0B1F33">
              <a:alpha val="85000"/>
            </a:srgbClr>
          </a:solidFill>
          <a:ln>
            <a:noFill/>
          </a:ln>
        </p:spPr>
      </p:sp>
      <p:sp>
        <p:nvSpPr>
          <p:cNvPr id="145" name="Motif 145"/>
          <p:cNvSpPr/>
          <p:nvPr/>
        </p:nvSpPr>
        <p:spPr>
          <a:xfrm>
            <a:off x="7863840" y="713232"/>
            <a:ext cx="65837" cy="65837"/>
          </a:xfrm>
          <a:prstGeom prst="ellipse">
            <a:avLst/>
          </a:prstGeom>
          <a:solidFill>
            <a:srgbClr val="0B1F33">
              <a:alpha val="85000"/>
            </a:srgbClr>
          </a:solidFill>
          <a:ln>
            <a:noFill/>
          </a:ln>
        </p:spPr>
      </p:sp>
      <p:sp>
        <p:nvSpPr>
          <p:cNvPr id="146" name="Motif 146"/>
          <p:cNvSpPr/>
          <p:nvPr/>
        </p:nvSpPr>
        <p:spPr>
          <a:xfrm>
            <a:off x="8124444" y="458114"/>
            <a:ext cx="137160" cy="137160"/>
          </a:xfrm>
          <a:prstGeom prst="ellipse">
            <a:avLst/>
          </a:prstGeom>
          <a:solidFill>
            <a:srgbClr val="E63946">
              <a:alpha val="85000"/>
            </a:srgbClr>
          </a:solidFill>
          <a:ln>
            <a:noFill/>
          </a:ln>
        </p:spPr>
      </p:sp>
      <p:sp>
        <p:nvSpPr>
          <p:cNvPr id="147" name="Motif 147"/>
          <p:cNvSpPr/>
          <p:nvPr/>
        </p:nvSpPr>
        <p:spPr>
          <a:xfrm>
            <a:off x="8448142" y="277063"/>
            <a:ext cx="82296" cy="82296"/>
          </a:xfrm>
          <a:prstGeom prst="ellipse">
            <a:avLst/>
          </a:prstGeom>
          <a:solidFill>
            <a:srgbClr val="1FA2A6">
              <a:alpha val="85000"/>
            </a:srgbClr>
          </a:solidFill>
          <a:ln>
            <a:noFill/>
          </a:ln>
        </p:spPr>
      </p:sp>
      <p:sp>
        <p:nvSpPr>
          <p:cNvPr id="148" name="Motif 14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Objectives</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5 / 20</a:t>
            </a:r>
            <a:endParaRPr lang="en-US" sz="900" dirty="0"/>
          </a:p>
        </p:txBody>
      </p:sp>
      <p:sp>
        <p:nvSpPr>
          <p:cNvPr id="6" name="Shape 3"/>
          <p:cNvSpPr/>
          <p:nvPr/>
        </p:nvSpPr>
        <p:spPr>
          <a:xfrm>
            <a:off x="457200" y="1097280"/>
            <a:ext cx="2606040" cy="1600200"/>
          </a:xfrm>
          <a:prstGeom prst="roundRect">
            <a:avLst>
              <a:gd name="adj" fmla="val 4571"/>
            </a:avLst>
          </a:prstGeom>
          <a:solidFill>
            <a:srgbClr val="F2F6F9"/>
          </a:solidFill>
          <a:ln w="12700">
            <a:solidFill>
              <a:srgbClr val="F2F6F9"/>
            </a:solidFill>
            <a:prstDash val="solid"/>
          </a:ln>
        </p:spPr>
      </p:sp>
      <p:sp>
        <p:nvSpPr>
          <p:cNvPr id="7" name="Shape 4"/>
          <p:cNvSpPr/>
          <p:nvPr/>
        </p:nvSpPr>
        <p:spPr>
          <a:xfrm>
            <a:off x="640080" y="1280160"/>
            <a:ext cx="384048" cy="384048"/>
          </a:xfrm>
          <a:prstGeom prst="ellipse">
            <a:avLst/>
          </a:prstGeom>
          <a:solidFill>
            <a:srgbClr val="0B1F33"/>
          </a:solidFill>
          <a:ln w="12700">
            <a:solidFill>
              <a:srgbClr val="0B1F33"/>
            </a:solidFill>
            <a:prstDash val="solid"/>
          </a:ln>
        </p:spPr>
      </p:sp>
      <p:sp>
        <p:nvSpPr>
          <p:cNvPr id="8" name="Text 5"/>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640080" y="175564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Complete pipeline</a:t>
            </a:r>
            <a:endParaRPr lang="en-US" sz="1600" dirty="0"/>
          </a:p>
        </p:txBody>
      </p:sp>
      <p:sp>
        <p:nvSpPr>
          <p:cNvPr id="10" name="Text 7"/>
          <p:cNvSpPr txBox="1"/>
          <p:nvPr/>
        </p:nvSpPr>
        <p:spPr>
          <a:xfrm>
            <a:off x="640080" y="210312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Collect, parse, store, detect, alert and visualise</a:t>
            </a:r>
            <a:endParaRPr lang="en-US" sz="1300" dirty="0"/>
          </a:p>
        </p:txBody>
      </p:sp>
      <p:sp>
        <p:nvSpPr>
          <p:cNvPr id="11" name="Shape 8"/>
          <p:cNvSpPr/>
          <p:nvPr/>
        </p:nvSpPr>
        <p:spPr>
          <a:xfrm>
            <a:off x="3246120" y="1097280"/>
            <a:ext cx="2606040" cy="1600200"/>
          </a:xfrm>
          <a:prstGeom prst="roundRect">
            <a:avLst>
              <a:gd name="adj" fmla="val 4571"/>
            </a:avLst>
          </a:prstGeom>
          <a:solidFill>
            <a:srgbClr val="F2F6F9"/>
          </a:solidFill>
          <a:ln w="12700">
            <a:solidFill>
              <a:srgbClr val="F2F6F9"/>
            </a:solidFill>
            <a:prstDash val="solid"/>
          </a:ln>
        </p:spPr>
      </p:sp>
      <p:sp>
        <p:nvSpPr>
          <p:cNvPr id="12" name="Shape 9"/>
          <p:cNvSpPr/>
          <p:nvPr/>
        </p:nvSpPr>
        <p:spPr>
          <a:xfrm>
            <a:off x="3429000" y="1280160"/>
            <a:ext cx="384048" cy="384048"/>
          </a:xfrm>
          <a:prstGeom prst="ellipse">
            <a:avLst/>
          </a:prstGeom>
          <a:solidFill>
            <a:srgbClr val="1FA2A6"/>
          </a:solidFill>
          <a:ln w="12700">
            <a:solidFill>
              <a:srgbClr val="1FA2A6"/>
            </a:solidFill>
            <a:prstDash val="solid"/>
          </a:ln>
        </p:spPr>
      </p:sp>
      <p:sp>
        <p:nvSpPr>
          <p:cNvPr id="13" name="Text 10"/>
          <p:cNvSpPr txBox="1"/>
          <p:nvPr/>
        </p:nvSpPr>
        <p:spPr>
          <a:xfrm>
            <a:off x="34290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3429000" y="175564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Real attack detection</a:t>
            </a:r>
            <a:endParaRPr lang="en-US" sz="1600" dirty="0"/>
          </a:p>
        </p:txBody>
      </p:sp>
      <p:sp>
        <p:nvSpPr>
          <p:cNvPr id="15" name="Text 12"/>
          <p:cNvSpPr txBox="1"/>
          <p:nvPr/>
        </p:nvSpPr>
        <p:spPr>
          <a:xfrm>
            <a:off x="3429000" y="210312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Brute force, credential compromise and XSS</a:t>
            </a:r>
            <a:endParaRPr lang="en-US" sz="1300" dirty="0"/>
          </a:p>
        </p:txBody>
      </p:sp>
      <p:sp>
        <p:nvSpPr>
          <p:cNvPr id="16" name="Shape 13"/>
          <p:cNvSpPr/>
          <p:nvPr/>
        </p:nvSpPr>
        <p:spPr>
          <a:xfrm>
            <a:off x="6035040" y="1097280"/>
            <a:ext cx="2606040" cy="1600200"/>
          </a:xfrm>
          <a:prstGeom prst="roundRect">
            <a:avLst>
              <a:gd name="adj" fmla="val 4571"/>
            </a:avLst>
          </a:prstGeom>
          <a:solidFill>
            <a:srgbClr val="F2F6F9"/>
          </a:solidFill>
          <a:ln w="12700">
            <a:solidFill>
              <a:srgbClr val="F2F6F9"/>
            </a:solidFill>
            <a:prstDash val="solid"/>
          </a:ln>
        </p:spPr>
      </p:sp>
      <p:sp>
        <p:nvSpPr>
          <p:cNvPr id="17" name="Shape 14"/>
          <p:cNvSpPr/>
          <p:nvPr/>
        </p:nvSpPr>
        <p:spPr>
          <a:xfrm>
            <a:off x="6217920" y="1280160"/>
            <a:ext cx="384048" cy="384048"/>
          </a:xfrm>
          <a:prstGeom prst="ellipse">
            <a:avLst/>
          </a:prstGeom>
          <a:solidFill>
            <a:srgbClr val="0B1F33"/>
          </a:solidFill>
          <a:ln w="12700">
            <a:solidFill>
              <a:srgbClr val="0B1F33"/>
            </a:solidFill>
            <a:prstDash val="solid"/>
          </a:ln>
        </p:spPr>
      </p:sp>
      <p:sp>
        <p:nvSpPr>
          <p:cNvPr id="18" name="Text 15"/>
          <p:cNvSpPr txBox="1"/>
          <p:nvPr/>
        </p:nvSpPr>
        <p:spPr>
          <a:xfrm>
            <a:off x="621792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6217920" y="175564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Honest mapping</a:t>
            </a:r>
            <a:endParaRPr lang="en-US" sz="1600" dirty="0"/>
          </a:p>
        </p:txBody>
      </p:sp>
      <p:sp>
        <p:nvSpPr>
          <p:cNvPr id="20" name="Text 17"/>
          <p:cNvSpPr txBox="1"/>
          <p:nvPr/>
        </p:nvSpPr>
        <p:spPr>
          <a:xfrm>
            <a:off x="6217920" y="210312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MITRE ATT&amp;CK and OWASP / CWE</a:t>
            </a:r>
            <a:endParaRPr lang="en-US" sz="1300" dirty="0"/>
          </a:p>
        </p:txBody>
      </p:sp>
      <p:sp>
        <p:nvSpPr>
          <p:cNvPr id="21" name="Shape 18"/>
          <p:cNvSpPr/>
          <p:nvPr/>
        </p:nvSpPr>
        <p:spPr>
          <a:xfrm>
            <a:off x="457200" y="2880360"/>
            <a:ext cx="2606040" cy="1600200"/>
          </a:xfrm>
          <a:prstGeom prst="roundRect">
            <a:avLst>
              <a:gd name="adj" fmla="val 4571"/>
            </a:avLst>
          </a:prstGeom>
          <a:solidFill>
            <a:srgbClr val="F2F6F9"/>
          </a:solidFill>
          <a:ln w="12700">
            <a:solidFill>
              <a:srgbClr val="F2F6F9"/>
            </a:solidFill>
            <a:prstDash val="solid"/>
          </a:ln>
        </p:spPr>
      </p:sp>
      <p:sp>
        <p:nvSpPr>
          <p:cNvPr id="22" name="Shape 19"/>
          <p:cNvSpPr/>
          <p:nvPr/>
        </p:nvSpPr>
        <p:spPr>
          <a:xfrm>
            <a:off x="640080" y="3063240"/>
            <a:ext cx="384048" cy="384048"/>
          </a:xfrm>
          <a:prstGeom prst="ellipse">
            <a:avLst/>
          </a:prstGeom>
          <a:solidFill>
            <a:srgbClr val="1FA2A6"/>
          </a:solidFill>
          <a:ln w="12700">
            <a:solidFill>
              <a:srgbClr val="1FA2A6"/>
            </a:solidFill>
            <a:prstDash val="solid"/>
          </a:ln>
        </p:spPr>
      </p:sp>
      <p:sp>
        <p:nvSpPr>
          <p:cNvPr id="23" name="Text 20"/>
          <p:cNvSpPr txBox="1"/>
          <p:nvPr/>
        </p:nvSpPr>
        <p:spPr>
          <a:xfrm>
            <a:off x="64008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40080" y="353872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Clear dashboards</a:t>
            </a:r>
            <a:endParaRPr lang="en-US" sz="1600" dirty="0"/>
          </a:p>
        </p:txBody>
      </p:sp>
      <p:sp>
        <p:nvSpPr>
          <p:cNvPr id="25" name="Text 22"/>
          <p:cNvSpPr txBox="1"/>
          <p:nvPr/>
        </p:nvSpPr>
        <p:spPr>
          <a:xfrm>
            <a:off x="640080" y="388620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Role-based admin and viewer views</a:t>
            </a:r>
            <a:endParaRPr lang="en-US" sz="1300" dirty="0"/>
          </a:p>
        </p:txBody>
      </p:sp>
      <p:sp>
        <p:nvSpPr>
          <p:cNvPr id="26" name="Shape 23"/>
          <p:cNvSpPr/>
          <p:nvPr/>
        </p:nvSpPr>
        <p:spPr>
          <a:xfrm>
            <a:off x="3246120" y="2880360"/>
            <a:ext cx="2606040" cy="1600200"/>
          </a:xfrm>
          <a:prstGeom prst="roundRect">
            <a:avLst>
              <a:gd name="adj" fmla="val 4571"/>
            </a:avLst>
          </a:prstGeom>
          <a:solidFill>
            <a:srgbClr val="F2F6F9"/>
          </a:solidFill>
          <a:ln w="12700">
            <a:solidFill>
              <a:srgbClr val="F2F6F9"/>
            </a:solidFill>
            <a:prstDash val="solid"/>
          </a:ln>
        </p:spPr>
      </p:sp>
      <p:sp>
        <p:nvSpPr>
          <p:cNvPr id="27" name="Shape 24"/>
          <p:cNvSpPr/>
          <p:nvPr/>
        </p:nvSpPr>
        <p:spPr>
          <a:xfrm>
            <a:off x="3429000" y="3063240"/>
            <a:ext cx="384048" cy="384048"/>
          </a:xfrm>
          <a:prstGeom prst="ellipse">
            <a:avLst/>
          </a:prstGeom>
          <a:solidFill>
            <a:srgbClr val="0B1F33"/>
          </a:solidFill>
          <a:ln w="12700">
            <a:solidFill>
              <a:srgbClr val="0B1F33"/>
            </a:solidFill>
            <a:prstDash val="solid"/>
          </a:ln>
        </p:spPr>
      </p:sp>
      <p:sp>
        <p:nvSpPr>
          <p:cNvPr id="28" name="Text 25"/>
          <p:cNvSpPr txBox="1"/>
          <p:nvPr/>
        </p:nvSpPr>
        <p:spPr>
          <a:xfrm>
            <a:off x="342900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txBox="1"/>
          <p:nvPr/>
        </p:nvSpPr>
        <p:spPr>
          <a:xfrm>
            <a:off x="3429000" y="353872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Explainable rules</a:t>
            </a:r>
            <a:endParaRPr lang="en-US" sz="1600" dirty="0"/>
          </a:p>
        </p:txBody>
      </p:sp>
      <p:sp>
        <p:nvSpPr>
          <p:cNvPr id="30" name="Text 27"/>
          <p:cNvSpPr txBox="1"/>
          <p:nvPr/>
        </p:nvSpPr>
        <p:spPr>
          <a:xfrm>
            <a:off x="3429000" y="388620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Small rules that are easy to extend</a:t>
            </a:r>
            <a:endParaRPr lang="en-US" sz="1300" dirty="0"/>
          </a:p>
        </p:txBody>
      </p:sp>
      <p:sp>
        <p:nvSpPr>
          <p:cNvPr id="31" name="Shape 28"/>
          <p:cNvSpPr/>
          <p:nvPr/>
        </p:nvSpPr>
        <p:spPr>
          <a:xfrm>
            <a:off x="6035040" y="2880360"/>
            <a:ext cx="2606040" cy="1600200"/>
          </a:xfrm>
          <a:prstGeom prst="roundRect">
            <a:avLst>
              <a:gd name="adj" fmla="val 4571"/>
            </a:avLst>
          </a:prstGeom>
          <a:solidFill>
            <a:srgbClr val="F2F6F9"/>
          </a:solidFill>
          <a:ln w="12700">
            <a:solidFill>
              <a:srgbClr val="F2F6F9"/>
            </a:solidFill>
            <a:prstDash val="solid"/>
          </a:ln>
        </p:spPr>
      </p:sp>
      <p:sp>
        <p:nvSpPr>
          <p:cNvPr id="32" name="Shape 29"/>
          <p:cNvSpPr/>
          <p:nvPr/>
        </p:nvSpPr>
        <p:spPr>
          <a:xfrm>
            <a:off x="6217920" y="3063240"/>
            <a:ext cx="384048" cy="384048"/>
          </a:xfrm>
          <a:prstGeom prst="ellipse">
            <a:avLst/>
          </a:prstGeom>
          <a:solidFill>
            <a:srgbClr val="1FA2A6"/>
          </a:solidFill>
          <a:ln w="12700">
            <a:solidFill>
              <a:srgbClr val="1FA2A6"/>
            </a:solidFill>
            <a:prstDash val="solid"/>
          </a:ln>
        </p:spPr>
      </p:sp>
      <p:sp>
        <p:nvSpPr>
          <p:cNvPr id="33" name="Text 30"/>
          <p:cNvSpPr txBox="1"/>
          <p:nvPr/>
        </p:nvSpPr>
        <p:spPr>
          <a:xfrm>
            <a:off x="621792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1"/>
          <p:cNvSpPr txBox="1"/>
          <p:nvPr/>
        </p:nvSpPr>
        <p:spPr>
          <a:xfrm>
            <a:off x="6217920" y="3538728"/>
            <a:ext cx="228600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Easy deployment</a:t>
            </a:r>
            <a:endParaRPr lang="en-US" sz="1600" dirty="0"/>
          </a:p>
        </p:txBody>
      </p:sp>
      <p:sp>
        <p:nvSpPr>
          <p:cNvPr id="35" name="Text 32"/>
          <p:cNvSpPr txBox="1"/>
          <p:nvPr/>
        </p:nvSpPr>
        <p:spPr>
          <a:xfrm>
            <a:off x="6217920" y="3886200"/>
            <a:ext cx="2286000" cy="50292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Single Docker Compose command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cxnSp>
        <p:nvCxnSpPr>
          <p:cNvPr id="110" name="Motif 110"/>
          <p:cNvCxnSpPr/>
          <p:nvPr/>
        </p:nvCxnSpPr>
        <p:spPr>
          <a:xfrm flipV="1">
            <a:off x="7501738" y="340157"/>
            <a:ext cx="320954" cy="263347"/>
          </a:xfrm>
          <a:prstGeom prst="line">
            <a:avLst/>
          </a:prstGeom>
          <a:ln w="9525">
            <a:solidFill>
              <a:srgbClr val="0B1F33">
                <a:alpha val="40000"/>
              </a:srgbClr>
            </a:solidFill>
          </a:ln>
        </p:spPr>
      </p:cxnSp>
      <p:cxnSp>
        <p:nvCxnSpPr>
          <p:cNvPr id="111" name="Motif 111"/>
          <p:cNvCxnSpPr/>
          <p:nvPr/>
        </p:nvCxnSpPr>
        <p:spPr>
          <a:xfrm>
            <a:off x="7501738" y="603504"/>
            <a:ext cx="395021" cy="142646"/>
          </a:xfrm>
          <a:prstGeom prst="line">
            <a:avLst/>
          </a:prstGeom>
          <a:ln w="9525">
            <a:solidFill>
              <a:srgbClr val="0B1F33">
                <a:alpha val="40000"/>
              </a:srgbClr>
            </a:solidFill>
          </a:ln>
        </p:spPr>
      </p:cxnSp>
      <p:cxnSp>
        <p:nvCxnSpPr>
          <p:cNvPr id="112" name="Motif 112"/>
          <p:cNvCxnSpPr/>
          <p:nvPr/>
        </p:nvCxnSpPr>
        <p:spPr>
          <a:xfrm>
            <a:off x="7822692" y="340157"/>
            <a:ext cx="370332" cy="186538"/>
          </a:xfrm>
          <a:prstGeom prst="line">
            <a:avLst/>
          </a:prstGeom>
          <a:ln w="9525">
            <a:solidFill>
              <a:srgbClr val="0B1F33">
                <a:alpha val="40000"/>
              </a:srgbClr>
            </a:solidFill>
          </a:ln>
        </p:spPr>
      </p:cxnSp>
      <p:cxnSp>
        <p:nvCxnSpPr>
          <p:cNvPr id="113" name="Motif 113"/>
          <p:cNvCxnSpPr/>
          <p:nvPr/>
        </p:nvCxnSpPr>
        <p:spPr>
          <a:xfrm flipV="1">
            <a:off x="7896758" y="526694"/>
            <a:ext cx="296266" cy="219456"/>
          </a:xfrm>
          <a:prstGeom prst="line">
            <a:avLst/>
          </a:prstGeom>
          <a:ln w="9525">
            <a:solidFill>
              <a:srgbClr val="0B1F33">
                <a:alpha val="40000"/>
              </a:srgbClr>
            </a:solidFill>
          </a:ln>
        </p:spPr>
      </p:cxnSp>
      <p:cxnSp>
        <p:nvCxnSpPr>
          <p:cNvPr id="114" name="Motif 114"/>
          <p:cNvCxnSpPr/>
          <p:nvPr/>
        </p:nvCxnSpPr>
        <p:spPr>
          <a:xfrm flipV="1">
            <a:off x="8193024" y="318211"/>
            <a:ext cx="296266" cy="208483"/>
          </a:xfrm>
          <a:prstGeom prst="line">
            <a:avLst/>
          </a:prstGeom>
          <a:ln w="9525">
            <a:solidFill>
              <a:srgbClr val="0B1F33">
                <a:alpha val="40000"/>
              </a:srgbClr>
            </a:solidFill>
          </a:ln>
        </p:spPr>
      </p:cxnSp>
      <p:cxnSp>
        <p:nvCxnSpPr>
          <p:cNvPr id="115" name="Motif 115"/>
          <p:cNvCxnSpPr/>
          <p:nvPr/>
        </p:nvCxnSpPr>
        <p:spPr>
          <a:xfrm>
            <a:off x="8193024" y="526694"/>
            <a:ext cx="456743" cy="142646"/>
          </a:xfrm>
          <a:prstGeom prst="line">
            <a:avLst/>
          </a:prstGeom>
          <a:ln w="9525">
            <a:solidFill>
              <a:srgbClr val="0B1F33">
                <a:alpha val="40000"/>
              </a:srgbClr>
            </a:solidFill>
          </a:ln>
        </p:spPr>
      </p:cxnSp>
      <p:cxnSp>
        <p:nvCxnSpPr>
          <p:cNvPr id="116" name="Motif 116"/>
          <p:cNvCxnSpPr/>
          <p:nvPr/>
        </p:nvCxnSpPr>
        <p:spPr>
          <a:xfrm>
            <a:off x="8489290" y="318211"/>
            <a:ext cx="160477" cy="351130"/>
          </a:xfrm>
          <a:prstGeom prst="line">
            <a:avLst/>
          </a:prstGeom>
          <a:ln w="9525">
            <a:solidFill>
              <a:srgbClr val="0B1F33">
                <a:alpha val="40000"/>
              </a:srgbClr>
            </a:solidFill>
          </a:ln>
        </p:spPr>
      </p:cxnSp>
      <p:sp>
        <p:nvSpPr>
          <p:cNvPr id="117" name="Motif 117"/>
          <p:cNvSpPr/>
          <p:nvPr/>
        </p:nvSpPr>
        <p:spPr>
          <a:xfrm>
            <a:off x="7452360" y="554126"/>
            <a:ext cx="98755" cy="98755"/>
          </a:xfrm>
          <a:prstGeom prst="ellipse">
            <a:avLst/>
          </a:prstGeom>
          <a:solidFill>
            <a:srgbClr val="1FA2A6">
              <a:alpha val="85000"/>
            </a:srgbClr>
          </a:solidFill>
          <a:ln>
            <a:noFill/>
          </a:ln>
        </p:spPr>
      </p:sp>
      <p:sp>
        <p:nvSpPr>
          <p:cNvPr id="118" name="Motif 118"/>
          <p:cNvSpPr/>
          <p:nvPr/>
        </p:nvSpPr>
        <p:spPr>
          <a:xfrm>
            <a:off x="7784287" y="301752"/>
            <a:ext cx="76810" cy="76810"/>
          </a:xfrm>
          <a:prstGeom prst="ellipse">
            <a:avLst/>
          </a:prstGeom>
          <a:solidFill>
            <a:srgbClr val="0B1F33">
              <a:alpha val="85000"/>
            </a:srgbClr>
          </a:solidFill>
          <a:ln>
            <a:noFill/>
          </a:ln>
        </p:spPr>
      </p:sp>
      <p:sp>
        <p:nvSpPr>
          <p:cNvPr id="119" name="Motif 119"/>
          <p:cNvSpPr/>
          <p:nvPr/>
        </p:nvSpPr>
        <p:spPr>
          <a:xfrm>
            <a:off x="7863840" y="713232"/>
            <a:ext cx="65837" cy="65837"/>
          </a:xfrm>
          <a:prstGeom prst="ellipse">
            <a:avLst/>
          </a:prstGeom>
          <a:solidFill>
            <a:srgbClr val="0B1F33">
              <a:alpha val="85000"/>
            </a:srgbClr>
          </a:solidFill>
          <a:ln>
            <a:noFill/>
          </a:ln>
        </p:spPr>
      </p:sp>
      <p:sp>
        <p:nvSpPr>
          <p:cNvPr id="120" name="Motif 120"/>
          <p:cNvSpPr/>
          <p:nvPr/>
        </p:nvSpPr>
        <p:spPr>
          <a:xfrm>
            <a:off x="8124444" y="458114"/>
            <a:ext cx="137160" cy="137160"/>
          </a:xfrm>
          <a:prstGeom prst="ellipse">
            <a:avLst/>
          </a:prstGeom>
          <a:solidFill>
            <a:srgbClr val="E63946">
              <a:alpha val="85000"/>
            </a:srgbClr>
          </a:solidFill>
          <a:ln>
            <a:noFill/>
          </a:ln>
        </p:spPr>
      </p:sp>
      <p:sp>
        <p:nvSpPr>
          <p:cNvPr id="121" name="Motif 121"/>
          <p:cNvSpPr/>
          <p:nvPr/>
        </p:nvSpPr>
        <p:spPr>
          <a:xfrm>
            <a:off x="8448142" y="277063"/>
            <a:ext cx="82296" cy="82296"/>
          </a:xfrm>
          <a:prstGeom prst="ellipse">
            <a:avLst/>
          </a:prstGeom>
          <a:solidFill>
            <a:srgbClr val="1FA2A6">
              <a:alpha val="85000"/>
            </a:srgbClr>
          </a:solidFill>
          <a:ln>
            <a:noFill/>
          </a:ln>
        </p:spPr>
      </p:sp>
      <p:sp>
        <p:nvSpPr>
          <p:cNvPr id="122" name="Motif 122"/>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Scope of the System</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 / 20</a:t>
            </a:r>
            <a:endParaRPr lang="en-US" sz="900" dirty="0"/>
          </a:p>
        </p:txBody>
      </p:sp>
      <p:sp>
        <p:nvSpPr>
          <p:cNvPr id="6" name="Text 3"/>
          <p:cNvSpPr txBox="1"/>
          <p:nvPr/>
        </p:nvSpPr>
        <p:spPr>
          <a:xfrm>
            <a:off x="457200" y="1005840"/>
            <a:ext cx="3931920" cy="411480"/>
          </a:xfrm>
          <a:prstGeom prst="rect">
            <a:avLst/>
          </a:prstGeom>
          <a:noFill/>
          <a:ln/>
        </p:spPr>
        <p:txBody>
          <a:bodyPr wrap="square" lIns="0" tIns="0" rIns="0" bIns="0" rtlCol="0" anchor="ctr"/>
          <a:lstStyle/>
          <a:p>
            <a:pPr indent="0" marL="0">
              <a:buNone/>
            </a:pPr>
            <a:r>
              <a:rPr lang="en-US" sz="2000" b="1" dirty="0">
                <a:solidFill>
                  <a:srgbClr val="1FA2A6"/>
                </a:solidFill>
                <a:latin typeface="Cambria" pitchFamily="34" charset="0"/>
                <a:ea typeface="Cambria" pitchFamily="34" charset="-122"/>
                <a:cs typeface="Cambria" pitchFamily="34" charset="-120"/>
              </a:rPr>
              <a:t>In Scope</a:t>
            </a:r>
            <a:endParaRPr lang="en-US" sz="2000" dirty="0"/>
          </a:p>
        </p:txBody>
      </p:sp>
      <p:sp>
        <p:nvSpPr>
          <p:cNvPr id="7" name="Text 4"/>
          <p:cNvSpPr txBox="1"/>
          <p:nvPr/>
        </p:nvSpPr>
        <p:spPr>
          <a:xfrm>
            <a:off x="457200" y="1463040"/>
            <a:ext cx="3931920" cy="3108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Multi-source log collection and parsing</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Central storage and search in OpenSearch</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Threshold, correlation and signature rules</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MITRE ATT&amp;CK / OWASP mapping</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Live admin and viewer dashboards</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Session login with role-based access</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Safe demo website as attack target</a:t>
            </a:r>
            <a:endParaRPr lang="en-US" sz="1400" dirty="0"/>
          </a:p>
        </p:txBody>
      </p:sp>
      <p:sp>
        <p:nvSpPr>
          <p:cNvPr id="8" name="Text 5"/>
          <p:cNvSpPr txBox="1"/>
          <p:nvPr/>
        </p:nvSpPr>
        <p:spPr>
          <a:xfrm>
            <a:off x="4754880" y="1005840"/>
            <a:ext cx="3931920" cy="41148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Out of Scope</a:t>
            </a:r>
            <a:endParaRPr lang="en-US" sz="2000" dirty="0"/>
          </a:p>
        </p:txBody>
      </p:sp>
      <p:sp>
        <p:nvSpPr>
          <p:cNvPr id="9" name="Text 6"/>
          <p:cNvSpPr txBox="1"/>
          <p:nvPr/>
        </p:nvSpPr>
        <p:spPr>
          <a:xfrm>
            <a:off x="4754880" y="1463040"/>
            <a:ext cx="3931920" cy="3108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Machine-learning / anomaly detection</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Multi-node or cloud deployment</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Automatic blocking of attackers</a:t>
            </a:r>
            <a:endParaRPr lang="en-US" sz="1400" dirty="0"/>
          </a:p>
          <a:p>
            <a:pPr marL="177800" indent="-1778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Windows, firewall and packet logs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cxnSp>
        <p:nvCxnSpPr>
          <p:cNvPr id="138" name="Motif 138"/>
          <p:cNvCxnSpPr/>
          <p:nvPr/>
        </p:nvCxnSpPr>
        <p:spPr>
          <a:xfrm flipV="1">
            <a:off x="7501738" y="340157"/>
            <a:ext cx="320954" cy="263347"/>
          </a:xfrm>
          <a:prstGeom prst="line">
            <a:avLst/>
          </a:prstGeom>
          <a:ln w="9525">
            <a:solidFill>
              <a:srgbClr val="0B1F33">
                <a:alpha val="40000"/>
              </a:srgbClr>
            </a:solidFill>
          </a:ln>
        </p:spPr>
      </p:cxnSp>
      <p:cxnSp>
        <p:nvCxnSpPr>
          <p:cNvPr id="139" name="Motif 139"/>
          <p:cNvCxnSpPr/>
          <p:nvPr/>
        </p:nvCxnSpPr>
        <p:spPr>
          <a:xfrm>
            <a:off x="7501738" y="603504"/>
            <a:ext cx="395021" cy="142646"/>
          </a:xfrm>
          <a:prstGeom prst="line">
            <a:avLst/>
          </a:prstGeom>
          <a:ln w="9525">
            <a:solidFill>
              <a:srgbClr val="0B1F33">
                <a:alpha val="40000"/>
              </a:srgbClr>
            </a:solidFill>
          </a:ln>
        </p:spPr>
      </p:cxnSp>
      <p:cxnSp>
        <p:nvCxnSpPr>
          <p:cNvPr id="140" name="Motif 140"/>
          <p:cNvCxnSpPr/>
          <p:nvPr/>
        </p:nvCxnSpPr>
        <p:spPr>
          <a:xfrm>
            <a:off x="7822692" y="340157"/>
            <a:ext cx="370332" cy="186538"/>
          </a:xfrm>
          <a:prstGeom prst="line">
            <a:avLst/>
          </a:prstGeom>
          <a:ln w="9525">
            <a:solidFill>
              <a:srgbClr val="0B1F33">
                <a:alpha val="40000"/>
              </a:srgbClr>
            </a:solidFill>
          </a:ln>
        </p:spPr>
      </p:cxnSp>
      <p:cxnSp>
        <p:nvCxnSpPr>
          <p:cNvPr id="141" name="Motif 141"/>
          <p:cNvCxnSpPr/>
          <p:nvPr/>
        </p:nvCxnSpPr>
        <p:spPr>
          <a:xfrm flipV="1">
            <a:off x="7896758" y="526694"/>
            <a:ext cx="296266" cy="219456"/>
          </a:xfrm>
          <a:prstGeom prst="line">
            <a:avLst/>
          </a:prstGeom>
          <a:ln w="9525">
            <a:solidFill>
              <a:srgbClr val="0B1F33">
                <a:alpha val="40000"/>
              </a:srgbClr>
            </a:solidFill>
          </a:ln>
        </p:spPr>
      </p:cxnSp>
      <p:cxnSp>
        <p:nvCxnSpPr>
          <p:cNvPr id="142" name="Motif 142"/>
          <p:cNvCxnSpPr/>
          <p:nvPr/>
        </p:nvCxnSpPr>
        <p:spPr>
          <a:xfrm flipV="1">
            <a:off x="8193024" y="318211"/>
            <a:ext cx="296266" cy="208483"/>
          </a:xfrm>
          <a:prstGeom prst="line">
            <a:avLst/>
          </a:prstGeom>
          <a:ln w="9525">
            <a:solidFill>
              <a:srgbClr val="0B1F33">
                <a:alpha val="40000"/>
              </a:srgbClr>
            </a:solidFill>
          </a:ln>
        </p:spPr>
      </p:cxnSp>
      <p:cxnSp>
        <p:nvCxnSpPr>
          <p:cNvPr id="143" name="Motif 143"/>
          <p:cNvCxnSpPr/>
          <p:nvPr/>
        </p:nvCxnSpPr>
        <p:spPr>
          <a:xfrm>
            <a:off x="8193024" y="526694"/>
            <a:ext cx="456743" cy="142646"/>
          </a:xfrm>
          <a:prstGeom prst="line">
            <a:avLst/>
          </a:prstGeom>
          <a:ln w="9525">
            <a:solidFill>
              <a:srgbClr val="0B1F33">
                <a:alpha val="40000"/>
              </a:srgbClr>
            </a:solidFill>
          </a:ln>
        </p:spPr>
      </p:cxnSp>
      <p:cxnSp>
        <p:nvCxnSpPr>
          <p:cNvPr id="144" name="Motif 144"/>
          <p:cNvCxnSpPr/>
          <p:nvPr/>
        </p:nvCxnSpPr>
        <p:spPr>
          <a:xfrm>
            <a:off x="8489290" y="318211"/>
            <a:ext cx="160477" cy="351130"/>
          </a:xfrm>
          <a:prstGeom prst="line">
            <a:avLst/>
          </a:prstGeom>
          <a:ln w="9525">
            <a:solidFill>
              <a:srgbClr val="0B1F33">
                <a:alpha val="40000"/>
              </a:srgbClr>
            </a:solidFill>
          </a:ln>
        </p:spPr>
      </p:cxnSp>
      <p:sp>
        <p:nvSpPr>
          <p:cNvPr id="145" name="Motif 145"/>
          <p:cNvSpPr/>
          <p:nvPr/>
        </p:nvSpPr>
        <p:spPr>
          <a:xfrm>
            <a:off x="7452360" y="554126"/>
            <a:ext cx="98755" cy="98755"/>
          </a:xfrm>
          <a:prstGeom prst="ellipse">
            <a:avLst/>
          </a:prstGeom>
          <a:solidFill>
            <a:srgbClr val="1FA2A6">
              <a:alpha val="85000"/>
            </a:srgbClr>
          </a:solidFill>
          <a:ln>
            <a:noFill/>
          </a:ln>
        </p:spPr>
      </p:sp>
      <p:sp>
        <p:nvSpPr>
          <p:cNvPr id="146" name="Motif 146"/>
          <p:cNvSpPr/>
          <p:nvPr/>
        </p:nvSpPr>
        <p:spPr>
          <a:xfrm>
            <a:off x="7784287" y="301752"/>
            <a:ext cx="76810" cy="76810"/>
          </a:xfrm>
          <a:prstGeom prst="ellipse">
            <a:avLst/>
          </a:prstGeom>
          <a:solidFill>
            <a:srgbClr val="0B1F33">
              <a:alpha val="85000"/>
            </a:srgbClr>
          </a:solidFill>
          <a:ln>
            <a:noFill/>
          </a:ln>
        </p:spPr>
      </p:sp>
      <p:sp>
        <p:nvSpPr>
          <p:cNvPr id="147" name="Motif 147"/>
          <p:cNvSpPr/>
          <p:nvPr/>
        </p:nvSpPr>
        <p:spPr>
          <a:xfrm>
            <a:off x="7863840" y="713232"/>
            <a:ext cx="65837" cy="65837"/>
          </a:xfrm>
          <a:prstGeom prst="ellipse">
            <a:avLst/>
          </a:prstGeom>
          <a:solidFill>
            <a:srgbClr val="0B1F33">
              <a:alpha val="85000"/>
            </a:srgbClr>
          </a:solidFill>
          <a:ln>
            <a:noFill/>
          </a:ln>
        </p:spPr>
      </p:sp>
      <p:sp>
        <p:nvSpPr>
          <p:cNvPr id="148" name="Motif 148"/>
          <p:cNvSpPr/>
          <p:nvPr/>
        </p:nvSpPr>
        <p:spPr>
          <a:xfrm>
            <a:off x="8124444" y="458114"/>
            <a:ext cx="137160" cy="137160"/>
          </a:xfrm>
          <a:prstGeom prst="ellipse">
            <a:avLst/>
          </a:prstGeom>
          <a:solidFill>
            <a:srgbClr val="E63946">
              <a:alpha val="85000"/>
            </a:srgbClr>
          </a:solidFill>
          <a:ln>
            <a:noFill/>
          </a:ln>
        </p:spPr>
      </p:sp>
      <p:sp>
        <p:nvSpPr>
          <p:cNvPr id="149" name="Motif 149"/>
          <p:cNvSpPr/>
          <p:nvPr/>
        </p:nvSpPr>
        <p:spPr>
          <a:xfrm>
            <a:off x="8448142" y="277063"/>
            <a:ext cx="82296" cy="82296"/>
          </a:xfrm>
          <a:prstGeom prst="ellipse">
            <a:avLst/>
          </a:prstGeom>
          <a:solidFill>
            <a:srgbClr val="1FA2A6">
              <a:alpha val="85000"/>
            </a:srgbClr>
          </a:solidFill>
          <a:ln>
            <a:noFill/>
          </a:ln>
        </p:spPr>
      </p:sp>
      <p:sp>
        <p:nvSpPr>
          <p:cNvPr id="150" name="Motif 150"/>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Technology Stack</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 / 20</a:t>
            </a:r>
            <a:endParaRPr lang="en-US" sz="900" dirty="0"/>
          </a:p>
        </p:txBody>
      </p:sp>
      <p:sp>
        <p:nvSpPr>
          <p:cNvPr id="6" name="Shape 3"/>
          <p:cNvSpPr/>
          <p:nvPr/>
        </p:nvSpPr>
        <p:spPr>
          <a:xfrm>
            <a:off x="457200" y="1051560"/>
            <a:ext cx="4023360" cy="749808"/>
          </a:xfrm>
          <a:prstGeom prst="roundRect">
            <a:avLst>
              <a:gd name="adj" fmla="val 9756"/>
            </a:avLst>
          </a:prstGeom>
          <a:solidFill>
            <a:srgbClr val="F2F6F9"/>
          </a:solidFill>
          <a:ln w="12700">
            <a:solidFill>
              <a:srgbClr val="F2F6F9"/>
            </a:solidFill>
            <a:prstDash val="solid"/>
          </a:ln>
        </p:spPr>
      </p:sp>
      <p:sp>
        <p:nvSpPr>
          <p:cNvPr id="7" name="Shape 4"/>
          <p:cNvSpPr/>
          <p:nvPr/>
        </p:nvSpPr>
        <p:spPr>
          <a:xfrm>
            <a:off x="640080" y="1289304"/>
            <a:ext cx="274320" cy="274320"/>
          </a:xfrm>
          <a:prstGeom prst="ellipse">
            <a:avLst/>
          </a:prstGeom>
          <a:solidFill>
            <a:srgbClr val="1FA2A6"/>
          </a:solidFill>
          <a:ln w="12700">
            <a:solidFill>
              <a:srgbClr val="1FA2A6"/>
            </a:solidFill>
            <a:prstDash val="solid"/>
          </a:ln>
        </p:spPr>
      </p:sp>
      <p:sp>
        <p:nvSpPr>
          <p:cNvPr id="8" name="Text 5"/>
          <p:cNvSpPr txBox="1"/>
          <p:nvPr/>
        </p:nvSpPr>
        <p:spPr>
          <a:xfrm>
            <a:off x="1097280" y="1124712"/>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Collection</a:t>
            </a:r>
            <a:endParaRPr lang="en-US" sz="1300" dirty="0"/>
          </a:p>
        </p:txBody>
      </p:sp>
      <p:sp>
        <p:nvSpPr>
          <p:cNvPr id="9" name="Text 6"/>
          <p:cNvSpPr txBox="1"/>
          <p:nvPr/>
        </p:nvSpPr>
        <p:spPr>
          <a:xfrm>
            <a:off x="1097280" y="1417320"/>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Vector (VRL parsing)</a:t>
            </a:r>
            <a:endParaRPr lang="en-US" sz="1500" dirty="0"/>
          </a:p>
        </p:txBody>
      </p:sp>
      <p:sp>
        <p:nvSpPr>
          <p:cNvPr id="10" name="Shape 7"/>
          <p:cNvSpPr/>
          <p:nvPr/>
        </p:nvSpPr>
        <p:spPr>
          <a:xfrm>
            <a:off x="4663440" y="1051560"/>
            <a:ext cx="4023360" cy="749808"/>
          </a:xfrm>
          <a:prstGeom prst="roundRect">
            <a:avLst>
              <a:gd name="adj" fmla="val 9756"/>
            </a:avLst>
          </a:prstGeom>
          <a:solidFill>
            <a:srgbClr val="F2F6F9"/>
          </a:solidFill>
          <a:ln w="12700">
            <a:solidFill>
              <a:srgbClr val="F2F6F9"/>
            </a:solidFill>
            <a:prstDash val="solid"/>
          </a:ln>
        </p:spPr>
      </p:sp>
      <p:sp>
        <p:nvSpPr>
          <p:cNvPr id="11" name="Shape 8"/>
          <p:cNvSpPr/>
          <p:nvPr/>
        </p:nvSpPr>
        <p:spPr>
          <a:xfrm>
            <a:off x="4846320" y="1289304"/>
            <a:ext cx="274320" cy="274320"/>
          </a:xfrm>
          <a:prstGeom prst="ellipse">
            <a:avLst/>
          </a:prstGeom>
          <a:solidFill>
            <a:srgbClr val="0B1F33"/>
          </a:solidFill>
          <a:ln w="12700">
            <a:solidFill>
              <a:srgbClr val="0B1F33"/>
            </a:solidFill>
            <a:prstDash val="solid"/>
          </a:ln>
        </p:spPr>
      </p:sp>
      <p:sp>
        <p:nvSpPr>
          <p:cNvPr id="12" name="Text 9"/>
          <p:cNvSpPr txBox="1"/>
          <p:nvPr/>
        </p:nvSpPr>
        <p:spPr>
          <a:xfrm>
            <a:off x="5303520" y="1124712"/>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Storage &amp; Search</a:t>
            </a:r>
            <a:endParaRPr lang="en-US" sz="1300" dirty="0"/>
          </a:p>
        </p:txBody>
      </p:sp>
      <p:sp>
        <p:nvSpPr>
          <p:cNvPr id="13" name="Text 10"/>
          <p:cNvSpPr txBox="1"/>
          <p:nvPr/>
        </p:nvSpPr>
        <p:spPr>
          <a:xfrm>
            <a:off x="5303520" y="1417320"/>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OpenSearch</a:t>
            </a:r>
            <a:endParaRPr lang="en-US" sz="1500" dirty="0"/>
          </a:p>
        </p:txBody>
      </p:sp>
      <p:sp>
        <p:nvSpPr>
          <p:cNvPr id="14" name="Shape 11"/>
          <p:cNvSpPr/>
          <p:nvPr/>
        </p:nvSpPr>
        <p:spPr>
          <a:xfrm>
            <a:off x="457200" y="1947672"/>
            <a:ext cx="4023360" cy="749808"/>
          </a:xfrm>
          <a:prstGeom prst="roundRect">
            <a:avLst>
              <a:gd name="adj" fmla="val 9756"/>
            </a:avLst>
          </a:prstGeom>
          <a:solidFill>
            <a:srgbClr val="F2F6F9"/>
          </a:solidFill>
          <a:ln w="12700">
            <a:solidFill>
              <a:srgbClr val="F2F6F9"/>
            </a:solidFill>
            <a:prstDash val="solid"/>
          </a:ln>
        </p:spPr>
      </p:sp>
      <p:sp>
        <p:nvSpPr>
          <p:cNvPr id="15" name="Shape 12"/>
          <p:cNvSpPr/>
          <p:nvPr/>
        </p:nvSpPr>
        <p:spPr>
          <a:xfrm>
            <a:off x="640080" y="2185416"/>
            <a:ext cx="274320" cy="274320"/>
          </a:xfrm>
          <a:prstGeom prst="ellipse">
            <a:avLst/>
          </a:prstGeom>
          <a:solidFill>
            <a:srgbClr val="E63946"/>
          </a:solidFill>
          <a:ln w="12700">
            <a:solidFill>
              <a:srgbClr val="E63946"/>
            </a:solidFill>
            <a:prstDash val="solid"/>
          </a:ln>
        </p:spPr>
      </p:sp>
      <p:sp>
        <p:nvSpPr>
          <p:cNvPr id="16" name="Text 13"/>
          <p:cNvSpPr txBox="1"/>
          <p:nvPr/>
        </p:nvSpPr>
        <p:spPr>
          <a:xfrm>
            <a:off x="1097280" y="2020824"/>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Back End</a:t>
            </a:r>
            <a:endParaRPr lang="en-US" sz="1300" dirty="0"/>
          </a:p>
        </p:txBody>
      </p:sp>
      <p:sp>
        <p:nvSpPr>
          <p:cNvPr id="17" name="Text 14"/>
          <p:cNvSpPr txBox="1"/>
          <p:nvPr/>
        </p:nvSpPr>
        <p:spPr>
          <a:xfrm>
            <a:off x="1097280" y="2313432"/>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Python 3.11, FastAPI, Uvicorn</a:t>
            </a:r>
            <a:endParaRPr lang="en-US" sz="1500" dirty="0"/>
          </a:p>
        </p:txBody>
      </p:sp>
      <p:sp>
        <p:nvSpPr>
          <p:cNvPr id="18" name="Shape 15"/>
          <p:cNvSpPr/>
          <p:nvPr/>
        </p:nvSpPr>
        <p:spPr>
          <a:xfrm>
            <a:off x="4663440" y="1947672"/>
            <a:ext cx="4023360" cy="749808"/>
          </a:xfrm>
          <a:prstGeom prst="roundRect">
            <a:avLst>
              <a:gd name="adj" fmla="val 9756"/>
            </a:avLst>
          </a:prstGeom>
          <a:solidFill>
            <a:srgbClr val="F2F6F9"/>
          </a:solidFill>
          <a:ln w="12700">
            <a:solidFill>
              <a:srgbClr val="F2F6F9"/>
            </a:solidFill>
            <a:prstDash val="solid"/>
          </a:ln>
        </p:spPr>
      </p:sp>
      <p:sp>
        <p:nvSpPr>
          <p:cNvPr id="19" name="Shape 16"/>
          <p:cNvSpPr/>
          <p:nvPr/>
        </p:nvSpPr>
        <p:spPr>
          <a:xfrm>
            <a:off x="4846320" y="2185416"/>
            <a:ext cx="274320" cy="274320"/>
          </a:xfrm>
          <a:prstGeom prst="ellipse">
            <a:avLst/>
          </a:prstGeom>
          <a:solidFill>
            <a:srgbClr val="1FA2A6"/>
          </a:solidFill>
          <a:ln w="12700">
            <a:solidFill>
              <a:srgbClr val="1FA2A6"/>
            </a:solidFill>
            <a:prstDash val="solid"/>
          </a:ln>
        </p:spPr>
      </p:sp>
      <p:sp>
        <p:nvSpPr>
          <p:cNvPr id="20" name="Text 17"/>
          <p:cNvSpPr txBox="1"/>
          <p:nvPr/>
        </p:nvSpPr>
        <p:spPr>
          <a:xfrm>
            <a:off x="5303520" y="2020824"/>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Front End</a:t>
            </a:r>
            <a:endParaRPr lang="en-US" sz="1300" dirty="0"/>
          </a:p>
        </p:txBody>
      </p:sp>
      <p:sp>
        <p:nvSpPr>
          <p:cNvPr id="21" name="Text 18"/>
          <p:cNvSpPr txBox="1"/>
          <p:nvPr/>
        </p:nvSpPr>
        <p:spPr>
          <a:xfrm>
            <a:off x="5303520" y="2313432"/>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HTML, JS, Tailwind CSS, Chart.js</a:t>
            </a:r>
            <a:endParaRPr lang="en-US" sz="1500" dirty="0"/>
          </a:p>
        </p:txBody>
      </p:sp>
      <p:sp>
        <p:nvSpPr>
          <p:cNvPr id="22" name="Shape 19"/>
          <p:cNvSpPr/>
          <p:nvPr/>
        </p:nvSpPr>
        <p:spPr>
          <a:xfrm>
            <a:off x="457200" y="2843784"/>
            <a:ext cx="4023360" cy="749808"/>
          </a:xfrm>
          <a:prstGeom prst="roundRect">
            <a:avLst>
              <a:gd name="adj" fmla="val 9756"/>
            </a:avLst>
          </a:prstGeom>
          <a:solidFill>
            <a:srgbClr val="F2F6F9"/>
          </a:solidFill>
          <a:ln w="12700">
            <a:solidFill>
              <a:srgbClr val="F2F6F9"/>
            </a:solidFill>
            <a:prstDash val="solid"/>
          </a:ln>
        </p:spPr>
      </p:sp>
      <p:sp>
        <p:nvSpPr>
          <p:cNvPr id="23" name="Shape 20"/>
          <p:cNvSpPr/>
          <p:nvPr/>
        </p:nvSpPr>
        <p:spPr>
          <a:xfrm>
            <a:off x="640080" y="3081528"/>
            <a:ext cx="274320" cy="274320"/>
          </a:xfrm>
          <a:prstGeom prst="ellipse">
            <a:avLst/>
          </a:prstGeom>
          <a:solidFill>
            <a:srgbClr val="0B1F33"/>
          </a:solidFill>
          <a:ln w="12700">
            <a:solidFill>
              <a:srgbClr val="0B1F33"/>
            </a:solidFill>
            <a:prstDash val="solid"/>
          </a:ln>
        </p:spPr>
      </p:sp>
      <p:sp>
        <p:nvSpPr>
          <p:cNvPr id="24" name="Text 21"/>
          <p:cNvSpPr txBox="1"/>
          <p:nvPr/>
        </p:nvSpPr>
        <p:spPr>
          <a:xfrm>
            <a:off x="1097280" y="2916936"/>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Web Server</a:t>
            </a:r>
            <a:endParaRPr lang="en-US" sz="1300" dirty="0"/>
          </a:p>
        </p:txBody>
      </p:sp>
      <p:sp>
        <p:nvSpPr>
          <p:cNvPr id="25" name="Text 22"/>
          <p:cNvSpPr txBox="1"/>
          <p:nvPr/>
        </p:nvSpPr>
        <p:spPr>
          <a:xfrm>
            <a:off x="1097280" y="3209544"/>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Nginx – demo site, proxy, logs</a:t>
            </a:r>
            <a:endParaRPr lang="en-US" sz="1500" dirty="0"/>
          </a:p>
        </p:txBody>
      </p:sp>
      <p:sp>
        <p:nvSpPr>
          <p:cNvPr id="26" name="Shape 23"/>
          <p:cNvSpPr/>
          <p:nvPr/>
        </p:nvSpPr>
        <p:spPr>
          <a:xfrm>
            <a:off x="4663440" y="2843784"/>
            <a:ext cx="4023360" cy="749808"/>
          </a:xfrm>
          <a:prstGeom prst="roundRect">
            <a:avLst>
              <a:gd name="adj" fmla="val 9756"/>
            </a:avLst>
          </a:prstGeom>
          <a:solidFill>
            <a:srgbClr val="F2F6F9"/>
          </a:solidFill>
          <a:ln w="12700">
            <a:solidFill>
              <a:srgbClr val="F2F6F9"/>
            </a:solidFill>
            <a:prstDash val="solid"/>
          </a:ln>
        </p:spPr>
      </p:sp>
      <p:sp>
        <p:nvSpPr>
          <p:cNvPr id="27" name="Shape 24"/>
          <p:cNvSpPr/>
          <p:nvPr/>
        </p:nvSpPr>
        <p:spPr>
          <a:xfrm>
            <a:off x="4846320" y="3081528"/>
            <a:ext cx="274320" cy="274320"/>
          </a:xfrm>
          <a:prstGeom prst="ellipse">
            <a:avLst/>
          </a:prstGeom>
          <a:solidFill>
            <a:srgbClr val="E63946"/>
          </a:solidFill>
          <a:ln w="12700">
            <a:solidFill>
              <a:srgbClr val="E63946"/>
            </a:solidFill>
            <a:prstDash val="solid"/>
          </a:ln>
        </p:spPr>
      </p:sp>
      <p:sp>
        <p:nvSpPr>
          <p:cNvPr id="28" name="Text 25"/>
          <p:cNvSpPr txBox="1"/>
          <p:nvPr/>
        </p:nvSpPr>
        <p:spPr>
          <a:xfrm>
            <a:off x="5303520" y="2916936"/>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Deployment</a:t>
            </a:r>
            <a:endParaRPr lang="en-US" sz="1300" dirty="0"/>
          </a:p>
        </p:txBody>
      </p:sp>
      <p:sp>
        <p:nvSpPr>
          <p:cNvPr id="29" name="Text 26"/>
          <p:cNvSpPr txBox="1"/>
          <p:nvPr/>
        </p:nvSpPr>
        <p:spPr>
          <a:xfrm>
            <a:off x="5303520" y="3209544"/>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Docker &amp; Docker Compose</a:t>
            </a:r>
            <a:endParaRPr lang="en-US" sz="1500" dirty="0"/>
          </a:p>
        </p:txBody>
      </p:sp>
      <p:sp>
        <p:nvSpPr>
          <p:cNvPr id="30" name="Shape 27"/>
          <p:cNvSpPr/>
          <p:nvPr/>
        </p:nvSpPr>
        <p:spPr>
          <a:xfrm>
            <a:off x="457200" y="3739896"/>
            <a:ext cx="4023360" cy="749808"/>
          </a:xfrm>
          <a:prstGeom prst="roundRect">
            <a:avLst>
              <a:gd name="adj" fmla="val 9756"/>
            </a:avLst>
          </a:prstGeom>
          <a:solidFill>
            <a:srgbClr val="F2F6F9"/>
          </a:solidFill>
          <a:ln w="12700">
            <a:solidFill>
              <a:srgbClr val="F2F6F9"/>
            </a:solidFill>
            <a:prstDash val="solid"/>
          </a:ln>
        </p:spPr>
      </p:sp>
      <p:sp>
        <p:nvSpPr>
          <p:cNvPr id="31" name="Shape 28"/>
          <p:cNvSpPr/>
          <p:nvPr/>
        </p:nvSpPr>
        <p:spPr>
          <a:xfrm>
            <a:off x="640080" y="3977640"/>
            <a:ext cx="274320" cy="274320"/>
          </a:xfrm>
          <a:prstGeom prst="ellipse">
            <a:avLst/>
          </a:prstGeom>
          <a:solidFill>
            <a:srgbClr val="1FA2A6"/>
          </a:solidFill>
          <a:ln w="12700">
            <a:solidFill>
              <a:srgbClr val="1FA2A6"/>
            </a:solidFill>
            <a:prstDash val="solid"/>
          </a:ln>
        </p:spPr>
      </p:sp>
      <p:sp>
        <p:nvSpPr>
          <p:cNvPr id="32" name="Text 29"/>
          <p:cNvSpPr txBox="1"/>
          <p:nvPr/>
        </p:nvSpPr>
        <p:spPr>
          <a:xfrm>
            <a:off x="1097280" y="3813048"/>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Threat Frameworks</a:t>
            </a:r>
            <a:endParaRPr lang="en-US" sz="1300" dirty="0"/>
          </a:p>
        </p:txBody>
      </p:sp>
      <p:sp>
        <p:nvSpPr>
          <p:cNvPr id="33" name="Text 30"/>
          <p:cNvSpPr txBox="1"/>
          <p:nvPr/>
        </p:nvSpPr>
        <p:spPr>
          <a:xfrm>
            <a:off x="1097280" y="4105656"/>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MITRE ATT&amp;CK, OWASP, CWE</a:t>
            </a:r>
            <a:endParaRPr lang="en-US" sz="1500" dirty="0"/>
          </a:p>
        </p:txBody>
      </p:sp>
      <p:sp>
        <p:nvSpPr>
          <p:cNvPr id="34" name="Shape 31"/>
          <p:cNvSpPr/>
          <p:nvPr/>
        </p:nvSpPr>
        <p:spPr>
          <a:xfrm>
            <a:off x="4663440" y="3739896"/>
            <a:ext cx="4023360" cy="749808"/>
          </a:xfrm>
          <a:prstGeom prst="roundRect">
            <a:avLst>
              <a:gd name="adj" fmla="val 9756"/>
            </a:avLst>
          </a:prstGeom>
          <a:solidFill>
            <a:srgbClr val="F2F6F9"/>
          </a:solidFill>
          <a:ln w="12700">
            <a:solidFill>
              <a:srgbClr val="F2F6F9"/>
            </a:solidFill>
            <a:prstDash val="solid"/>
          </a:ln>
        </p:spPr>
      </p:sp>
      <p:sp>
        <p:nvSpPr>
          <p:cNvPr id="35" name="Shape 32"/>
          <p:cNvSpPr/>
          <p:nvPr/>
        </p:nvSpPr>
        <p:spPr>
          <a:xfrm>
            <a:off x="4846320" y="3977640"/>
            <a:ext cx="274320" cy="274320"/>
          </a:xfrm>
          <a:prstGeom prst="ellipse">
            <a:avLst/>
          </a:prstGeom>
          <a:solidFill>
            <a:srgbClr val="0B1F33"/>
          </a:solidFill>
          <a:ln w="12700">
            <a:solidFill>
              <a:srgbClr val="0B1F33"/>
            </a:solidFill>
            <a:prstDash val="solid"/>
          </a:ln>
        </p:spPr>
      </p:sp>
      <p:sp>
        <p:nvSpPr>
          <p:cNvPr id="36" name="Text 33"/>
          <p:cNvSpPr txBox="1"/>
          <p:nvPr/>
        </p:nvSpPr>
        <p:spPr>
          <a:xfrm>
            <a:off x="5303520" y="3813048"/>
            <a:ext cx="3200400" cy="301752"/>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Tools</a:t>
            </a:r>
            <a:endParaRPr lang="en-US" sz="1300" dirty="0"/>
          </a:p>
        </p:txBody>
      </p:sp>
      <p:sp>
        <p:nvSpPr>
          <p:cNvPr id="37" name="Text 34"/>
          <p:cNvSpPr txBox="1"/>
          <p:nvPr/>
        </p:nvSpPr>
        <p:spPr>
          <a:xfrm>
            <a:off x="5303520" y="4105656"/>
            <a:ext cx="3291840" cy="32004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Parrot OS, Git, GitHub, VS Code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cxnSp>
        <p:nvCxnSpPr>
          <p:cNvPr id="136" name="Motif 136"/>
          <p:cNvCxnSpPr/>
          <p:nvPr/>
        </p:nvCxnSpPr>
        <p:spPr>
          <a:xfrm flipV="1">
            <a:off x="7501738" y="340157"/>
            <a:ext cx="320954" cy="263347"/>
          </a:xfrm>
          <a:prstGeom prst="line">
            <a:avLst/>
          </a:prstGeom>
          <a:ln w="9525">
            <a:solidFill>
              <a:srgbClr val="0B1F33">
                <a:alpha val="40000"/>
              </a:srgbClr>
            </a:solidFill>
          </a:ln>
        </p:spPr>
      </p:cxnSp>
      <p:cxnSp>
        <p:nvCxnSpPr>
          <p:cNvPr id="137" name="Motif 137"/>
          <p:cNvCxnSpPr/>
          <p:nvPr/>
        </p:nvCxnSpPr>
        <p:spPr>
          <a:xfrm>
            <a:off x="7501738" y="603504"/>
            <a:ext cx="395021" cy="142646"/>
          </a:xfrm>
          <a:prstGeom prst="line">
            <a:avLst/>
          </a:prstGeom>
          <a:ln w="9525">
            <a:solidFill>
              <a:srgbClr val="0B1F33">
                <a:alpha val="40000"/>
              </a:srgbClr>
            </a:solidFill>
          </a:ln>
        </p:spPr>
      </p:cxnSp>
      <p:cxnSp>
        <p:nvCxnSpPr>
          <p:cNvPr id="138" name="Motif 138"/>
          <p:cNvCxnSpPr/>
          <p:nvPr/>
        </p:nvCxnSpPr>
        <p:spPr>
          <a:xfrm>
            <a:off x="7822692" y="340157"/>
            <a:ext cx="370332" cy="186538"/>
          </a:xfrm>
          <a:prstGeom prst="line">
            <a:avLst/>
          </a:prstGeom>
          <a:ln w="9525">
            <a:solidFill>
              <a:srgbClr val="0B1F33">
                <a:alpha val="40000"/>
              </a:srgbClr>
            </a:solidFill>
          </a:ln>
        </p:spPr>
      </p:cxnSp>
      <p:cxnSp>
        <p:nvCxnSpPr>
          <p:cNvPr id="139" name="Motif 139"/>
          <p:cNvCxnSpPr/>
          <p:nvPr/>
        </p:nvCxnSpPr>
        <p:spPr>
          <a:xfrm flipV="1">
            <a:off x="7896758" y="526694"/>
            <a:ext cx="296266" cy="219456"/>
          </a:xfrm>
          <a:prstGeom prst="line">
            <a:avLst/>
          </a:prstGeom>
          <a:ln w="9525">
            <a:solidFill>
              <a:srgbClr val="0B1F33">
                <a:alpha val="40000"/>
              </a:srgbClr>
            </a:solidFill>
          </a:ln>
        </p:spPr>
      </p:cxnSp>
      <p:cxnSp>
        <p:nvCxnSpPr>
          <p:cNvPr id="140" name="Motif 140"/>
          <p:cNvCxnSpPr/>
          <p:nvPr/>
        </p:nvCxnSpPr>
        <p:spPr>
          <a:xfrm flipV="1">
            <a:off x="8193024" y="318211"/>
            <a:ext cx="296266" cy="208483"/>
          </a:xfrm>
          <a:prstGeom prst="line">
            <a:avLst/>
          </a:prstGeom>
          <a:ln w="9525">
            <a:solidFill>
              <a:srgbClr val="0B1F33">
                <a:alpha val="40000"/>
              </a:srgbClr>
            </a:solidFill>
          </a:ln>
        </p:spPr>
      </p:cxnSp>
      <p:cxnSp>
        <p:nvCxnSpPr>
          <p:cNvPr id="141" name="Motif 141"/>
          <p:cNvCxnSpPr/>
          <p:nvPr/>
        </p:nvCxnSpPr>
        <p:spPr>
          <a:xfrm>
            <a:off x="8193024" y="526694"/>
            <a:ext cx="456743" cy="142646"/>
          </a:xfrm>
          <a:prstGeom prst="line">
            <a:avLst/>
          </a:prstGeom>
          <a:ln w="9525">
            <a:solidFill>
              <a:srgbClr val="0B1F33">
                <a:alpha val="40000"/>
              </a:srgbClr>
            </a:solidFill>
          </a:ln>
        </p:spPr>
      </p:cxnSp>
      <p:cxnSp>
        <p:nvCxnSpPr>
          <p:cNvPr id="142" name="Motif 142"/>
          <p:cNvCxnSpPr/>
          <p:nvPr/>
        </p:nvCxnSpPr>
        <p:spPr>
          <a:xfrm>
            <a:off x="8489290" y="318211"/>
            <a:ext cx="160477" cy="351130"/>
          </a:xfrm>
          <a:prstGeom prst="line">
            <a:avLst/>
          </a:prstGeom>
          <a:ln w="9525">
            <a:solidFill>
              <a:srgbClr val="0B1F33">
                <a:alpha val="40000"/>
              </a:srgbClr>
            </a:solidFill>
          </a:ln>
        </p:spPr>
      </p:cxnSp>
      <p:sp>
        <p:nvSpPr>
          <p:cNvPr id="143" name="Motif 143"/>
          <p:cNvSpPr/>
          <p:nvPr/>
        </p:nvSpPr>
        <p:spPr>
          <a:xfrm>
            <a:off x="7452360" y="554126"/>
            <a:ext cx="98755" cy="98755"/>
          </a:xfrm>
          <a:prstGeom prst="ellipse">
            <a:avLst/>
          </a:prstGeom>
          <a:solidFill>
            <a:srgbClr val="1FA2A6">
              <a:alpha val="85000"/>
            </a:srgbClr>
          </a:solidFill>
          <a:ln>
            <a:noFill/>
          </a:ln>
        </p:spPr>
      </p:sp>
      <p:sp>
        <p:nvSpPr>
          <p:cNvPr id="144" name="Motif 144"/>
          <p:cNvSpPr/>
          <p:nvPr/>
        </p:nvSpPr>
        <p:spPr>
          <a:xfrm>
            <a:off x="7784287" y="301752"/>
            <a:ext cx="76810" cy="76810"/>
          </a:xfrm>
          <a:prstGeom prst="ellipse">
            <a:avLst/>
          </a:prstGeom>
          <a:solidFill>
            <a:srgbClr val="0B1F33">
              <a:alpha val="85000"/>
            </a:srgbClr>
          </a:solidFill>
          <a:ln>
            <a:noFill/>
          </a:ln>
        </p:spPr>
      </p:sp>
      <p:sp>
        <p:nvSpPr>
          <p:cNvPr id="145" name="Motif 145"/>
          <p:cNvSpPr/>
          <p:nvPr/>
        </p:nvSpPr>
        <p:spPr>
          <a:xfrm>
            <a:off x="7863840" y="713232"/>
            <a:ext cx="65837" cy="65837"/>
          </a:xfrm>
          <a:prstGeom prst="ellipse">
            <a:avLst/>
          </a:prstGeom>
          <a:solidFill>
            <a:srgbClr val="0B1F33">
              <a:alpha val="85000"/>
            </a:srgbClr>
          </a:solidFill>
          <a:ln>
            <a:noFill/>
          </a:ln>
        </p:spPr>
      </p:sp>
      <p:sp>
        <p:nvSpPr>
          <p:cNvPr id="146" name="Motif 146"/>
          <p:cNvSpPr/>
          <p:nvPr/>
        </p:nvSpPr>
        <p:spPr>
          <a:xfrm>
            <a:off x="8124444" y="458114"/>
            <a:ext cx="137160" cy="137160"/>
          </a:xfrm>
          <a:prstGeom prst="ellipse">
            <a:avLst/>
          </a:prstGeom>
          <a:solidFill>
            <a:srgbClr val="E63946">
              <a:alpha val="85000"/>
            </a:srgbClr>
          </a:solidFill>
          <a:ln>
            <a:noFill/>
          </a:ln>
        </p:spPr>
      </p:sp>
      <p:sp>
        <p:nvSpPr>
          <p:cNvPr id="147" name="Motif 147"/>
          <p:cNvSpPr/>
          <p:nvPr/>
        </p:nvSpPr>
        <p:spPr>
          <a:xfrm>
            <a:off x="8448142" y="277063"/>
            <a:ext cx="82296" cy="82296"/>
          </a:xfrm>
          <a:prstGeom prst="ellipse">
            <a:avLst/>
          </a:prstGeom>
          <a:solidFill>
            <a:srgbClr val="1FA2A6">
              <a:alpha val="85000"/>
            </a:srgbClr>
          </a:solidFill>
          <a:ln>
            <a:noFill/>
          </a:ln>
        </p:spPr>
      </p:sp>
      <p:sp>
        <p:nvSpPr>
          <p:cNvPr id="148" name="Motif 14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System Architecture</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 / 20</a:t>
            </a:r>
            <a:endParaRPr lang="en-US" sz="900" dirty="0"/>
          </a:p>
        </p:txBody>
      </p:sp>
      <p:sp>
        <p:nvSpPr>
          <p:cNvPr id="6" name="Text 3"/>
          <p:cNvSpPr txBox="1"/>
          <p:nvPr/>
        </p:nvSpPr>
        <p:spPr>
          <a:xfrm>
            <a:off x="365760" y="960120"/>
            <a:ext cx="1828800" cy="274320"/>
          </a:xfrm>
          <a:prstGeom prst="rect">
            <a:avLst/>
          </a:prstGeom>
          <a:noFill/>
          <a:ln/>
        </p:spPr>
        <p:txBody>
          <a:bodyPr wrap="square" lIns="0" tIns="0" rIns="0" bIns="0" rtlCol="0" anchor="ctr"/>
          <a:lstStyle/>
          <a:p>
            <a:pPr algn="ctr" indent="0" marL="0">
              <a:buNone/>
            </a:pPr>
            <a:r>
              <a:rPr lang="en-US" sz="1000" b="1" dirty="0">
                <a:solidFill>
                  <a:srgbClr val="5B6B7B"/>
                </a:solidFill>
                <a:latin typeface="Calibri" pitchFamily="34" charset="0"/>
                <a:ea typeface="Calibri" pitchFamily="34" charset="-122"/>
                <a:cs typeface="Calibri" pitchFamily="34" charset="-120"/>
              </a:rPr>
              <a:t>LOG SOURCES</a:t>
            </a:r>
            <a:endParaRPr lang="en-US" sz="1000" dirty="0"/>
          </a:p>
        </p:txBody>
      </p:sp>
      <p:sp>
        <p:nvSpPr>
          <p:cNvPr id="7" name="Shape 4"/>
          <p:cNvSpPr/>
          <p:nvPr/>
        </p:nvSpPr>
        <p:spPr>
          <a:xfrm>
            <a:off x="365760" y="1280160"/>
            <a:ext cx="1828800" cy="548640"/>
          </a:xfrm>
          <a:prstGeom prst="roundRect">
            <a:avLst>
              <a:gd name="adj" fmla="val 13333"/>
            </a:avLst>
          </a:prstGeom>
          <a:solidFill>
            <a:srgbClr val="F2F6F9"/>
          </a:solidFill>
          <a:ln w="12700">
            <a:solidFill>
              <a:srgbClr val="F2F6F9"/>
            </a:solidFill>
            <a:prstDash val="solid"/>
          </a:ln>
        </p:spPr>
      </p:sp>
      <p:sp>
        <p:nvSpPr>
          <p:cNvPr id="8" name="Text 5"/>
          <p:cNvSpPr txBox="1"/>
          <p:nvPr/>
        </p:nvSpPr>
        <p:spPr>
          <a:xfrm>
            <a:off x="365760" y="1280160"/>
            <a:ext cx="1828800" cy="548640"/>
          </a:xfrm>
          <a:prstGeom prst="rect">
            <a:avLst/>
          </a:prstGeom>
          <a:noFill/>
          <a:ln/>
        </p:spPr>
        <p:txBody>
          <a:bodyPr wrap="square" lIns="0" tIns="0" rIns="0" bIns="0" rtlCol="0" anchor="ctr"/>
          <a:lstStyle/>
          <a:p>
            <a:pPr algn="ctr" indent="0" marL="0">
              <a:buNone/>
            </a:pPr>
            <a:r>
              <a:rPr lang="en-US" sz="1200" b="1" dirty="0">
                <a:solidFill>
                  <a:srgbClr val="1B2733"/>
                </a:solidFill>
                <a:latin typeface="Calibri" pitchFamily="34" charset="0"/>
                <a:ea typeface="Calibri" pitchFamily="34" charset="-122"/>
                <a:cs typeface="Calibri" pitchFamily="34" charset="-120"/>
              </a:rPr>
              <a:t>Web Login Log</a:t>
            </a:r>
            <a:endParaRPr lang="en-US" sz="1200" dirty="0"/>
          </a:p>
        </p:txBody>
      </p:sp>
      <p:sp>
        <p:nvSpPr>
          <p:cNvPr id="9" name="Shape 6"/>
          <p:cNvSpPr/>
          <p:nvPr/>
        </p:nvSpPr>
        <p:spPr>
          <a:xfrm>
            <a:off x="365760" y="2011680"/>
            <a:ext cx="1828800" cy="548640"/>
          </a:xfrm>
          <a:prstGeom prst="roundRect">
            <a:avLst>
              <a:gd name="adj" fmla="val 13333"/>
            </a:avLst>
          </a:prstGeom>
          <a:solidFill>
            <a:srgbClr val="F2F6F9"/>
          </a:solidFill>
          <a:ln w="12700">
            <a:solidFill>
              <a:srgbClr val="F2F6F9"/>
            </a:solidFill>
            <a:prstDash val="solid"/>
          </a:ln>
        </p:spPr>
      </p:sp>
      <p:sp>
        <p:nvSpPr>
          <p:cNvPr id="10" name="Text 7"/>
          <p:cNvSpPr txBox="1"/>
          <p:nvPr/>
        </p:nvSpPr>
        <p:spPr>
          <a:xfrm>
            <a:off x="365760" y="2011680"/>
            <a:ext cx="1828800" cy="548640"/>
          </a:xfrm>
          <a:prstGeom prst="rect">
            <a:avLst/>
          </a:prstGeom>
          <a:noFill/>
          <a:ln/>
        </p:spPr>
        <p:txBody>
          <a:bodyPr wrap="square" lIns="0" tIns="0" rIns="0" bIns="0" rtlCol="0" anchor="ctr"/>
          <a:lstStyle/>
          <a:p>
            <a:pPr algn="ctr" indent="0" marL="0">
              <a:buNone/>
            </a:pPr>
            <a:r>
              <a:rPr lang="en-US" sz="1200" b="1" dirty="0">
                <a:solidFill>
                  <a:srgbClr val="1B2733"/>
                </a:solidFill>
                <a:latin typeface="Calibri" pitchFamily="34" charset="0"/>
                <a:ea typeface="Calibri" pitchFamily="34" charset="-122"/>
                <a:cs typeface="Calibri" pitchFamily="34" charset="-120"/>
              </a:rPr>
              <a:t>Nginx Access Log</a:t>
            </a:r>
            <a:endParaRPr lang="en-US" sz="1200" dirty="0"/>
          </a:p>
        </p:txBody>
      </p:sp>
      <p:sp>
        <p:nvSpPr>
          <p:cNvPr id="11" name="Shape 8"/>
          <p:cNvSpPr/>
          <p:nvPr/>
        </p:nvSpPr>
        <p:spPr>
          <a:xfrm>
            <a:off x="365760" y="2743200"/>
            <a:ext cx="1828800" cy="548640"/>
          </a:xfrm>
          <a:prstGeom prst="roundRect">
            <a:avLst>
              <a:gd name="adj" fmla="val 13333"/>
            </a:avLst>
          </a:prstGeom>
          <a:solidFill>
            <a:srgbClr val="F2F6F9"/>
          </a:solidFill>
          <a:ln w="12700">
            <a:solidFill>
              <a:srgbClr val="F2F6F9"/>
            </a:solidFill>
            <a:prstDash val="solid"/>
          </a:ln>
        </p:spPr>
      </p:sp>
      <p:sp>
        <p:nvSpPr>
          <p:cNvPr id="12" name="Text 9"/>
          <p:cNvSpPr txBox="1"/>
          <p:nvPr/>
        </p:nvSpPr>
        <p:spPr>
          <a:xfrm>
            <a:off x="365760" y="2743200"/>
            <a:ext cx="1828800" cy="548640"/>
          </a:xfrm>
          <a:prstGeom prst="rect">
            <a:avLst/>
          </a:prstGeom>
          <a:noFill/>
          <a:ln/>
        </p:spPr>
        <p:txBody>
          <a:bodyPr wrap="square" lIns="0" tIns="0" rIns="0" bIns="0" rtlCol="0" anchor="ctr"/>
          <a:lstStyle/>
          <a:p>
            <a:pPr algn="ctr" indent="0" marL="0">
              <a:buNone/>
            </a:pPr>
            <a:r>
              <a:rPr lang="en-US" sz="1200" b="1" dirty="0">
                <a:solidFill>
                  <a:srgbClr val="1B2733"/>
                </a:solidFill>
                <a:latin typeface="Calibri" pitchFamily="34" charset="0"/>
                <a:ea typeface="Calibri" pitchFamily="34" charset="-122"/>
                <a:cs typeface="Calibri" pitchFamily="34" charset="-120"/>
              </a:rPr>
              <a:t>SSH auth.log</a:t>
            </a:r>
            <a:endParaRPr lang="en-US" sz="1200" dirty="0"/>
          </a:p>
        </p:txBody>
      </p:sp>
      <p:sp>
        <p:nvSpPr>
          <p:cNvPr id="13" name="Shape 10"/>
          <p:cNvSpPr/>
          <p:nvPr/>
        </p:nvSpPr>
        <p:spPr>
          <a:xfrm>
            <a:off x="2743200" y="1737360"/>
            <a:ext cx="1371600" cy="1097280"/>
          </a:xfrm>
          <a:prstGeom prst="roundRect">
            <a:avLst>
              <a:gd name="adj" fmla="val 6667"/>
            </a:avLst>
          </a:prstGeom>
          <a:solidFill>
            <a:srgbClr val="1FA2A6"/>
          </a:solidFill>
          <a:ln w="12700">
            <a:solidFill>
              <a:srgbClr val="1FA2A6"/>
            </a:solidFill>
            <a:prstDash val="solid"/>
          </a:ln>
        </p:spPr>
      </p:sp>
      <p:sp>
        <p:nvSpPr>
          <p:cNvPr id="14" name="Text 11"/>
          <p:cNvSpPr txBox="1"/>
          <p:nvPr/>
        </p:nvSpPr>
        <p:spPr>
          <a:xfrm>
            <a:off x="2743200" y="1737360"/>
            <a:ext cx="137160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Vector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parse + tag</a:t>
            </a:r>
            <a:endParaRPr lang="en-US" sz="1300" dirty="0"/>
          </a:p>
        </p:txBody>
      </p:sp>
      <p:sp>
        <p:nvSpPr>
          <p:cNvPr id="15" name="Shape 12"/>
          <p:cNvSpPr/>
          <p:nvPr/>
        </p:nvSpPr>
        <p:spPr>
          <a:xfrm>
            <a:off x="2194560" y="1554480"/>
            <a:ext cx="548640" cy="548640"/>
          </a:xfrm>
          <a:prstGeom prst="line">
            <a:avLst/>
          </a:prstGeom>
          <a:noFill/>
          <a:ln w="25400">
            <a:solidFill>
              <a:srgbClr val="5B6B7B"/>
            </a:solidFill>
            <a:prstDash val="solid"/>
            <a:tailEnd type="triangle"/>
          </a:ln>
        </p:spPr>
      </p:sp>
      <p:sp>
        <p:nvSpPr>
          <p:cNvPr id="16" name="Shape 13"/>
          <p:cNvSpPr/>
          <p:nvPr/>
        </p:nvSpPr>
        <p:spPr>
          <a:xfrm>
            <a:off x="2194560" y="2286000"/>
            <a:ext cx="548640" cy="0"/>
          </a:xfrm>
          <a:prstGeom prst="line">
            <a:avLst/>
          </a:prstGeom>
          <a:noFill/>
          <a:ln w="25400">
            <a:solidFill>
              <a:srgbClr val="5B6B7B"/>
            </a:solidFill>
            <a:prstDash val="solid"/>
            <a:tailEnd type="triangle"/>
          </a:ln>
        </p:spPr>
      </p:sp>
      <p:sp>
        <p:nvSpPr>
          <p:cNvPr id="17" name="Shape 14"/>
          <p:cNvSpPr/>
          <p:nvPr/>
        </p:nvSpPr>
        <p:spPr>
          <a:xfrm flipV="1">
            <a:off x="2194560" y="2468880"/>
            <a:ext cx="548640" cy="548640"/>
          </a:xfrm>
          <a:prstGeom prst="line">
            <a:avLst/>
          </a:prstGeom>
          <a:noFill/>
          <a:ln w="25400">
            <a:solidFill>
              <a:srgbClr val="5B6B7B"/>
            </a:solidFill>
            <a:prstDash val="solid"/>
            <a:tailEnd type="triangle"/>
          </a:ln>
        </p:spPr>
      </p:sp>
      <p:sp>
        <p:nvSpPr>
          <p:cNvPr id="18" name="Shape 15"/>
          <p:cNvSpPr/>
          <p:nvPr/>
        </p:nvSpPr>
        <p:spPr>
          <a:xfrm>
            <a:off x="4572000" y="1737360"/>
            <a:ext cx="1463040" cy="1097280"/>
          </a:xfrm>
          <a:prstGeom prst="roundRect">
            <a:avLst>
              <a:gd name="adj" fmla="val 6667"/>
            </a:avLst>
          </a:prstGeom>
          <a:solidFill>
            <a:srgbClr val="0B1F33"/>
          </a:solidFill>
          <a:ln w="12700">
            <a:solidFill>
              <a:srgbClr val="0B1F33"/>
            </a:solidFill>
            <a:prstDash val="solid"/>
          </a:ln>
        </p:spPr>
      </p:sp>
      <p:sp>
        <p:nvSpPr>
          <p:cNvPr id="19" name="Text 16"/>
          <p:cNvSpPr txBox="1"/>
          <p:nvPr/>
        </p:nvSpPr>
        <p:spPr>
          <a:xfrm>
            <a:off x="4572000" y="1737360"/>
            <a:ext cx="1463040" cy="10972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OpenSearch</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logs · alerts · blocked</a:t>
            </a:r>
            <a:endParaRPr lang="en-US" sz="1200" dirty="0"/>
          </a:p>
        </p:txBody>
      </p:sp>
      <p:sp>
        <p:nvSpPr>
          <p:cNvPr id="20" name="Shape 17"/>
          <p:cNvSpPr/>
          <p:nvPr/>
        </p:nvSpPr>
        <p:spPr>
          <a:xfrm>
            <a:off x="4114800" y="2286000"/>
            <a:ext cx="457200" cy="0"/>
          </a:xfrm>
          <a:prstGeom prst="line">
            <a:avLst/>
          </a:prstGeom>
          <a:noFill/>
          <a:ln w="25400">
            <a:solidFill>
              <a:srgbClr val="5B6B7B"/>
            </a:solidFill>
            <a:prstDash val="solid"/>
            <a:tailEnd type="triangle"/>
          </a:ln>
        </p:spPr>
      </p:sp>
      <p:sp>
        <p:nvSpPr>
          <p:cNvPr id="21" name="Shape 18"/>
          <p:cNvSpPr/>
          <p:nvPr/>
        </p:nvSpPr>
        <p:spPr>
          <a:xfrm>
            <a:off x="6492240" y="1737360"/>
            <a:ext cx="2194560" cy="1097280"/>
          </a:xfrm>
          <a:prstGeom prst="roundRect">
            <a:avLst>
              <a:gd name="adj" fmla="val 6667"/>
            </a:avLst>
          </a:prstGeom>
          <a:solidFill>
            <a:srgbClr val="E63946"/>
          </a:solidFill>
          <a:ln w="12700">
            <a:solidFill>
              <a:srgbClr val="E63946"/>
            </a:solidFill>
            <a:prstDash val="solid"/>
          </a:ln>
        </p:spPr>
      </p:sp>
      <p:sp>
        <p:nvSpPr>
          <p:cNvPr id="22" name="Text 19"/>
          <p:cNvSpPr txBox="1"/>
          <p:nvPr/>
        </p:nvSpPr>
        <p:spPr>
          <a:xfrm>
            <a:off x="6492240" y="1737360"/>
            <a:ext cx="2194560" cy="10972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Detection Engine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Auth API</a:t>
            </a:r>
            <a:endParaRPr lang="en-US" sz="1200" dirty="0"/>
          </a:p>
        </p:txBody>
      </p:sp>
      <p:sp>
        <p:nvSpPr>
          <p:cNvPr id="23" name="Shape 20"/>
          <p:cNvSpPr/>
          <p:nvPr/>
        </p:nvSpPr>
        <p:spPr>
          <a:xfrm>
            <a:off x="6035040" y="2286000"/>
            <a:ext cx="457200" cy="0"/>
          </a:xfrm>
          <a:prstGeom prst="line">
            <a:avLst/>
          </a:prstGeom>
          <a:noFill/>
          <a:ln w="25400">
            <a:solidFill>
              <a:srgbClr val="5B6B7B"/>
            </a:solidFill>
            <a:prstDash val="solid"/>
            <a:tailEnd type="triangle"/>
          </a:ln>
        </p:spPr>
      </p:sp>
      <p:sp>
        <p:nvSpPr>
          <p:cNvPr id="24" name="Shape 21"/>
          <p:cNvSpPr/>
          <p:nvPr/>
        </p:nvSpPr>
        <p:spPr>
          <a:xfrm>
            <a:off x="6492240" y="3291840"/>
            <a:ext cx="1005840" cy="640080"/>
          </a:xfrm>
          <a:prstGeom prst="roundRect">
            <a:avLst>
              <a:gd name="adj" fmla="val 11429"/>
            </a:avLst>
          </a:prstGeom>
          <a:solidFill>
            <a:srgbClr val="F2F6F9"/>
          </a:solidFill>
          <a:ln w="12700">
            <a:solidFill>
              <a:srgbClr val="F2F6F9"/>
            </a:solidFill>
            <a:prstDash val="solid"/>
          </a:ln>
        </p:spPr>
      </p:sp>
      <p:sp>
        <p:nvSpPr>
          <p:cNvPr id="25" name="Text 22"/>
          <p:cNvSpPr txBox="1"/>
          <p:nvPr/>
        </p:nvSpPr>
        <p:spPr>
          <a:xfrm>
            <a:off x="6492240" y="3291840"/>
            <a:ext cx="1005840" cy="640080"/>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Admin</a:t>
            </a:r>
            <a:endParaRPr lang="en-US" sz="1100" dirty="0"/>
          </a:p>
          <a:p>
            <a:pPr algn="ctr" indent="0" marL="0">
              <a:buNone/>
            </a:pPr>
            <a:r>
              <a:rPr lang="en-US" sz="1100" b="1" dirty="0">
                <a:solidFill>
                  <a:srgbClr val="1B2733"/>
                </a:solidFill>
                <a:latin typeface="Calibri" pitchFamily="34" charset="0"/>
                <a:ea typeface="Calibri" pitchFamily="34" charset="-122"/>
                <a:cs typeface="Calibri" pitchFamily="34" charset="-120"/>
              </a:rPr>
              <a:t>Dashboard</a:t>
            </a:r>
            <a:endParaRPr lang="en-US" sz="1100" dirty="0"/>
          </a:p>
        </p:txBody>
      </p:sp>
      <p:sp>
        <p:nvSpPr>
          <p:cNvPr id="26" name="Shape 23"/>
          <p:cNvSpPr/>
          <p:nvPr/>
        </p:nvSpPr>
        <p:spPr>
          <a:xfrm>
            <a:off x="7680960" y="3291840"/>
            <a:ext cx="1005840" cy="640080"/>
          </a:xfrm>
          <a:prstGeom prst="roundRect">
            <a:avLst>
              <a:gd name="adj" fmla="val 11429"/>
            </a:avLst>
          </a:prstGeom>
          <a:solidFill>
            <a:srgbClr val="F2F6F9"/>
          </a:solidFill>
          <a:ln w="12700">
            <a:solidFill>
              <a:srgbClr val="F2F6F9"/>
            </a:solidFill>
            <a:prstDash val="solid"/>
          </a:ln>
        </p:spPr>
      </p:sp>
      <p:sp>
        <p:nvSpPr>
          <p:cNvPr id="27" name="Text 24"/>
          <p:cNvSpPr txBox="1"/>
          <p:nvPr/>
        </p:nvSpPr>
        <p:spPr>
          <a:xfrm>
            <a:off x="7680960" y="3291840"/>
            <a:ext cx="1005840" cy="640080"/>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Viewer</a:t>
            </a:r>
            <a:endParaRPr lang="en-US" sz="1100" dirty="0"/>
          </a:p>
          <a:p>
            <a:pPr algn="ctr" indent="0" marL="0">
              <a:buNone/>
            </a:pPr>
            <a:r>
              <a:rPr lang="en-US" sz="1100" b="1" dirty="0">
                <a:solidFill>
                  <a:srgbClr val="1B2733"/>
                </a:solidFill>
                <a:latin typeface="Calibri" pitchFamily="34" charset="0"/>
                <a:ea typeface="Calibri" pitchFamily="34" charset="-122"/>
                <a:cs typeface="Calibri" pitchFamily="34" charset="-120"/>
              </a:rPr>
              <a:t>Dashboard</a:t>
            </a:r>
            <a:endParaRPr lang="en-US" sz="1100" dirty="0"/>
          </a:p>
        </p:txBody>
      </p:sp>
      <p:sp>
        <p:nvSpPr>
          <p:cNvPr id="28" name="Shape 25"/>
          <p:cNvSpPr/>
          <p:nvPr/>
        </p:nvSpPr>
        <p:spPr>
          <a:xfrm>
            <a:off x="7223760" y="2834640"/>
            <a:ext cx="-228600" cy="457200"/>
          </a:xfrm>
          <a:prstGeom prst="line">
            <a:avLst/>
          </a:prstGeom>
          <a:noFill/>
          <a:ln w="25400">
            <a:solidFill>
              <a:srgbClr val="5B6B7B"/>
            </a:solidFill>
            <a:prstDash val="solid"/>
            <a:tailEnd type="triangle"/>
          </a:ln>
        </p:spPr>
      </p:sp>
      <p:sp>
        <p:nvSpPr>
          <p:cNvPr id="29" name="Shape 26"/>
          <p:cNvSpPr/>
          <p:nvPr/>
        </p:nvSpPr>
        <p:spPr>
          <a:xfrm>
            <a:off x="7955280" y="2834640"/>
            <a:ext cx="228600" cy="457200"/>
          </a:xfrm>
          <a:prstGeom prst="line">
            <a:avLst/>
          </a:prstGeom>
          <a:noFill/>
          <a:ln w="25400">
            <a:solidFill>
              <a:srgbClr val="5B6B7B"/>
            </a:solidFill>
            <a:prstDash val="solid"/>
            <a:tailEnd type="triangle"/>
          </a:ln>
        </p:spPr>
      </p:sp>
      <p:sp>
        <p:nvSpPr>
          <p:cNvPr id="30" name="Shape 27"/>
          <p:cNvSpPr/>
          <p:nvPr/>
        </p:nvSpPr>
        <p:spPr>
          <a:xfrm>
            <a:off x="365760" y="3794760"/>
            <a:ext cx="1828800" cy="548640"/>
          </a:xfrm>
          <a:prstGeom prst="roundRect">
            <a:avLst>
              <a:gd name="adj" fmla="val 13333"/>
            </a:avLst>
          </a:prstGeom>
          <a:solidFill>
            <a:srgbClr val="FDECEE"/>
          </a:solidFill>
          <a:ln w="12700">
            <a:solidFill>
              <a:srgbClr val="FDECEE"/>
            </a:solidFill>
            <a:prstDash val="solid"/>
          </a:ln>
        </p:spPr>
      </p:sp>
      <p:sp>
        <p:nvSpPr>
          <p:cNvPr id="31" name="Text 28"/>
          <p:cNvSpPr txBox="1"/>
          <p:nvPr/>
        </p:nvSpPr>
        <p:spPr>
          <a:xfrm>
            <a:off x="365760" y="3794760"/>
            <a:ext cx="1828800" cy="548640"/>
          </a:xfrm>
          <a:prstGeom prst="rect">
            <a:avLst/>
          </a:prstGeom>
          <a:noFill/>
          <a:ln/>
        </p:spPr>
        <p:txBody>
          <a:bodyPr wrap="square" lIns="0" tIns="0" rIns="0" bIns="0" rtlCol="0" anchor="ctr"/>
          <a:lstStyle/>
          <a:p>
            <a:pPr algn="ctr" indent="0" marL="0">
              <a:buNone/>
            </a:pPr>
            <a:r>
              <a:rPr lang="en-US" sz="1200" b="1" dirty="0">
                <a:solidFill>
                  <a:srgbClr val="E63946"/>
                </a:solidFill>
                <a:latin typeface="Calibri" pitchFamily="34" charset="0"/>
                <a:ea typeface="Calibri" pitchFamily="34" charset="-122"/>
                <a:cs typeface="Calibri" pitchFamily="34" charset="-120"/>
              </a:rPr>
              <a:t>Attacker Browser</a:t>
            </a:r>
            <a:endParaRPr lang="en-US" sz="1200" dirty="0"/>
          </a:p>
        </p:txBody>
      </p:sp>
      <p:sp>
        <p:nvSpPr>
          <p:cNvPr id="32" name="Shape 29"/>
          <p:cNvSpPr/>
          <p:nvPr/>
        </p:nvSpPr>
        <p:spPr>
          <a:xfrm>
            <a:off x="2743200" y="3794760"/>
            <a:ext cx="2103120" cy="548640"/>
          </a:xfrm>
          <a:prstGeom prst="roundRect">
            <a:avLst>
              <a:gd name="adj" fmla="val 13333"/>
            </a:avLst>
          </a:prstGeom>
          <a:solidFill>
            <a:srgbClr val="F2F6F9"/>
          </a:solidFill>
          <a:ln w="12700">
            <a:solidFill>
              <a:srgbClr val="F2F6F9"/>
            </a:solidFill>
            <a:prstDash val="solid"/>
          </a:ln>
        </p:spPr>
      </p:sp>
      <p:sp>
        <p:nvSpPr>
          <p:cNvPr id="33" name="Text 30"/>
          <p:cNvSpPr txBox="1"/>
          <p:nvPr/>
        </p:nvSpPr>
        <p:spPr>
          <a:xfrm>
            <a:off x="2743200" y="3794760"/>
            <a:ext cx="2103120" cy="548640"/>
          </a:xfrm>
          <a:prstGeom prst="rect">
            <a:avLst/>
          </a:prstGeom>
          <a:noFill/>
          <a:ln/>
        </p:spPr>
        <p:txBody>
          <a:bodyPr wrap="square" lIns="0" tIns="0" rIns="0" bIns="0" rtlCol="0" anchor="ctr"/>
          <a:lstStyle/>
          <a:p>
            <a:pPr algn="ctr" indent="0" marL="0">
              <a:buNone/>
            </a:pPr>
            <a:r>
              <a:rPr lang="en-US" sz="1200" b="1" dirty="0">
                <a:solidFill>
                  <a:srgbClr val="1B2733"/>
                </a:solidFill>
                <a:latin typeface="Calibri" pitchFamily="34" charset="0"/>
                <a:ea typeface="Calibri" pitchFamily="34" charset="-122"/>
                <a:cs typeface="Calibri" pitchFamily="34" charset="-120"/>
              </a:rPr>
              <a:t>Nginx Demo Portal :8080</a:t>
            </a:r>
            <a:endParaRPr lang="en-US" sz="1200" dirty="0"/>
          </a:p>
        </p:txBody>
      </p:sp>
      <p:sp>
        <p:nvSpPr>
          <p:cNvPr id="34" name="Shape 31"/>
          <p:cNvSpPr/>
          <p:nvPr/>
        </p:nvSpPr>
        <p:spPr>
          <a:xfrm>
            <a:off x="2194560" y="4069080"/>
            <a:ext cx="548640" cy="0"/>
          </a:xfrm>
          <a:prstGeom prst="line">
            <a:avLst/>
          </a:prstGeom>
          <a:noFill/>
          <a:ln w="25400">
            <a:solidFill>
              <a:srgbClr val="5B6B7B"/>
            </a:solidFill>
            <a:prstDash val="solid"/>
            <a:tailEnd type="triangle"/>
          </a:ln>
        </p:spPr>
      </p:sp>
      <p:sp>
        <p:nvSpPr>
          <p:cNvPr id="35" name="Text 32"/>
          <p:cNvSpPr txBox="1"/>
          <p:nvPr/>
        </p:nvSpPr>
        <p:spPr>
          <a:xfrm>
            <a:off x="274320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writes web login + Nginx logs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cxnSp>
        <p:nvCxnSpPr>
          <p:cNvPr id="137" name="Motif 137"/>
          <p:cNvCxnSpPr/>
          <p:nvPr/>
        </p:nvCxnSpPr>
        <p:spPr>
          <a:xfrm flipV="1">
            <a:off x="7501738" y="340157"/>
            <a:ext cx="320954" cy="263347"/>
          </a:xfrm>
          <a:prstGeom prst="line">
            <a:avLst/>
          </a:prstGeom>
          <a:ln w="9525">
            <a:solidFill>
              <a:srgbClr val="0B1F33">
                <a:alpha val="40000"/>
              </a:srgbClr>
            </a:solidFill>
          </a:ln>
        </p:spPr>
      </p:cxnSp>
      <p:cxnSp>
        <p:nvCxnSpPr>
          <p:cNvPr id="138" name="Motif 138"/>
          <p:cNvCxnSpPr/>
          <p:nvPr/>
        </p:nvCxnSpPr>
        <p:spPr>
          <a:xfrm>
            <a:off x="7501738" y="603504"/>
            <a:ext cx="395021" cy="142646"/>
          </a:xfrm>
          <a:prstGeom prst="line">
            <a:avLst/>
          </a:prstGeom>
          <a:ln w="9525">
            <a:solidFill>
              <a:srgbClr val="0B1F33">
                <a:alpha val="40000"/>
              </a:srgbClr>
            </a:solidFill>
          </a:ln>
        </p:spPr>
      </p:cxnSp>
      <p:cxnSp>
        <p:nvCxnSpPr>
          <p:cNvPr id="139" name="Motif 139"/>
          <p:cNvCxnSpPr/>
          <p:nvPr/>
        </p:nvCxnSpPr>
        <p:spPr>
          <a:xfrm>
            <a:off x="7822692" y="340157"/>
            <a:ext cx="370332" cy="186538"/>
          </a:xfrm>
          <a:prstGeom prst="line">
            <a:avLst/>
          </a:prstGeom>
          <a:ln w="9525">
            <a:solidFill>
              <a:srgbClr val="0B1F33">
                <a:alpha val="40000"/>
              </a:srgbClr>
            </a:solidFill>
          </a:ln>
        </p:spPr>
      </p:cxnSp>
      <p:cxnSp>
        <p:nvCxnSpPr>
          <p:cNvPr id="140" name="Motif 140"/>
          <p:cNvCxnSpPr/>
          <p:nvPr/>
        </p:nvCxnSpPr>
        <p:spPr>
          <a:xfrm flipV="1">
            <a:off x="7896758" y="526694"/>
            <a:ext cx="296266" cy="219456"/>
          </a:xfrm>
          <a:prstGeom prst="line">
            <a:avLst/>
          </a:prstGeom>
          <a:ln w="9525">
            <a:solidFill>
              <a:srgbClr val="0B1F33">
                <a:alpha val="40000"/>
              </a:srgbClr>
            </a:solidFill>
          </a:ln>
        </p:spPr>
      </p:cxnSp>
      <p:cxnSp>
        <p:nvCxnSpPr>
          <p:cNvPr id="141" name="Motif 141"/>
          <p:cNvCxnSpPr/>
          <p:nvPr/>
        </p:nvCxnSpPr>
        <p:spPr>
          <a:xfrm flipV="1">
            <a:off x="8193024" y="318211"/>
            <a:ext cx="296266" cy="208483"/>
          </a:xfrm>
          <a:prstGeom prst="line">
            <a:avLst/>
          </a:prstGeom>
          <a:ln w="9525">
            <a:solidFill>
              <a:srgbClr val="0B1F33">
                <a:alpha val="40000"/>
              </a:srgbClr>
            </a:solidFill>
          </a:ln>
        </p:spPr>
      </p:cxnSp>
      <p:cxnSp>
        <p:nvCxnSpPr>
          <p:cNvPr id="142" name="Motif 142"/>
          <p:cNvCxnSpPr/>
          <p:nvPr/>
        </p:nvCxnSpPr>
        <p:spPr>
          <a:xfrm>
            <a:off x="8193024" y="526694"/>
            <a:ext cx="456743" cy="142646"/>
          </a:xfrm>
          <a:prstGeom prst="line">
            <a:avLst/>
          </a:prstGeom>
          <a:ln w="9525">
            <a:solidFill>
              <a:srgbClr val="0B1F33">
                <a:alpha val="40000"/>
              </a:srgbClr>
            </a:solidFill>
          </a:ln>
        </p:spPr>
      </p:cxnSp>
      <p:cxnSp>
        <p:nvCxnSpPr>
          <p:cNvPr id="143" name="Motif 143"/>
          <p:cNvCxnSpPr/>
          <p:nvPr/>
        </p:nvCxnSpPr>
        <p:spPr>
          <a:xfrm>
            <a:off x="8489290" y="318211"/>
            <a:ext cx="160477" cy="351130"/>
          </a:xfrm>
          <a:prstGeom prst="line">
            <a:avLst/>
          </a:prstGeom>
          <a:ln w="9525">
            <a:solidFill>
              <a:srgbClr val="0B1F33">
                <a:alpha val="40000"/>
              </a:srgbClr>
            </a:solidFill>
          </a:ln>
        </p:spPr>
      </p:cxnSp>
      <p:sp>
        <p:nvSpPr>
          <p:cNvPr id="144" name="Motif 144"/>
          <p:cNvSpPr/>
          <p:nvPr/>
        </p:nvSpPr>
        <p:spPr>
          <a:xfrm>
            <a:off x="7452360" y="554126"/>
            <a:ext cx="98755" cy="98755"/>
          </a:xfrm>
          <a:prstGeom prst="ellipse">
            <a:avLst/>
          </a:prstGeom>
          <a:solidFill>
            <a:srgbClr val="1FA2A6">
              <a:alpha val="85000"/>
            </a:srgbClr>
          </a:solidFill>
          <a:ln>
            <a:noFill/>
          </a:ln>
        </p:spPr>
      </p:sp>
      <p:sp>
        <p:nvSpPr>
          <p:cNvPr id="145" name="Motif 145"/>
          <p:cNvSpPr/>
          <p:nvPr/>
        </p:nvSpPr>
        <p:spPr>
          <a:xfrm>
            <a:off x="7784287" y="301752"/>
            <a:ext cx="76810" cy="76810"/>
          </a:xfrm>
          <a:prstGeom prst="ellipse">
            <a:avLst/>
          </a:prstGeom>
          <a:solidFill>
            <a:srgbClr val="0B1F33">
              <a:alpha val="85000"/>
            </a:srgbClr>
          </a:solidFill>
          <a:ln>
            <a:noFill/>
          </a:ln>
        </p:spPr>
      </p:sp>
      <p:sp>
        <p:nvSpPr>
          <p:cNvPr id="146" name="Motif 146"/>
          <p:cNvSpPr/>
          <p:nvPr/>
        </p:nvSpPr>
        <p:spPr>
          <a:xfrm>
            <a:off x="7863840" y="713232"/>
            <a:ext cx="65837" cy="65837"/>
          </a:xfrm>
          <a:prstGeom prst="ellipse">
            <a:avLst/>
          </a:prstGeom>
          <a:solidFill>
            <a:srgbClr val="0B1F33">
              <a:alpha val="85000"/>
            </a:srgbClr>
          </a:solidFill>
          <a:ln>
            <a:noFill/>
          </a:ln>
        </p:spPr>
      </p:sp>
      <p:sp>
        <p:nvSpPr>
          <p:cNvPr id="147" name="Motif 147"/>
          <p:cNvSpPr/>
          <p:nvPr/>
        </p:nvSpPr>
        <p:spPr>
          <a:xfrm>
            <a:off x="8124444" y="458114"/>
            <a:ext cx="137160" cy="137160"/>
          </a:xfrm>
          <a:prstGeom prst="ellipse">
            <a:avLst/>
          </a:prstGeom>
          <a:solidFill>
            <a:srgbClr val="E63946">
              <a:alpha val="85000"/>
            </a:srgbClr>
          </a:solidFill>
          <a:ln>
            <a:noFill/>
          </a:ln>
        </p:spPr>
      </p:sp>
      <p:sp>
        <p:nvSpPr>
          <p:cNvPr id="148" name="Motif 148"/>
          <p:cNvSpPr/>
          <p:nvPr/>
        </p:nvSpPr>
        <p:spPr>
          <a:xfrm>
            <a:off x="8448142" y="277063"/>
            <a:ext cx="82296" cy="82296"/>
          </a:xfrm>
          <a:prstGeom prst="ellipse">
            <a:avLst/>
          </a:prstGeom>
          <a:solidFill>
            <a:srgbClr val="1FA2A6">
              <a:alpha val="85000"/>
            </a:srgbClr>
          </a:solidFill>
          <a:ln>
            <a:noFill/>
          </a:ln>
        </p:spPr>
      </p:sp>
      <p:sp>
        <p:nvSpPr>
          <p:cNvPr id="149" name="Motif 149"/>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Working Flow</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9 / 20</a:t>
            </a:r>
            <a:endParaRPr lang="en-US" sz="900" dirty="0"/>
          </a:p>
        </p:txBody>
      </p:sp>
      <p:sp>
        <p:nvSpPr>
          <p:cNvPr id="6" name="Shape 3"/>
          <p:cNvSpPr/>
          <p:nvPr/>
        </p:nvSpPr>
        <p:spPr>
          <a:xfrm>
            <a:off x="685800" y="1325880"/>
            <a:ext cx="731520" cy="731520"/>
          </a:xfrm>
          <a:prstGeom prst="ellipse">
            <a:avLst/>
          </a:prstGeom>
          <a:solidFill>
            <a:srgbClr val="1FA2A6"/>
          </a:solidFill>
          <a:ln w="12700">
            <a:solidFill>
              <a:srgbClr val="1FA2A6"/>
            </a:solidFill>
            <a:prstDash val="solid"/>
          </a:ln>
        </p:spPr>
      </p:sp>
      <p:sp>
        <p:nvSpPr>
          <p:cNvPr id="7" name="Text 4"/>
          <p:cNvSpPr txBox="1"/>
          <p:nvPr/>
        </p:nvSpPr>
        <p:spPr>
          <a:xfrm>
            <a:off x="68580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Shape 5"/>
          <p:cNvSpPr/>
          <p:nvPr/>
        </p:nvSpPr>
        <p:spPr>
          <a:xfrm>
            <a:off x="1463040" y="1691640"/>
            <a:ext cx="594360" cy="0"/>
          </a:xfrm>
          <a:prstGeom prst="line">
            <a:avLst/>
          </a:prstGeom>
          <a:noFill/>
          <a:ln w="25400">
            <a:solidFill>
              <a:srgbClr val="D5DEE6"/>
            </a:solidFill>
            <a:prstDash val="solid"/>
            <a:tailEnd type="triangle"/>
          </a:ln>
        </p:spPr>
      </p:sp>
      <p:sp>
        <p:nvSpPr>
          <p:cNvPr id="9" name="Text 6"/>
          <p:cNvSpPr txBox="1"/>
          <p:nvPr/>
        </p:nvSpPr>
        <p:spPr>
          <a:xfrm>
            <a:off x="41148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Collect</a:t>
            </a:r>
            <a:endParaRPr lang="en-US" sz="1600" dirty="0"/>
          </a:p>
        </p:txBody>
      </p:sp>
      <p:sp>
        <p:nvSpPr>
          <p:cNvPr id="10" name="Text 7"/>
          <p:cNvSpPr txBox="1"/>
          <p:nvPr/>
        </p:nvSpPr>
        <p:spPr>
          <a:xfrm>
            <a:off x="41148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Vector tails live log files</a:t>
            </a:r>
            <a:endParaRPr lang="en-US" sz="1200" dirty="0"/>
          </a:p>
        </p:txBody>
      </p:sp>
      <p:sp>
        <p:nvSpPr>
          <p:cNvPr id="11" name="Shape 8"/>
          <p:cNvSpPr/>
          <p:nvPr/>
        </p:nvSpPr>
        <p:spPr>
          <a:xfrm>
            <a:off x="2103120" y="1325880"/>
            <a:ext cx="731520" cy="731520"/>
          </a:xfrm>
          <a:prstGeom prst="ellipse">
            <a:avLst/>
          </a:prstGeom>
          <a:solidFill>
            <a:srgbClr val="1FA2A6"/>
          </a:solidFill>
          <a:ln w="12700">
            <a:solidFill>
              <a:srgbClr val="1FA2A6"/>
            </a:solidFill>
            <a:prstDash val="solid"/>
          </a:ln>
        </p:spPr>
      </p:sp>
      <p:sp>
        <p:nvSpPr>
          <p:cNvPr id="12" name="Text 9"/>
          <p:cNvSpPr txBox="1"/>
          <p:nvPr/>
        </p:nvSpPr>
        <p:spPr>
          <a:xfrm>
            <a:off x="210312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Shape 10"/>
          <p:cNvSpPr/>
          <p:nvPr/>
        </p:nvSpPr>
        <p:spPr>
          <a:xfrm>
            <a:off x="2880360" y="1691640"/>
            <a:ext cx="594360" cy="0"/>
          </a:xfrm>
          <a:prstGeom prst="line">
            <a:avLst/>
          </a:prstGeom>
          <a:noFill/>
          <a:ln w="25400">
            <a:solidFill>
              <a:srgbClr val="D5DEE6"/>
            </a:solidFill>
            <a:prstDash val="solid"/>
            <a:tailEnd type="triangle"/>
          </a:ln>
        </p:spPr>
      </p:sp>
      <p:sp>
        <p:nvSpPr>
          <p:cNvPr id="14" name="Text 11"/>
          <p:cNvSpPr txBox="1"/>
          <p:nvPr/>
        </p:nvSpPr>
        <p:spPr>
          <a:xfrm>
            <a:off x="182880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Parse</a:t>
            </a:r>
            <a:endParaRPr lang="en-US" sz="1600" dirty="0"/>
          </a:p>
        </p:txBody>
      </p:sp>
      <p:sp>
        <p:nvSpPr>
          <p:cNvPr id="15" name="Text 12"/>
          <p:cNvSpPr txBox="1"/>
          <p:nvPr/>
        </p:nvSpPr>
        <p:spPr>
          <a:xfrm>
            <a:off x="182880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VRL adds log_type + source_ip</a:t>
            </a:r>
            <a:endParaRPr lang="en-US" sz="1200" dirty="0"/>
          </a:p>
        </p:txBody>
      </p:sp>
      <p:sp>
        <p:nvSpPr>
          <p:cNvPr id="16" name="Shape 13"/>
          <p:cNvSpPr/>
          <p:nvPr/>
        </p:nvSpPr>
        <p:spPr>
          <a:xfrm>
            <a:off x="3520440" y="1325880"/>
            <a:ext cx="731520" cy="731520"/>
          </a:xfrm>
          <a:prstGeom prst="ellipse">
            <a:avLst/>
          </a:prstGeom>
          <a:solidFill>
            <a:srgbClr val="0B1F33"/>
          </a:solidFill>
          <a:ln w="12700">
            <a:solidFill>
              <a:srgbClr val="0B1F33"/>
            </a:solidFill>
            <a:prstDash val="solid"/>
          </a:ln>
        </p:spPr>
      </p:sp>
      <p:sp>
        <p:nvSpPr>
          <p:cNvPr id="17" name="Text 14"/>
          <p:cNvSpPr txBox="1"/>
          <p:nvPr/>
        </p:nvSpPr>
        <p:spPr>
          <a:xfrm>
            <a:off x="352044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Shape 15"/>
          <p:cNvSpPr/>
          <p:nvPr/>
        </p:nvSpPr>
        <p:spPr>
          <a:xfrm>
            <a:off x="4297680" y="1691640"/>
            <a:ext cx="594360" cy="0"/>
          </a:xfrm>
          <a:prstGeom prst="line">
            <a:avLst/>
          </a:prstGeom>
          <a:noFill/>
          <a:ln w="25400">
            <a:solidFill>
              <a:srgbClr val="D5DEE6"/>
            </a:solidFill>
            <a:prstDash val="solid"/>
            <a:tailEnd type="triangle"/>
          </a:ln>
        </p:spPr>
      </p:sp>
      <p:sp>
        <p:nvSpPr>
          <p:cNvPr id="19" name="Text 16"/>
          <p:cNvSpPr txBox="1"/>
          <p:nvPr/>
        </p:nvSpPr>
        <p:spPr>
          <a:xfrm>
            <a:off x="324612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Store</a:t>
            </a:r>
            <a:endParaRPr lang="en-US" sz="1600" dirty="0"/>
          </a:p>
        </p:txBody>
      </p:sp>
      <p:sp>
        <p:nvSpPr>
          <p:cNvPr id="20" name="Text 17"/>
          <p:cNvSpPr txBox="1"/>
          <p:nvPr/>
        </p:nvSpPr>
        <p:spPr>
          <a:xfrm>
            <a:off x="324612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Bulk insert into OpenSearch</a:t>
            </a:r>
            <a:endParaRPr lang="en-US" sz="1200" dirty="0"/>
          </a:p>
        </p:txBody>
      </p:sp>
      <p:sp>
        <p:nvSpPr>
          <p:cNvPr id="21" name="Shape 18"/>
          <p:cNvSpPr/>
          <p:nvPr/>
        </p:nvSpPr>
        <p:spPr>
          <a:xfrm>
            <a:off x="4937760" y="1325880"/>
            <a:ext cx="731520" cy="731520"/>
          </a:xfrm>
          <a:prstGeom prst="ellipse">
            <a:avLst/>
          </a:prstGeom>
          <a:solidFill>
            <a:srgbClr val="E63946"/>
          </a:solidFill>
          <a:ln w="12700">
            <a:solidFill>
              <a:srgbClr val="E63946"/>
            </a:solidFill>
            <a:prstDash val="solid"/>
          </a:ln>
        </p:spPr>
      </p:sp>
      <p:sp>
        <p:nvSpPr>
          <p:cNvPr id="22" name="Text 19"/>
          <p:cNvSpPr txBox="1"/>
          <p:nvPr/>
        </p:nvSpPr>
        <p:spPr>
          <a:xfrm>
            <a:off x="493776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3" name="Shape 20"/>
          <p:cNvSpPr/>
          <p:nvPr/>
        </p:nvSpPr>
        <p:spPr>
          <a:xfrm>
            <a:off x="5715000" y="1691640"/>
            <a:ext cx="594360" cy="0"/>
          </a:xfrm>
          <a:prstGeom prst="line">
            <a:avLst/>
          </a:prstGeom>
          <a:noFill/>
          <a:ln w="25400">
            <a:solidFill>
              <a:srgbClr val="D5DEE6"/>
            </a:solidFill>
            <a:prstDash val="solid"/>
            <a:tailEnd type="triangle"/>
          </a:ln>
        </p:spPr>
      </p:sp>
      <p:sp>
        <p:nvSpPr>
          <p:cNvPr id="24" name="Text 21"/>
          <p:cNvSpPr txBox="1"/>
          <p:nvPr/>
        </p:nvSpPr>
        <p:spPr>
          <a:xfrm>
            <a:off x="466344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Detect</a:t>
            </a:r>
            <a:endParaRPr lang="en-US" sz="1600" dirty="0"/>
          </a:p>
        </p:txBody>
      </p:sp>
      <p:sp>
        <p:nvSpPr>
          <p:cNvPr id="25" name="Text 22"/>
          <p:cNvSpPr txBox="1"/>
          <p:nvPr/>
        </p:nvSpPr>
        <p:spPr>
          <a:xfrm>
            <a:off x="466344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Rules over last 2 minutes</a:t>
            </a:r>
            <a:endParaRPr lang="en-US" sz="1200" dirty="0"/>
          </a:p>
        </p:txBody>
      </p:sp>
      <p:sp>
        <p:nvSpPr>
          <p:cNvPr id="26" name="Shape 23"/>
          <p:cNvSpPr/>
          <p:nvPr/>
        </p:nvSpPr>
        <p:spPr>
          <a:xfrm>
            <a:off x="6355080" y="1325880"/>
            <a:ext cx="731520" cy="731520"/>
          </a:xfrm>
          <a:prstGeom prst="ellipse">
            <a:avLst/>
          </a:prstGeom>
          <a:solidFill>
            <a:srgbClr val="E63946"/>
          </a:solidFill>
          <a:ln w="12700">
            <a:solidFill>
              <a:srgbClr val="E63946"/>
            </a:solidFill>
            <a:prstDash val="solid"/>
          </a:ln>
        </p:spPr>
      </p:sp>
      <p:sp>
        <p:nvSpPr>
          <p:cNvPr id="27" name="Text 24"/>
          <p:cNvSpPr txBox="1"/>
          <p:nvPr/>
        </p:nvSpPr>
        <p:spPr>
          <a:xfrm>
            <a:off x="635508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8" name="Shape 25"/>
          <p:cNvSpPr/>
          <p:nvPr/>
        </p:nvSpPr>
        <p:spPr>
          <a:xfrm>
            <a:off x="7132320" y="1691640"/>
            <a:ext cx="594360" cy="0"/>
          </a:xfrm>
          <a:prstGeom prst="line">
            <a:avLst/>
          </a:prstGeom>
          <a:noFill/>
          <a:ln w="25400">
            <a:solidFill>
              <a:srgbClr val="D5DEE6"/>
            </a:solidFill>
            <a:prstDash val="solid"/>
            <a:tailEnd type="triangle"/>
          </a:ln>
        </p:spPr>
      </p:sp>
      <p:sp>
        <p:nvSpPr>
          <p:cNvPr id="29" name="Text 26"/>
          <p:cNvSpPr txBox="1"/>
          <p:nvPr/>
        </p:nvSpPr>
        <p:spPr>
          <a:xfrm>
            <a:off x="608076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Alert</a:t>
            </a:r>
            <a:endParaRPr lang="en-US" sz="1600" dirty="0"/>
          </a:p>
        </p:txBody>
      </p:sp>
      <p:sp>
        <p:nvSpPr>
          <p:cNvPr id="30" name="Text 27"/>
          <p:cNvSpPr txBox="1"/>
          <p:nvPr/>
        </p:nvSpPr>
        <p:spPr>
          <a:xfrm>
            <a:off x="608076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Saved with MITRE / CWE ID</a:t>
            </a:r>
            <a:endParaRPr lang="en-US" sz="1200" dirty="0"/>
          </a:p>
        </p:txBody>
      </p:sp>
      <p:sp>
        <p:nvSpPr>
          <p:cNvPr id="31" name="Shape 28"/>
          <p:cNvSpPr/>
          <p:nvPr/>
        </p:nvSpPr>
        <p:spPr>
          <a:xfrm>
            <a:off x="7772400" y="1325880"/>
            <a:ext cx="731520" cy="731520"/>
          </a:xfrm>
          <a:prstGeom prst="ellipse">
            <a:avLst/>
          </a:prstGeom>
          <a:solidFill>
            <a:srgbClr val="0B1F33"/>
          </a:solidFill>
          <a:ln w="12700">
            <a:solidFill>
              <a:srgbClr val="0B1F33"/>
            </a:solidFill>
            <a:prstDash val="solid"/>
          </a:ln>
        </p:spPr>
      </p:sp>
      <p:sp>
        <p:nvSpPr>
          <p:cNvPr id="32" name="Text 29"/>
          <p:cNvSpPr txBox="1"/>
          <p:nvPr/>
        </p:nvSpPr>
        <p:spPr>
          <a:xfrm>
            <a:off x="7772400" y="13258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33" name="Text 30"/>
          <p:cNvSpPr txBox="1"/>
          <p:nvPr/>
        </p:nvSpPr>
        <p:spPr>
          <a:xfrm>
            <a:off x="7498080" y="2194560"/>
            <a:ext cx="1280160" cy="365760"/>
          </a:xfrm>
          <a:prstGeom prst="rect">
            <a:avLst/>
          </a:prstGeom>
          <a:noFill/>
          <a:ln/>
        </p:spPr>
        <p:txBody>
          <a:bodyPr wrap="square" lIns="0" tIns="0" rIns="0" bIns="0" rtlCol="0" anchor="ctr"/>
          <a:lstStyle/>
          <a:p>
            <a:pPr algn="ctr" indent="0" marL="0">
              <a:buNone/>
            </a:pPr>
            <a:r>
              <a:rPr lang="en-US" sz="1600" b="1" dirty="0">
                <a:solidFill>
                  <a:srgbClr val="0B1F33"/>
                </a:solidFill>
                <a:latin typeface="Calibri" pitchFamily="34" charset="0"/>
                <a:ea typeface="Calibri" pitchFamily="34" charset="-122"/>
                <a:cs typeface="Calibri" pitchFamily="34" charset="-120"/>
              </a:rPr>
              <a:t>Visualise</a:t>
            </a:r>
            <a:endParaRPr lang="en-US" sz="1600" dirty="0"/>
          </a:p>
        </p:txBody>
      </p:sp>
      <p:sp>
        <p:nvSpPr>
          <p:cNvPr id="34" name="Text 31"/>
          <p:cNvSpPr txBox="1"/>
          <p:nvPr/>
        </p:nvSpPr>
        <p:spPr>
          <a:xfrm>
            <a:off x="7498080" y="2560320"/>
            <a:ext cx="1280160" cy="731520"/>
          </a:xfrm>
          <a:prstGeom prst="rect">
            <a:avLst/>
          </a:prstGeom>
          <a:noFill/>
          <a:ln/>
        </p:spPr>
        <p:txBody>
          <a:bodyPr wrap="square" lIns="0" tIns="0" rIns="0" bIns="0" rtlCol="0" anchor="t"/>
          <a:lstStyle/>
          <a:p>
            <a:pPr algn="ctr" indent="0" marL="0">
              <a:buNone/>
            </a:pPr>
            <a:r>
              <a:rPr lang="en-US" sz="1200" dirty="0">
                <a:solidFill>
                  <a:srgbClr val="5B6B7B"/>
                </a:solidFill>
                <a:latin typeface="Calibri" pitchFamily="34" charset="0"/>
                <a:ea typeface="Calibri" pitchFamily="34" charset="-122"/>
                <a:cs typeface="Calibri" pitchFamily="34" charset="-120"/>
              </a:rPr>
              <a:t>Live dashboards every 3 s</a:t>
            </a:r>
            <a:endParaRPr lang="en-US" sz="1200" dirty="0"/>
          </a:p>
        </p:txBody>
      </p:sp>
      <p:sp>
        <p:nvSpPr>
          <p:cNvPr id="35" name="Shape 32"/>
          <p:cNvSpPr/>
          <p:nvPr/>
        </p:nvSpPr>
        <p:spPr>
          <a:xfrm>
            <a:off x="457200" y="3520440"/>
            <a:ext cx="8229600" cy="960120"/>
          </a:xfrm>
          <a:prstGeom prst="roundRect">
            <a:avLst>
              <a:gd name="adj" fmla="val 7619"/>
            </a:avLst>
          </a:prstGeom>
          <a:solidFill>
            <a:srgbClr val="F2F6F9"/>
          </a:solidFill>
          <a:ln w="12700">
            <a:solidFill>
              <a:srgbClr val="F2F6F9"/>
            </a:solidFill>
            <a:prstDash val="solid"/>
          </a:ln>
        </p:spPr>
      </p:sp>
      <p:sp>
        <p:nvSpPr>
          <p:cNvPr id="36" name="Text 33"/>
          <p:cNvSpPr txBox="1"/>
          <p:nvPr/>
        </p:nvSpPr>
        <p:spPr>
          <a:xfrm>
            <a:off x="685800" y="3520440"/>
            <a:ext cx="7772400" cy="960120"/>
          </a:xfrm>
          <a:prstGeom prst="rect">
            <a:avLst/>
          </a:prstGeom>
          <a:noFill/>
          <a:ln/>
        </p:spPr>
        <p:txBody>
          <a:bodyPr wrap="square" lIns="0" tIns="0" rIns="0" bIns="0"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Example: </a:t>
            </a:r>
            <a:pPr indent="0" marL="0">
              <a:buNone/>
            </a:pPr>
            <a:r>
              <a:rPr lang="en-US" sz="1400" dirty="0">
                <a:solidFill>
                  <a:srgbClr val="1B2733"/>
                </a:solidFill>
                <a:latin typeface="Calibri" pitchFamily="34" charset="0"/>
                <a:ea typeface="Calibri" pitchFamily="34" charset="-122"/>
                <a:cs typeface="Calibri" pitchFamily="34" charset="-120"/>
              </a:rPr>
              <a:t>6 wrong passwords on the demo login from one IP → 6 login_failed events → rule finds ≥ 5 in 2 minutes → 'Web Login Brute Force' alert (T1110) appears on the admin dashboard within seconds.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cxnSp>
        <p:nvCxnSpPr>
          <p:cNvPr id="112" name="Motif 112"/>
          <p:cNvCxnSpPr/>
          <p:nvPr/>
        </p:nvCxnSpPr>
        <p:spPr>
          <a:xfrm flipV="1">
            <a:off x="7501738" y="340157"/>
            <a:ext cx="320954" cy="263347"/>
          </a:xfrm>
          <a:prstGeom prst="line">
            <a:avLst/>
          </a:prstGeom>
          <a:ln w="9525">
            <a:solidFill>
              <a:srgbClr val="0B1F33">
                <a:alpha val="40000"/>
              </a:srgbClr>
            </a:solidFill>
          </a:ln>
        </p:spPr>
      </p:cxnSp>
      <p:cxnSp>
        <p:nvCxnSpPr>
          <p:cNvPr id="113" name="Motif 113"/>
          <p:cNvCxnSpPr/>
          <p:nvPr/>
        </p:nvCxnSpPr>
        <p:spPr>
          <a:xfrm>
            <a:off x="7501738" y="603504"/>
            <a:ext cx="395021" cy="142646"/>
          </a:xfrm>
          <a:prstGeom prst="line">
            <a:avLst/>
          </a:prstGeom>
          <a:ln w="9525">
            <a:solidFill>
              <a:srgbClr val="0B1F33">
                <a:alpha val="40000"/>
              </a:srgbClr>
            </a:solidFill>
          </a:ln>
        </p:spPr>
      </p:cxnSp>
      <p:cxnSp>
        <p:nvCxnSpPr>
          <p:cNvPr id="114" name="Motif 114"/>
          <p:cNvCxnSpPr/>
          <p:nvPr/>
        </p:nvCxnSpPr>
        <p:spPr>
          <a:xfrm>
            <a:off x="7822692" y="340157"/>
            <a:ext cx="370332" cy="186538"/>
          </a:xfrm>
          <a:prstGeom prst="line">
            <a:avLst/>
          </a:prstGeom>
          <a:ln w="9525">
            <a:solidFill>
              <a:srgbClr val="0B1F33">
                <a:alpha val="40000"/>
              </a:srgbClr>
            </a:solidFill>
          </a:ln>
        </p:spPr>
      </p:cxnSp>
      <p:cxnSp>
        <p:nvCxnSpPr>
          <p:cNvPr id="115" name="Motif 115"/>
          <p:cNvCxnSpPr/>
          <p:nvPr/>
        </p:nvCxnSpPr>
        <p:spPr>
          <a:xfrm flipV="1">
            <a:off x="7896758" y="526694"/>
            <a:ext cx="296266" cy="219456"/>
          </a:xfrm>
          <a:prstGeom prst="line">
            <a:avLst/>
          </a:prstGeom>
          <a:ln w="9525">
            <a:solidFill>
              <a:srgbClr val="0B1F33">
                <a:alpha val="40000"/>
              </a:srgbClr>
            </a:solidFill>
          </a:ln>
        </p:spPr>
      </p:cxnSp>
      <p:cxnSp>
        <p:nvCxnSpPr>
          <p:cNvPr id="116" name="Motif 116"/>
          <p:cNvCxnSpPr/>
          <p:nvPr/>
        </p:nvCxnSpPr>
        <p:spPr>
          <a:xfrm flipV="1">
            <a:off x="8193024" y="318211"/>
            <a:ext cx="296266" cy="208483"/>
          </a:xfrm>
          <a:prstGeom prst="line">
            <a:avLst/>
          </a:prstGeom>
          <a:ln w="9525">
            <a:solidFill>
              <a:srgbClr val="0B1F33">
                <a:alpha val="40000"/>
              </a:srgbClr>
            </a:solidFill>
          </a:ln>
        </p:spPr>
      </p:cxnSp>
      <p:cxnSp>
        <p:nvCxnSpPr>
          <p:cNvPr id="117" name="Motif 117"/>
          <p:cNvCxnSpPr/>
          <p:nvPr/>
        </p:nvCxnSpPr>
        <p:spPr>
          <a:xfrm>
            <a:off x="8193024" y="526694"/>
            <a:ext cx="456743" cy="142646"/>
          </a:xfrm>
          <a:prstGeom prst="line">
            <a:avLst/>
          </a:prstGeom>
          <a:ln w="9525">
            <a:solidFill>
              <a:srgbClr val="0B1F33">
                <a:alpha val="40000"/>
              </a:srgbClr>
            </a:solidFill>
          </a:ln>
        </p:spPr>
      </p:cxnSp>
      <p:cxnSp>
        <p:nvCxnSpPr>
          <p:cNvPr id="118" name="Motif 118"/>
          <p:cNvCxnSpPr/>
          <p:nvPr/>
        </p:nvCxnSpPr>
        <p:spPr>
          <a:xfrm>
            <a:off x="8489290" y="318211"/>
            <a:ext cx="160477" cy="351130"/>
          </a:xfrm>
          <a:prstGeom prst="line">
            <a:avLst/>
          </a:prstGeom>
          <a:ln w="9525">
            <a:solidFill>
              <a:srgbClr val="0B1F33">
                <a:alpha val="40000"/>
              </a:srgbClr>
            </a:solidFill>
          </a:ln>
        </p:spPr>
      </p:cxnSp>
      <p:sp>
        <p:nvSpPr>
          <p:cNvPr id="119" name="Motif 119"/>
          <p:cNvSpPr/>
          <p:nvPr/>
        </p:nvSpPr>
        <p:spPr>
          <a:xfrm>
            <a:off x="7452360" y="554126"/>
            <a:ext cx="98755" cy="98755"/>
          </a:xfrm>
          <a:prstGeom prst="ellipse">
            <a:avLst/>
          </a:prstGeom>
          <a:solidFill>
            <a:srgbClr val="1FA2A6">
              <a:alpha val="85000"/>
            </a:srgbClr>
          </a:solidFill>
          <a:ln>
            <a:noFill/>
          </a:ln>
        </p:spPr>
      </p:sp>
      <p:sp>
        <p:nvSpPr>
          <p:cNvPr id="120" name="Motif 120"/>
          <p:cNvSpPr/>
          <p:nvPr/>
        </p:nvSpPr>
        <p:spPr>
          <a:xfrm>
            <a:off x="7784287" y="301752"/>
            <a:ext cx="76810" cy="76810"/>
          </a:xfrm>
          <a:prstGeom prst="ellipse">
            <a:avLst/>
          </a:prstGeom>
          <a:solidFill>
            <a:srgbClr val="0B1F33">
              <a:alpha val="85000"/>
            </a:srgbClr>
          </a:solidFill>
          <a:ln>
            <a:noFill/>
          </a:ln>
        </p:spPr>
      </p:sp>
      <p:sp>
        <p:nvSpPr>
          <p:cNvPr id="121" name="Motif 121"/>
          <p:cNvSpPr/>
          <p:nvPr/>
        </p:nvSpPr>
        <p:spPr>
          <a:xfrm>
            <a:off x="7863840" y="713232"/>
            <a:ext cx="65837" cy="65837"/>
          </a:xfrm>
          <a:prstGeom prst="ellipse">
            <a:avLst/>
          </a:prstGeom>
          <a:solidFill>
            <a:srgbClr val="0B1F33">
              <a:alpha val="85000"/>
            </a:srgbClr>
          </a:solidFill>
          <a:ln>
            <a:noFill/>
          </a:ln>
        </p:spPr>
      </p:sp>
      <p:sp>
        <p:nvSpPr>
          <p:cNvPr id="122" name="Motif 122"/>
          <p:cNvSpPr/>
          <p:nvPr/>
        </p:nvSpPr>
        <p:spPr>
          <a:xfrm>
            <a:off x="8124444" y="458114"/>
            <a:ext cx="137160" cy="137160"/>
          </a:xfrm>
          <a:prstGeom prst="ellipse">
            <a:avLst/>
          </a:prstGeom>
          <a:solidFill>
            <a:srgbClr val="E63946">
              <a:alpha val="85000"/>
            </a:srgbClr>
          </a:solidFill>
          <a:ln>
            <a:noFill/>
          </a:ln>
        </p:spPr>
      </p:sp>
      <p:sp>
        <p:nvSpPr>
          <p:cNvPr id="123" name="Motif 123"/>
          <p:cNvSpPr/>
          <p:nvPr/>
        </p:nvSpPr>
        <p:spPr>
          <a:xfrm>
            <a:off x="8448142" y="277063"/>
            <a:ext cx="82296" cy="82296"/>
          </a:xfrm>
          <a:prstGeom prst="ellipse">
            <a:avLst/>
          </a:prstGeom>
          <a:solidFill>
            <a:srgbClr val="1FA2A6">
              <a:alpha val="85000"/>
            </a:srgbClr>
          </a:solidFill>
          <a:ln>
            <a:noFill/>
          </a:ln>
        </p:spPr>
      </p:sp>
      <p:sp>
        <p:nvSpPr>
          <p:cNvPr id="124" name="Motif 124"/>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Detection Rules</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10 / 20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931920"/>
                <a:gridCol w="21945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Logic</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Mapping</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1F33"/>
                    </a:solidFill>
                  </a:tcPr>
                </a:tc>
              </a:tr>
              <a:tr h="566928">
                <a:tc>
                  <a:txBody>
                    <a:bodyPr/>
                    <a:lstStyle/>
                    <a:p>
                      <a:pPr indent="0" marL="0">
                        <a:buNone/>
                      </a:pPr>
                      <a:r>
                        <a:rPr lang="en-US" sz="1300" b="1" dirty="0">
                          <a:solidFill>
                            <a:srgbClr val="E63946"/>
                          </a:solidFill>
                          <a:latin typeface="Calibri" pitchFamily="34" charset="0"/>
                          <a:ea typeface="Calibri" pitchFamily="34" charset="-122"/>
                          <a:cs typeface="Calibri" pitchFamily="34" charset="-120"/>
                        </a:rPr>
                        <a:t>Web Login Brute Force</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 5 failed web logins from one IP in 2 min</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T1110 – Brute Force</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E63946"/>
                          </a:solidFill>
                          <a:latin typeface="Calibri" pitchFamily="34" charset="0"/>
                          <a:ea typeface="Calibri" pitchFamily="34" charset="-122"/>
                          <a:cs typeface="Calibri" pitchFamily="34" charset="-120"/>
                        </a:rPr>
                        <a:t>SSH Brute Force</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 5 'Failed password' lines from one IP in 2 min</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T1110 – Brute Force</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r>
              <a:tr h="566928">
                <a:tc>
                  <a:txBody>
                    <a:bodyPr/>
                    <a:lstStyle/>
                    <a:p>
                      <a:pPr indent="0" marL="0">
                        <a:buNone/>
                      </a:pPr>
                      <a:r>
                        <a:rPr lang="en-US" sz="1300" b="1" dirty="0">
                          <a:solidFill>
                            <a:srgbClr val="1C6FB8"/>
                          </a:solidFill>
                          <a:latin typeface="Calibri" pitchFamily="34" charset="0"/>
                          <a:ea typeface="Calibri" pitchFamily="34" charset="-122"/>
                          <a:cs typeface="Calibri" pitchFamily="34" charset="-120"/>
                        </a:rPr>
                        <a:t>Suspicious Login</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 2 failures then a success from the same IP</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T1078 – Valid Accounts</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E63946"/>
                          </a:solidFill>
                          <a:latin typeface="Calibri" pitchFamily="34" charset="0"/>
                          <a:ea typeface="Calibri" pitchFamily="34" charset="-122"/>
                          <a:cs typeface="Calibri" pitchFamily="34" charset="-120"/>
                        </a:rPr>
                        <a:t>XSS Attempt</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Known XSS signature in request URL (&lt;script, onerror= …)</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OWASP / CWE-79</a:t>
                      </a:r>
                      <a:endParaRPr lang="en-US" sz="1300" dirty="0">
                        <a:latin typeface="Calibri" charset="0"/>
                        <a:ea typeface="Calibri" charset="0"/>
                        <a:cs typeface="Calibri" charset="0"/>
                      </a:endParaRPr>
                    </a:p>
                  </a:txBody>
                  <a:tcPr marL="73152" marR="73152" marT="73152" marB="73152"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2F6F9"/>
                    </a:solidFill>
                  </a:tcPr>
                </a:tc>
              </a:tr>
            </a:tbl>
          </a:graphicData>
        </a:graphic>
      </p:graphicFrame>
      <p:sp>
        <p:nvSpPr>
          <p:cNvPr id="7" name="Text 3"/>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All alerts are stored permanently with severity, attempt count and matched rule, so history stays visible after the attack ends.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cxnSp>
        <p:nvCxnSpPr>
          <p:cNvPr id="126" name="Motif 126"/>
          <p:cNvCxnSpPr/>
          <p:nvPr/>
        </p:nvCxnSpPr>
        <p:spPr>
          <a:xfrm flipV="1">
            <a:off x="7501738" y="340157"/>
            <a:ext cx="320954" cy="263347"/>
          </a:xfrm>
          <a:prstGeom prst="line">
            <a:avLst/>
          </a:prstGeom>
          <a:ln w="9525">
            <a:solidFill>
              <a:srgbClr val="0B1F33">
                <a:alpha val="40000"/>
              </a:srgbClr>
            </a:solidFill>
          </a:ln>
        </p:spPr>
      </p:cxnSp>
      <p:cxnSp>
        <p:nvCxnSpPr>
          <p:cNvPr id="127" name="Motif 127"/>
          <p:cNvCxnSpPr/>
          <p:nvPr/>
        </p:nvCxnSpPr>
        <p:spPr>
          <a:xfrm>
            <a:off x="7501738" y="603504"/>
            <a:ext cx="395021" cy="142646"/>
          </a:xfrm>
          <a:prstGeom prst="line">
            <a:avLst/>
          </a:prstGeom>
          <a:ln w="9525">
            <a:solidFill>
              <a:srgbClr val="0B1F33">
                <a:alpha val="40000"/>
              </a:srgbClr>
            </a:solidFill>
          </a:ln>
        </p:spPr>
      </p:cxnSp>
      <p:cxnSp>
        <p:nvCxnSpPr>
          <p:cNvPr id="128" name="Motif 128"/>
          <p:cNvCxnSpPr/>
          <p:nvPr/>
        </p:nvCxnSpPr>
        <p:spPr>
          <a:xfrm>
            <a:off x="7822692" y="340157"/>
            <a:ext cx="370332" cy="186538"/>
          </a:xfrm>
          <a:prstGeom prst="line">
            <a:avLst/>
          </a:prstGeom>
          <a:ln w="9525">
            <a:solidFill>
              <a:srgbClr val="0B1F33">
                <a:alpha val="40000"/>
              </a:srgbClr>
            </a:solidFill>
          </a:ln>
        </p:spPr>
      </p:cxnSp>
      <p:cxnSp>
        <p:nvCxnSpPr>
          <p:cNvPr id="129" name="Motif 129"/>
          <p:cNvCxnSpPr/>
          <p:nvPr/>
        </p:nvCxnSpPr>
        <p:spPr>
          <a:xfrm flipV="1">
            <a:off x="7896758" y="526694"/>
            <a:ext cx="296266" cy="219456"/>
          </a:xfrm>
          <a:prstGeom prst="line">
            <a:avLst/>
          </a:prstGeom>
          <a:ln w="9525">
            <a:solidFill>
              <a:srgbClr val="0B1F33">
                <a:alpha val="40000"/>
              </a:srgbClr>
            </a:solidFill>
          </a:ln>
        </p:spPr>
      </p:cxnSp>
      <p:cxnSp>
        <p:nvCxnSpPr>
          <p:cNvPr id="130" name="Motif 130"/>
          <p:cNvCxnSpPr/>
          <p:nvPr/>
        </p:nvCxnSpPr>
        <p:spPr>
          <a:xfrm flipV="1">
            <a:off x="8193024" y="318211"/>
            <a:ext cx="296266" cy="208483"/>
          </a:xfrm>
          <a:prstGeom prst="line">
            <a:avLst/>
          </a:prstGeom>
          <a:ln w="9525">
            <a:solidFill>
              <a:srgbClr val="0B1F33">
                <a:alpha val="40000"/>
              </a:srgbClr>
            </a:solidFill>
          </a:ln>
        </p:spPr>
      </p:cxnSp>
      <p:cxnSp>
        <p:nvCxnSpPr>
          <p:cNvPr id="131" name="Motif 131"/>
          <p:cNvCxnSpPr/>
          <p:nvPr/>
        </p:nvCxnSpPr>
        <p:spPr>
          <a:xfrm>
            <a:off x="8193024" y="526694"/>
            <a:ext cx="456743" cy="142646"/>
          </a:xfrm>
          <a:prstGeom prst="line">
            <a:avLst/>
          </a:prstGeom>
          <a:ln w="9525">
            <a:solidFill>
              <a:srgbClr val="0B1F33">
                <a:alpha val="40000"/>
              </a:srgbClr>
            </a:solidFill>
          </a:ln>
        </p:spPr>
      </p:cxnSp>
      <p:cxnSp>
        <p:nvCxnSpPr>
          <p:cNvPr id="132" name="Motif 132"/>
          <p:cNvCxnSpPr/>
          <p:nvPr/>
        </p:nvCxnSpPr>
        <p:spPr>
          <a:xfrm>
            <a:off x="8489290" y="318211"/>
            <a:ext cx="160477" cy="351130"/>
          </a:xfrm>
          <a:prstGeom prst="line">
            <a:avLst/>
          </a:prstGeom>
          <a:ln w="9525">
            <a:solidFill>
              <a:srgbClr val="0B1F33">
                <a:alpha val="40000"/>
              </a:srgbClr>
            </a:solidFill>
          </a:ln>
        </p:spPr>
      </p:cxnSp>
      <p:sp>
        <p:nvSpPr>
          <p:cNvPr id="133" name="Motif 133"/>
          <p:cNvSpPr/>
          <p:nvPr/>
        </p:nvSpPr>
        <p:spPr>
          <a:xfrm>
            <a:off x="7452360" y="554126"/>
            <a:ext cx="98755" cy="98755"/>
          </a:xfrm>
          <a:prstGeom prst="ellipse">
            <a:avLst/>
          </a:prstGeom>
          <a:solidFill>
            <a:srgbClr val="1FA2A6">
              <a:alpha val="85000"/>
            </a:srgbClr>
          </a:solidFill>
          <a:ln>
            <a:noFill/>
          </a:ln>
        </p:spPr>
      </p:sp>
      <p:sp>
        <p:nvSpPr>
          <p:cNvPr id="134" name="Motif 134"/>
          <p:cNvSpPr/>
          <p:nvPr/>
        </p:nvSpPr>
        <p:spPr>
          <a:xfrm>
            <a:off x="7784287" y="301752"/>
            <a:ext cx="76810" cy="76810"/>
          </a:xfrm>
          <a:prstGeom prst="ellipse">
            <a:avLst/>
          </a:prstGeom>
          <a:solidFill>
            <a:srgbClr val="0B1F33">
              <a:alpha val="85000"/>
            </a:srgbClr>
          </a:solidFill>
          <a:ln>
            <a:noFill/>
          </a:ln>
        </p:spPr>
      </p:sp>
      <p:sp>
        <p:nvSpPr>
          <p:cNvPr id="135" name="Motif 135"/>
          <p:cNvSpPr/>
          <p:nvPr/>
        </p:nvSpPr>
        <p:spPr>
          <a:xfrm>
            <a:off x="7863840" y="713232"/>
            <a:ext cx="65837" cy="65837"/>
          </a:xfrm>
          <a:prstGeom prst="ellipse">
            <a:avLst/>
          </a:prstGeom>
          <a:solidFill>
            <a:srgbClr val="0B1F33">
              <a:alpha val="85000"/>
            </a:srgbClr>
          </a:solidFill>
          <a:ln>
            <a:noFill/>
          </a:ln>
        </p:spPr>
      </p:sp>
      <p:sp>
        <p:nvSpPr>
          <p:cNvPr id="136" name="Motif 136"/>
          <p:cNvSpPr/>
          <p:nvPr/>
        </p:nvSpPr>
        <p:spPr>
          <a:xfrm>
            <a:off x="8124444" y="458114"/>
            <a:ext cx="137160" cy="137160"/>
          </a:xfrm>
          <a:prstGeom prst="ellipse">
            <a:avLst/>
          </a:prstGeom>
          <a:solidFill>
            <a:srgbClr val="E63946">
              <a:alpha val="85000"/>
            </a:srgbClr>
          </a:solidFill>
          <a:ln>
            <a:noFill/>
          </a:ln>
        </p:spPr>
      </p:sp>
      <p:sp>
        <p:nvSpPr>
          <p:cNvPr id="137" name="Motif 137"/>
          <p:cNvSpPr/>
          <p:nvPr/>
        </p:nvSpPr>
        <p:spPr>
          <a:xfrm>
            <a:off x="8448142" y="277063"/>
            <a:ext cx="82296" cy="82296"/>
          </a:xfrm>
          <a:prstGeom prst="ellipse">
            <a:avLst/>
          </a:prstGeom>
          <a:solidFill>
            <a:srgbClr val="1FA2A6">
              <a:alpha val="85000"/>
            </a:srgbClr>
          </a:solidFill>
          <a:ln>
            <a:noFill/>
          </a:ln>
        </p:spPr>
      </p:sp>
      <p:sp>
        <p:nvSpPr>
          <p:cNvPr id="138" name="Motif 13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Actors &amp; Use Cases</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 / 20</a:t>
            </a:r>
            <a:endParaRPr lang="en-US" sz="900" dirty="0"/>
          </a:p>
        </p:txBody>
      </p:sp>
      <p:sp>
        <p:nvSpPr>
          <p:cNvPr id="6" name="Shape 3"/>
          <p:cNvSpPr/>
          <p:nvPr/>
        </p:nvSpPr>
        <p:spPr>
          <a:xfrm>
            <a:off x="457200" y="1051560"/>
            <a:ext cx="1965960" cy="3474720"/>
          </a:xfrm>
          <a:prstGeom prst="roundRect">
            <a:avLst>
              <a:gd name="adj" fmla="val 3721"/>
            </a:avLst>
          </a:prstGeom>
          <a:solidFill>
            <a:srgbClr val="F2F6F9"/>
          </a:solidFill>
          <a:ln w="12700">
            <a:solidFill>
              <a:srgbClr val="F2F6F9"/>
            </a:solidFill>
            <a:prstDash val="solid"/>
          </a:ln>
        </p:spPr>
      </p:sp>
      <p:sp>
        <p:nvSpPr>
          <p:cNvPr id="7" name="Shape 4"/>
          <p:cNvSpPr/>
          <p:nvPr/>
        </p:nvSpPr>
        <p:spPr>
          <a:xfrm>
            <a:off x="640080" y="1188720"/>
            <a:ext cx="457200" cy="457200"/>
          </a:xfrm>
          <a:prstGeom prst="ellipse">
            <a:avLst/>
          </a:prstGeom>
          <a:solidFill>
            <a:srgbClr val="0B1F33"/>
          </a:solidFill>
          <a:ln w="12700">
            <a:solidFill>
              <a:srgbClr val="0B1F33"/>
            </a:solidFill>
            <a:prstDash val="solid"/>
          </a:ln>
        </p:spPr>
      </p:sp>
      <p:sp>
        <p:nvSpPr>
          <p:cNvPr id="8" name="Text 5"/>
          <p:cNvSpPr txBox="1"/>
          <p:nvPr/>
        </p:nvSpPr>
        <p:spPr>
          <a:xfrm>
            <a:off x="640080" y="1188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9" name="Text 6"/>
          <p:cNvSpPr txBox="1"/>
          <p:nvPr/>
        </p:nvSpPr>
        <p:spPr>
          <a:xfrm>
            <a:off x="1188720" y="1188720"/>
            <a:ext cx="1188720" cy="45720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Admin</a:t>
            </a:r>
            <a:endParaRPr lang="en-US" sz="1400" dirty="0"/>
          </a:p>
        </p:txBody>
      </p:sp>
      <p:sp>
        <p:nvSpPr>
          <p:cNvPr id="10" name="Text 7"/>
          <p:cNvSpPr txBox="1"/>
          <p:nvPr/>
        </p:nvSpPr>
        <p:spPr>
          <a:xfrm>
            <a:off x="594360" y="1828800"/>
            <a:ext cx="1737360" cy="2606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Log in / log out</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View dashboard &amp; charts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View all logs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View alerts &amp; threats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Block IP / account (future)</a:t>
            </a:r>
            <a:endParaRPr lang="en-US" sz="1250" dirty="0"/>
          </a:p>
        </p:txBody>
      </p:sp>
      <p:sp>
        <p:nvSpPr>
          <p:cNvPr id="11" name="Shape 8"/>
          <p:cNvSpPr/>
          <p:nvPr/>
        </p:nvSpPr>
        <p:spPr>
          <a:xfrm>
            <a:off x="2560320" y="1051560"/>
            <a:ext cx="1965960" cy="3474720"/>
          </a:xfrm>
          <a:prstGeom prst="roundRect">
            <a:avLst>
              <a:gd name="adj" fmla="val 3721"/>
            </a:avLst>
          </a:prstGeom>
          <a:solidFill>
            <a:srgbClr val="F2F6F9"/>
          </a:solidFill>
          <a:ln w="12700">
            <a:solidFill>
              <a:srgbClr val="F2F6F9"/>
            </a:solidFill>
            <a:prstDash val="solid"/>
          </a:ln>
        </p:spPr>
      </p:sp>
      <p:sp>
        <p:nvSpPr>
          <p:cNvPr id="12" name="Shape 9"/>
          <p:cNvSpPr/>
          <p:nvPr/>
        </p:nvSpPr>
        <p:spPr>
          <a:xfrm>
            <a:off x="2743200" y="1188720"/>
            <a:ext cx="457200" cy="457200"/>
          </a:xfrm>
          <a:prstGeom prst="ellipse">
            <a:avLst/>
          </a:prstGeom>
          <a:solidFill>
            <a:srgbClr val="1FA2A6"/>
          </a:solidFill>
          <a:ln w="12700">
            <a:solidFill>
              <a:srgbClr val="1FA2A6"/>
            </a:solidFill>
            <a:prstDash val="solid"/>
          </a:ln>
        </p:spPr>
      </p:sp>
      <p:sp>
        <p:nvSpPr>
          <p:cNvPr id="13" name="Text 10"/>
          <p:cNvSpPr txBox="1"/>
          <p:nvPr/>
        </p:nvSpPr>
        <p:spPr>
          <a:xfrm>
            <a:off x="2743200" y="1188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14" name="Text 11"/>
          <p:cNvSpPr txBox="1"/>
          <p:nvPr/>
        </p:nvSpPr>
        <p:spPr>
          <a:xfrm>
            <a:off x="3291840" y="1188720"/>
            <a:ext cx="1188720" cy="457200"/>
          </a:xfrm>
          <a:prstGeom prst="rect">
            <a:avLst/>
          </a:prstGeom>
          <a:noFill/>
          <a:ln/>
        </p:spPr>
        <p:txBody>
          <a:bodyPr wrap="square" lIns="0" tIns="0" rIns="0" bIns="0" rtlCol="0" anchor="ctr"/>
          <a:lstStyle/>
          <a:p>
            <a:pPr indent="0" marL="0">
              <a:buNone/>
            </a:pPr>
            <a:r>
              <a:rPr lang="en-US" sz="1400" b="1" dirty="0">
                <a:solidFill>
                  <a:srgbClr val="1FA2A6"/>
                </a:solidFill>
                <a:latin typeface="Calibri" pitchFamily="34" charset="0"/>
                <a:ea typeface="Calibri" pitchFamily="34" charset="-122"/>
                <a:cs typeface="Calibri" pitchFamily="34" charset="-120"/>
              </a:rPr>
              <a:t>Viewer</a:t>
            </a:r>
            <a:endParaRPr lang="en-US" sz="1400" dirty="0"/>
          </a:p>
        </p:txBody>
      </p:sp>
      <p:sp>
        <p:nvSpPr>
          <p:cNvPr id="15" name="Text 12"/>
          <p:cNvSpPr txBox="1"/>
          <p:nvPr/>
        </p:nvSpPr>
        <p:spPr>
          <a:xfrm>
            <a:off x="2697480" y="1828800"/>
            <a:ext cx="1737360" cy="2606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Log in / log out</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View dashboard &amp; charts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Read-only access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Admin actions refused (403)</a:t>
            </a:r>
            <a:endParaRPr lang="en-US" sz="1250" dirty="0"/>
          </a:p>
        </p:txBody>
      </p:sp>
      <p:sp>
        <p:nvSpPr>
          <p:cNvPr id="16" name="Shape 13"/>
          <p:cNvSpPr/>
          <p:nvPr/>
        </p:nvSpPr>
        <p:spPr>
          <a:xfrm>
            <a:off x="4663440" y="1051560"/>
            <a:ext cx="1965960" cy="3474720"/>
          </a:xfrm>
          <a:prstGeom prst="roundRect">
            <a:avLst>
              <a:gd name="adj" fmla="val 3721"/>
            </a:avLst>
          </a:prstGeom>
          <a:solidFill>
            <a:srgbClr val="F2F6F9"/>
          </a:solidFill>
          <a:ln w="12700">
            <a:solidFill>
              <a:srgbClr val="F2F6F9"/>
            </a:solidFill>
            <a:prstDash val="solid"/>
          </a:ln>
        </p:spPr>
      </p:sp>
      <p:sp>
        <p:nvSpPr>
          <p:cNvPr id="17" name="Shape 14"/>
          <p:cNvSpPr/>
          <p:nvPr/>
        </p:nvSpPr>
        <p:spPr>
          <a:xfrm>
            <a:off x="4846320" y="1188720"/>
            <a:ext cx="457200" cy="457200"/>
          </a:xfrm>
          <a:prstGeom prst="ellipse">
            <a:avLst/>
          </a:prstGeom>
          <a:solidFill>
            <a:srgbClr val="E63946"/>
          </a:solidFill>
          <a:ln w="12700">
            <a:solidFill>
              <a:srgbClr val="E63946"/>
            </a:solidFill>
            <a:prstDash val="solid"/>
          </a:ln>
        </p:spPr>
      </p:sp>
      <p:sp>
        <p:nvSpPr>
          <p:cNvPr id="18" name="Text 15"/>
          <p:cNvSpPr txBox="1"/>
          <p:nvPr/>
        </p:nvSpPr>
        <p:spPr>
          <a:xfrm>
            <a:off x="4846320" y="1188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6"/>
          <p:cNvSpPr txBox="1"/>
          <p:nvPr/>
        </p:nvSpPr>
        <p:spPr>
          <a:xfrm>
            <a:off x="5394960" y="1188720"/>
            <a:ext cx="1188720" cy="457200"/>
          </a:xfrm>
          <a:prstGeom prst="rect">
            <a:avLst/>
          </a:prstGeom>
          <a:noFill/>
          <a:ln/>
        </p:spPr>
        <p:txBody>
          <a:bodyPr wrap="square" lIns="0" tIns="0" rIns="0" bIns="0"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Demo User / Attacker</a:t>
            </a:r>
            <a:endParaRPr lang="en-US" sz="1400" dirty="0"/>
          </a:p>
        </p:txBody>
      </p:sp>
      <p:sp>
        <p:nvSpPr>
          <p:cNvPr id="20" name="Text 17"/>
          <p:cNvSpPr txBox="1"/>
          <p:nvPr/>
        </p:nvSpPr>
        <p:spPr>
          <a:xfrm>
            <a:off x="4800600" y="1828800"/>
            <a:ext cx="1737360" cy="2606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Log in to demo portal</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Search on demo portal</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Every attempt is logged</a:t>
            </a:r>
            <a:endParaRPr lang="en-US" sz="1250" dirty="0"/>
          </a:p>
        </p:txBody>
      </p:sp>
      <p:sp>
        <p:nvSpPr>
          <p:cNvPr id="21" name="Shape 18"/>
          <p:cNvSpPr/>
          <p:nvPr/>
        </p:nvSpPr>
        <p:spPr>
          <a:xfrm>
            <a:off x="6766560" y="1051560"/>
            <a:ext cx="1965960" cy="3474720"/>
          </a:xfrm>
          <a:prstGeom prst="roundRect">
            <a:avLst>
              <a:gd name="adj" fmla="val 3721"/>
            </a:avLst>
          </a:prstGeom>
          <a:solidFill>
            <a:srgbClr val="F2F6F9"/>
          </a:solidFill>
          <a:ln w="12700">
            <a:solidFill>
              <a:srgbClr val="F2F6F9"/>
            </a:solidFill>
            <a:prstDash val="solid"/>
          </a:ln>
        </p:spPr>
      </p:sp>
      <p:sp>
        <p:nvSpPr>
          <p:cNvPr id="22" name="Shape 19"/>
          <p:cNvSpPr/>
          <p:nvPr/>
        </p:nvSpPr>
        <p:spPr>
          <a:xfrm>
            <a:off x="6949440" y="1188720"/>
            <a:ext cx="457200" cy="457200"/>
          </a:xfrm>
          <a:prstGeom prst="ellipse">
            <a:avLst/>
          </a:prstGeom>
          <a:solidFill>
            <a:srgbClr val="5B6B7B"/>
          </a:solidFill>
          <a:ln w="12700">
            <a:solidFill>
              <a:srgbClr val="5B6B7B"/>
            </a:solidFill>
            <a:prstDash val="solid"/>
          </a:ln>
        </p:spPr>
      </p:sp>
      <p:sp>
        <p:nvSpPr>
          <p:cNvPr id="23" name="Text 20"/>
          <p:cNvSpPr txBox="1"/>
          <p:nvPr/>
        </p:nvSpPr>
        <p:spPr>
          <a:xfrm>
            <a:off x="6949440" y="1188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4" name="Text 21"/>
          <p:cNvSpPr txBox="1"/>
          <p:nvPr/>
        </p:nvSpPr>
        <p:spPr>
          <a:xfrm>
            <a:off x="7498080" y="1188720"/>
            <a:ext cx="1188720" cy="45720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System</a:t>
            </a:r>
            <a:endParaRPr lang="en-US" sz="1400" dirty="0"/>
          </a:p>
        </p:txBody>
      </p:sp>
      <p:sp>
        <p:nvSpPr>
          <p:cNvPr id="25" name="Text 22"/>
          <p:cNvSpPr txBox="1"/>
          <p:nvPr/>
        </p:nvSpPr>
        <p:spPr>
          <a:xfrm>
            <a:off x="6903720" y="1828800"/>
            <a:ext cx="1737360" cy="2606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Collect logs (Vector)</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Run detection rules</a:t>
            </a:r>
            <a:endParaRPr lang="en-US" sz="1250" dirty="0"/>
          </a:p>
          <a:p>
            <a:pPr marL="177800" indent="-1778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Generate &amp; store alerts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cxnSp>
        <p:nvCxnSpPr>
          <p:cNvPr id="118" name="Motif 118"/>
          <p:cNvCxnSpPr/>
          <p:nvPr/>
        </p:nvCxnSpPr>
        <p:spPr>
          <a:xfrm flipV="1">
            <a:off x="7501738" y="340157"/>
            <a:ext cx="320954" cy="263347"/>
          </a:xfrm>
          <a:prstGeom prst="line">
            <a:avLst/>
          </a:prstGeom>
          <a:ln w="9525">
            <a:solidFill>
              <a:srgbClr val="0B1F33">
                <a:alpha val="40000"/>
              </a:srgbClr>
            </a:solidFill>
          </a:ln>
        </p:spPr>
      </p:cxnSp>
      <p:cxnSp>
        <p:nvCxnSpPr>
          <p:cNvPr id="119" name="Motif 119"/>
          <p:cNvCxnSpPr/>
          <p:nvPr/>
        </p:nvCxnSpPr>
        <p:spPr>
          <a:xfrm>
            <a:off x="7501738" y="603504"/>
            <a:ext cx="395021" cy="142646"/>
          </a:xfrm>
          <a:prstGeom prst="line">
            <a:avLst/>
          </a:prstGeom>
          <a:ln w="9525">
            <a:solidFill>
              <a:srgbClr val="0B1F33">
                <a:alpha val="40000"/>
              </a:srgbClr>
            </a:solidFill>
          </a:ln>
        </p:spPr>
      </p:cxnSp>
      <p:cxnSp>
        <p:nvCxnSpPr>
          <p:cNvPr id="120" name="Motif 120"/>
          <p:cNvCxnSpPr/>
          <p:nvPr/>
        </p:nvCxnSpPr>
        <p:spPr>
          <a:xfrm>
            <a:off x="7822692" y="340157"/>
            <a:ext cx="370332" cy="186538"/>
          </a:xfrm>
          <a:prstGeom prst="line">
            <a:avLst/>
          </a:prstGeom>
          <a:ln w="9525">
            <a:solidFill>
              <a:srgbClr val="0B1F33">
                <a:alpha val="40000"/>
              </a:srgbClr>
            </a:solidFill>
          </a:ln>
        </p:spPr>
      </p:cxnSp>
      <p:cxnSp>
        <p:nvCxnSpPr>
          <p:cNvPr id="121" name="Motif 121"/>
          <p:cNvCxnSpPr/>
          <p:nvPr/>
        </p:nvCxnSpPr>
        <p:spPr>
          <a:xfrm flipV="1">
            <a:off x="7896758" y="526694"/>
            <a:ext cx="296266" cy="219456"/>
          </a:xfrm>
          <a:prstGeom prst="line">
            <a:avLst/>
          </a:prstGeom>
          <a:ln w="9525">
            <a:solidFill>
              <a:srgbClr val="0B1F33">
                <a:alpha val="40000"/>
              </a:srgbClr>
            </a:solidFill>
          </a:ln>
        </p:spPr>
      </p:cxnSp>
      <p:cxnSp>
        <p:nvCxnSpPr>
          <p:cNvPr id="122" name="Motif 122"/>
          <p:cNvCxnSpPr/>
          <p:nvPr/>
        </p:nvCxnSpPr>
        <p:spPr>
          <a:xfrm flipV="1">
            <a:off x="8193024" y="318211"/>
            <a:ext cx="296266" cy="208483"/>
          </a:xfrm>
          <a:prstGeom prst="line">
            <a:avLst/>
          </a:prstGeom>
          <a:ln w="9525">
            <a:solidFill>
              <a:srgbClr val="0B1F33">
                <a:alpha val="40000"/>
              </a:srgbClr>
            </a:solidFill>
          </a:ln>
        </p:spPr>
      </p:cxnSp>
      <p:cxnSp>
        <p:nvCxnSpPr>
          <p:cNvPr id="123" name="Motif 123"/>
          <p:cNvCxnSpPr/>
          <p:nvPr/>
        </p:nvCxnSpPr>
        <p:spPr>
          <a:xfrm>
            <a:off x="8193024" y="526694"/>
            <a:ext cx="456743" cy="142646"/>
          </a:xfrm>
          <a:prstGeom prst="line">
            <a:avLst/>
          </a:prstGeom>
          <a:ln w="9525">
            <a:solidFill>
              <a:srgbClr val="0B1F33">
                <a:alpha val="40000"/>
              </a:srgbClr>
            </a:solidFill>
          </a:ln>
        </p:spPr>
      </p:cxnSp>
      <p:cxnSp>
        <p:nvCxnSpPr>
          <p:cNvPr id="124" name="Motif 124"/>
          <p:cNvCxnSpPr/>
          <p:nvPr/>
        </p:nvCxnSpPr>
        <p:spPr>
          <a:xfrm>
            <a:off x="8489290" y="318211"/>
            <a:ext cx="160477" cy="351130"/>
          </a:xfrm>
          <a:prstGeom prst="line">
            <a:avLst/>
          </a:prstGeom>
          <a:ln w="9525">
            <a:solidFill>
              <a:srgbClr val="0B1F33">
                <a:alpha val="40000"/>
              </a:srgbClr>
            </a:solidFill>
          </a:ln>
        </p:spPr>
      </p:cxnSp>
      <p:sp>
        <p:nvSpPr>
          <p:cNvPr id="125" name="Motif 125"/>
          <p:cNvSpPr/>
          <p:nvPr/>
        </p:nvSpPr>
        <p:spPr>
          <a:xfrm>
            <a:off x="7452360" y="554126"/>
            <a:ext cx="98755" cy="98755"/>
          </a:xfrm>
          <a:prstGeom prst="ellipse">
            <a:avLst/>
          </a:prstGeom>
          <a:solidFill>
            <a:srgbClr val="1FA2A6">
              <a:alpha val="85000"/>
            </a:srgbClr>
          </a:solidFill>
          <a:ln>
            <a:noFill/>
          </a:ln>
        </p:spPr>
      </p:sp>
      <p:sp>
        <p:nvSpPr>
          <p:cNvPr id="126" name="Motif 126"/>
          <p:cNvSpPr/>
          <p:nvPr/>
        </p:nvSpPr>
        <p:spPr>
          <a:xfrm>
            <a:off x="7784287" y="301752"/>
            <a:ext cx="76810" cy="76810"/>
          </a:xfrm>
          <a:prstGeom prst="ellipse">
            <a:avLst/>
          </a:prstGeom>
          <a:solidFill>
            <a:srgbClr val="0B1F33">
              <a:alpha val="85000"/>
            </a:srgbClr>
          </a:solidFill>
          <a:ln>
            <a:noFill/>
          </a:ln>
        </p:spPr>
      </p:sp>
      <p:sp>
        <p:nvSpPr>
          <p:cNvPr id="127" name="Motif 127"/>
          <p:cNvSpPr/>
          <p:nvPr/>
        </p:nvSpPr>
        <p:spPr>
          <a:xfrm>
            <a:off x="7863840" y="713232"/>
            <a:ext cx="65837" cy="65837"/>
          </a:xfrm>
          <a:prstGeom prst="ellipse">
            <a:avLst/>
          </a:prstGeom>
          <a:solidFill>
            <a:srgbClr val="0B1F33">
              <a:alpha val="85000"/>
            </a:srgbClr>
          </a:solidFill>
          <a:ln>
            <a:noFill/>
          </a:ln>
        </p:spPr>
      </p:sp>
      <p:sp>
        <p:nvSpPr>
          <p:cNvPr id="128" name="Motif 128"/>
          <p:cNvSpPr/>
          <p:nvPr/>
        </p:nvSpPr>
        <p:spPr>
          <a:xfrm>
            <a:off x="8124444" y="458114"/>
            <a:ext cx="137160" cy="137160"/>
          </a:xfrm>
          <a:prstGeom prst="ellipse">
            <a:avLst/>
          </a:prstGeom>
          <a:solidFill>
            <a:srgbClr val="E63946">
              <a:alpha val="85000"/>
            </a:srgbClr>
          </a:solidFill>
          <a:ln>
            <a:noFill/>
          </a:ln>
        </p:spPr>
      </p:sp>
      <p:sp>
        <p:nvSpPr>
          <p:cNvPr id="129" name="Motif 129"/>
          <p:cNvSpPr/>
          <p:nvPr/>
        </p:nvSpPr>
        <p:spPr>
          <a:xfrm>
            <a:off x="8448142" y="277063"/>
            <a:ext cx="82296" cy="82296"/>
          </a:xfrm>
          <a:prstGeom prst="ellipse">
            <a:avLst/>
          </a:prstGeom>
          <a:solidFill>
            <a:srgbClr val="1FA2A6">
              <a:alpha val="85000"/>
            </a:srgbClr>
          </a:solidFill>
          <a:ln>
            <a:noFill/>
          </a:ln>
        </p:spPr>
      </p:sp>
      <p:sp>
        <p:nvSpPr>
          <p:cNvPr id="130" name="Motif 130"/>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Database Design – OpenSearch</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12 / 20</a:t>
            </a:r>
            <a:endParaRPr lang="en-US" sz="900" dirty="0"/>
          </a:p>
        </p:txBody>
      </p:sp>
      <p:sp>
        <p:nvSpPr>
          <p:cNvPr id="6" name="Shape 3"/>
          <p:cNvSpPr/>
          <p:nvPr/>
        </p:nvSpPr>
        <p:spPr>
          <a:xfrm>
            <a:off x="457200" y="1051560"/>
            <a:ext cx="2606040" cy="685800"/>
          </a:xfrm>
          <a:prstGeom prst="roundRect">
            <a:avLst>
              <a:gd name="adj" fmla="val 10667"/>
            </a:avLst>
          </a:prstGeom>
          <a:solidFill>
            <a:srgbClr val="1FA2A6"/>
          </a:solidFill>
          <a:ln w="12700">
            <a:solidFill>
              <a:srgbClr val="1FA2A6"/>
            </a:solidFill>
            <a:prstDash val="solid"/>
          </a:ln>
        </p:spPr>
      </p:sp>
      <p:sp>
        <p:nvSpPr>
          <p:cNvPr id="7" name="Text 4"/>
          <p:cNvSpPr txBox="1"/>
          <p:nvPr/>
        </p:nvSpPr>
        <p:spPr>
          <a:xfrm>
            <a:off x="594360" y="1051560"/>
            <a:ext cx="23774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logs-index</a:t>
            </a:r>
            <a:endParaRPr lang="en-US" sz="1700" dirty="0"/>
          </a:p>
          <a:p>
            <a:pPr indent="0" marL="0">
              <a:buNone/>
            </a:pPr>
            <a:r>
              <a:rPr lang="en-US" sz="1100" dirty="0">
                <a:solidFill>
                  <a:srgbClr val="FFFFFF"/>
                </a:solidFill>
                <a:latin typeface="Calibri" pitchFamily="34" charset="0"/>
                <a:ea typeface="Calibri" pitchFamily="34" charset="-122"/>
                <a:cs typeface="Calibri" pitchFamily="34" charset="-120"/>
              </a:rPr>
              <a:t>Every parsed log event</a:t>
            </a:r>
            <a:endParaRPr lang="en-US" sz="1700" dirty="0"/>
          </a:p>
        </p:txBody>
      </p:sp>
      <p:sp>
        <p:nvSpPr>
          <p:cNvPr id="8" name="Shape 5"/>
          <p:cNvSpPr/>
          <p:nvPr/>
        </p:nvSpPr>
        <p:spPr>
          <a:xfrm>
            <a:off x="457200" y="1828800"/>
            <a:ext cx="2606040" cy="2697480"/>
          </a:xfrm>
          <a:prstGeom prst="roundRect">
            <a:avLst>
              <a:gd name="adj" fmla="val 2807"/>
            </a:avLst>
          </a:prstGeom>
          <a:solidFill>
            <a:srgbClr val="F2F6F9"/>
          </a:solidFill>
          <a:ln w="12700">
            <a:solidFill>
              <a:srgbClr val="F2F6F9"/>
            </a:solidFill>
            <a:prstDash val="solid"/>
          </a:ln>
        </p:spPr>
      </p:sp>
      <p:sp>
        <p:nvSpPr>
          <p:cNvPr id="9" name="Text 6"/>
          <p:cNvSpPr txBox="1"/>
          <p:nvPr/>
        </p:nvSpPr>
        <p:spPr>
          <a:xfrm>
            <a:off x="594360" y="1920240"/>
            <a:ext cx="2377440" cy="2514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timestamp</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log_type</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source_ip</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event / username</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path / status</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message</a:t>
            </a:r>
            <a:endParaRPr lang="en-US" sz="1300" dirty="0"/>
          </a:p>
        </p:txBody>
      </p:sp>
      <p:sp>
        <p:nvSpPr>
          <p:cNvPr id="10" name="Shape 7"/>
          <p:cNvSpPr/>
          <p:nvPr/>
        </p:nvSpPr>
        <p:spPr>
          <a:xfrm>
            <a:off x="3246120" y="1051560"/>
            <a:ext cx="2606040" cy="685800"/>
          </a:xfrm>
          <a:prstGeom prst="roundRect">
            <a:avLst>
              <a:gd name="adj" fmla="val 10667"/>
            </a:avLst>
          </a:prstGeom>
          <a:solidFill>
            <a:srgbClr val="E63946"/>
          </a:solidFill>
          <a:ln w="12700">
            <a:solidFill>
              <a:srgbClr val="E63946"/>
            </a:solidFill>
            <a:prstDash val="solid"/>
          </a:ln>
        </p:spPr>
      </p:sp>
      <p:sp>
        <p:nvSpPr>
          <p:cNvPr id="11" name="Text 8"/>
          <p:cNvSpPr txBox="1"/>
          <p:nvPr/>
        </p:nvSpPr>
        <p:spPr>
          <a:xfrm>
            <a:off x="3383280" y="1051560"/>
            <a:ext cx="23774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alerts-index</a:t>
            </a:r>
            <a:endParaRPr lang="en-US" sz="1700" dirty="0"/>
          </a:p>
          <a:p>
            <a:pPr indent="0" marL="0">
              <a:buNone/>
            </a:pPr>
            <a:r>
              <a:rPr lang="en-US" sz="1100" dirty="0">
                <a:solidFill>
                  <a:srgbClr val="FFFFFF"/>
                </a:solidFill>
                <a:latin typeface="Calibri" pitchFamily="34" charset="0"/>
                <a:ea typeface="Calibri" pitchFamily="34" charset="-122"/>
                <a:cs typeface="Calibri" pitchFamily="34" charset="-120"/>
              </a:rPr>
              <a:t>Every alert raised</a:t>
            </a:r>
            <a:endParaRPr lang="en-US" sz="1700" dirty="0"/>
          </a:p>
        </p:txBody>
      </p:sp>
      <p:sp>
        <p:nvSpPr>
          <p:cNvPr id="12" name="Shape 9"/>
          <p:cNvSpPr/>
          <p:nvPr/>
        </p:nvSpPr>
        <p:spPr>
          <a:xfrm>
            <a:off x="3246120" y="1828800"/>
            <a:ext cx="2606040" cy="2697480"/>
          </a:xfrm>
          <a:prstGeom prst="roundRect">
            <a:avLst>
              <a:gd name="adj" fmla="val 2807"/>
            </a:avLst>
          </a:prstGeom>
          <a:solidFill>
            <a:srgbClr val="F2F6F9"/>
          </a:solidFill>
          <a:ln w="12700">
            <a:solidFill>
              <a:srgbClr val="F2F6F9"/>
            </a:solidFill>
            <a:prstDash val="solid"/>
          </a:ln>
        </p:spPr>
      </p:sp>
      <p:sp>
        <p:nvSpPr>
          <p:cNvPr id="13" name="Text 10"/>
          <p:cNvSpPr txBox="1"/>
          <p:nvPr/>
        </p:nvSpPr>
        <p:spPr>
          <a:xfrm>
            <a:off x="3383280" y="1920240"/>
            <a:ext cx="2377440" cy="2514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timestamp</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alert_type</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source_ip</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attempt_count</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severity</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mitre_id / tactic</a:t>
            </a:r>
            <a:endParaRPr lang="en-US" sz="1300" dirty="0"/>
          </a:p>
        </p:txBody>
      </p:sp>
      <p:sp>
        <p:nvSpPr>
          <p:cNvPr id="14" name="Shape 11"/>
          <p:cNvSpPr/>
          <p:nvPr/>
        </p:nvSpPr>
        <p:spPr>
          <a:xfrm>
            <a:off x="6035040" y="1051560"/>
            <a:ext cx="2606040" cy="685800"/>
          </a:xfrm>
          <a:prstGeom prst="roundRect">
            <a:avLst>
              <a:gd name="adj" fmla="val 10667"/>
            </a:avLst>
          </a:prstGeom>
          <a:solidFill>
            <a:srgbClr val="0B1F33"/>
          </a:solidFill>
          <a:ln w="12700">
            <a:solidFill>
              <a:srgbClr val="0B1F33"/>
            </a:solidFill>
            <a:prstDash val="solid"/>
          </a:ln>
        </p:spPr>
      </p:sp>
      <p:sp>
        <p:nvSpPr>
          <p:cNvPr id="15" name="Text 12"/>
          <p:cNvSpPr txBox="1"/>
          <p:nvPr/>
        </p:nvSpPr>
        <p:spPr>
          <a:xfrm>
            <a:off x="6172200" y="1051560"/>
            <a:ext cx="23774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blocked-index</a:t>
            </a:r>
            <a:endParaRPr lang="en-US" sz="1700" dirty="0"/>
          </a:p>
          <a:p>
            <a:pPr indent="0" marL="0">
              <a:buNone/>
            </a:pPr>
            <a:r>
              <a:rPr lang="en-US" sz="1100" dirty="0">
                <a:solidFill>
                  <a:srgbClr val="FFFFFF"/>
                </a:solidFill>
                <a:latin typeface="Calibri" pitchFamily="34" charset="0"/>
                <a:ea typeface="Calibri" pitchFamily="34" charset="-122"/>
                <a:cs typeface="Calibri" pitchFamily="34" charset="-120"/>
              </a:rPr>
              <a:t>Blocklist (future feature)</a:t>
            </a:r>
            <a:endParaRPr lang="en-US" sz="1700" dirty="0"/>
          </a:p>
        </p:txBody>
      </p:sp>
      <p:sp>
        <p:nvSpPr>
          <p:cNvPr id="16" name="Shape 13"/>
          <p:cNvSpPr/>
          <p:nvPr/>
        </p:nvSpPr>
        <p:spPr>
          <a:xfrm>
            <a:off x="6035040" y="1828800"/>
            <a:ext cx="2606040" cy="2697480"/>
          </a:xfrm>
          <a:prstGeom prst="roundRect">
            <a:avLst>
              <a:gd name="adj" fmla="val 2807"/>
            </a:avLst>
          </a:prstGeom>
          <a:solidFill>
            <a:srgbClr val="F2F6F9"/>
          </a:solidFill>
          <a:ln w="12700">
            <a:solidFill>
              <a:srgbClr val="F2F6F9"/>
            </a:solidFill>
            <a:prstDash val="solid"/>
          </a:ln>
        </p:spPr>
      </p:sp>
      <p:sp>
        <p:nvSpPr>
          <p:cNvPr id="17" name="Text 14"/>
          <p:cNvSpPr txBox="1"/>
          <p:nvPr/>
        </p:nvSpPr>
        <p:spPr>
          <a:xfrm>
            <a:off x="6172200" y="1920240"/>
            <a:ext cx="2377440" cy="2514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type (ip / account)</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ip</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username</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blocked_at</a:t>
            </a:r>
            <a:endParaRPr lang="en-US" sz="1300" dirty="0"/>
          </a:p>
          <a:p>
            <a:pPr marL="152400" indent="-152400">
              <a:spcAft>
                <a:spcPts val="500"/>
              </a:spcAft>
              <a:buSzPct val="100000"/>
              <a:buChar char="•"/>
            </a:pPr>
            <a:r>
              <a:rPr lang="en-US" sz="1300" dirty="0">
                <a:solidFill>
                  <a:srgbClr val="1B2733"/>
                </a:solidFill>
                <a:latin typeface="Courier New" pitchFamily="34" charset="0"/>
                <a:ea typeface="Courier New" pitchFamily="34" charset="-122"/>
                <a:cs typeface="Courier New" pitchFamily="34" charset="-120"/>
              </a:rPr>
              <a:t>blocked_by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cxnSp>
        <p:nvCxnSpPr>
          <p:cNvPr id="404" name="Motif 404"/>
          <p:cNvCxnSpPr/>
          <p:nvPr/>
        </p:nvCxnSpPr>
        <p:spPr>
          <a:xfrm flipV="1">
            <a:off x="7501738" y="340157"/>
            <a:ext cx="320954" cy="263347"/>
          </a:xfrm>
          <a:prstGeom prst="line">
            <a:avLst/>
          </a:prstGeom>
          <a:ln w="9525">
            <a:solidFill>
              <a:srgbClr val="0B1F33">
                <a:alpha val="40000"/>
              </a:srgbClr>
            </a:solidFill>
          </a:ln>
        </p:spPr>
      </p:cxnSp>
      <p:cxnSp>
        <p:nvCxnSpPr>
          <p:cNvPr id="405" name="Motif 405"/>
          <p:cNvCxnSpPr/>
          <p:nvPr/>
        </p:nvCxnSpPr>
        <p:spPr>
          <a:xfrm>
            <a:off x="7501738" y="603504"/>
            <a:ext cx="395021" cy="142646"/>
          </a:xfrm>
          <a:prstGeom prst="line">
            <a:avLst/>
          </a:prstGeom>
          <a:ln w="9525">
            <a:solidFill>
              <a:srgbClr val="0B1F33">
                <a:alpha val="40000"/>
              </a:srgbClr>
            </a:solidFill>
          </a:ln>
        </p:spPr>
      </p:cxnSp>
      <p:cxnSp>
        <p:nvCxnSpPr>
          <p:cNvPr id="406" name="Motif 406"/>
          <p:cNvCxnSpPr/>
          <p:nvPr/>
        </p:nvCxnSpPr>
        <p:spPr>
          <a:xfrm>
            <a:off x="7822692" y="340157"/>
            <a:ext cx="370332" cy="186538"/>
          </a:xfrm>
          <a:prstGeom prst="line">
            <a:avLst/>
          </a:prstGeom>
          <a:ln w="9525">
            <a:solidFill>
              <a:srgbClr val="0B1F33">
                <a:alpha val="40000"/>
              </a:srgbClr>
            </a:solidFill>
          </a:ln>
        </p:spPr>
      </p:cxnSp>
      <p:cxnSp>
        <p:nvCxnSpPr>
          <p:cNvPr id="407" name="Motif 407"/>
          <p:cNvCxnSpPr/>
          <p:nvPr/>
        </p:nvCxnSpPr>
        <p:spPr>
          <a:xfrm flipV="1">
            <a:off x="7896758" y="526694"/>
            <a:ext cx="296266" cy="219456"/>
          </a:xfrm>
          <a:prstGeom prst="line">
            <a:avLst/>
          </a:prstGeom>
          <a:ln w="9525">
            <a:solidFill>
              <a:srgbClr val="0B1F33">
                <a:alpha val="40000"/>
              </a:srgbClr>
            </a:solidFill>
          </a:ln>
        </p:spPr>
      </p:cxnSp>
      <p:cxnSp>
        <p:nvCxnSpPr>
          <p:cNvPr id="408" name="Motif 408"/>
          <p:cNvCxnSpPr/>
          <p:nvPr/>
        </p:nvCxnSpPr>
        <p:spPr>
          <a:xfrm flipV="1">
            <a:off x="8193024" y="318211"/>
            <a:ext cx="296266" cy="208483"/>
          </a:xfrm>
          <a:prstGeom prst="line">
            <a:avLst/>
          </a:prstGeom>
          <a:ln w="9525">
            <a:solidFill>
              <a:srgbClr val="0B1F33">
                <a:alpha val="40000"/>
              </a:srgbClr>
            </a:solidFill>
          </a:ln>
        </p:spPr>
      </p:cxnSp>
      <p:cxnSp>
        <p:nvCxnSpPr>
          <p:cNvPr id="409" name="Motif 409"/>
          <p:cNvCxnSpPr/>
          <p:nvPr/>
        </p:nvCxnSpPr>
        <p:spPr>
          <a:xfrm>
            <a:off x="8193024" y="526694"/>
            <a:ext cx="456743" cy="142646"/>
          </a:xfrm>
          <a:prstGeom prst="line">
            <a:avLst/>
          </a:prstGeom>
          <a:ln w="9525">
            <a:solidFill>
              <a:srgbClr val="0B1F33">
                <a:alpha val="40000"/>
              </a:srgbClr>
            </a:solidFill>
          </a:ln>
        </p:spPr>
      </p:cxnSp>
      <p:cxnSp>
        <p:nvCxnSpPr>
          <p:cNvPr id="410" name="Motif 410"/>
          <p:cNvCxnSpPr/>
          <p:nvPr/>
        </p:nvCxnSpPr>
        <p:spPr>
          <a:xfrm>
            <a:off x="8489290" y="318211"/>
            <a:ext cx="160477" cy="351130"/>
          </a:xfrm>
          <a:prstGeom prst="line">
            <a:avLst/>
          </a:prstGeom>
          <a:ln w="9525">
            <a:solidFill>
              <a:srgbClr val="0B1F33">
                <a:alpha val="40000"/>
              </a:srgbClr>
            </a:solidFill>
          </a:ln>
        </p:spPr>
      </p:cxnSp>
      <p:sp>
        <p:nvSpPr>
          <p:cNvPr id="411" name="Motif 411"/>
          <p:cNvSpPr/>
          <p:nvPr/>
        </p:nvSpPr>
        <p:spPr>
          <a:xfrm>
            <a:off x="7452360" y="554126"/>
            <a:ext cx="98755" cy="98755"/>
          </a:xfrm>
          <a:prstGeom prst="ellipse">
            <a:avLst/>
          </a:prstGeom>
          <a:solidFill>
            <a:srgbClr val="1FA2A6">
              <a:alpha val="85000"/>
            </a:srgbClr>
          </a:solidFill>
          <a:ln>
            <a:noFill/>
          </a:ln>
        </p:spPr>
      </p:sp>
      <p:sp>
        <p:nvSpPr>
          <p:cNvPr id="412" name="Motif 412"/>
          <p:cNvSpPr/>
          <p:nvPr/>
        </p:nvSpPr>
        <p:spPr>
          <a:xfrm>
            <a:off x="7784287" y="301752"/>
            <a:ext cx="76810" cy="76810"/>
          </a:xfrm>
          <a:prstGeom prst="ellipse">
            <a:avLst/>
          </a:prstGeom>
          <a:solidFill>
            <a:srgbClr val="0B1F33">
              <a:alpha val="85000"/>
            </a:srgbClr>
          </a:solidFill>
          <a:ln>
            <a:noFill/>
          </a:ln>
        </p:spPr>
      </p:sp>
      <p:sp>
        <p:nvSpPr>
          <p:cNvPr id="413" name="Motif 413"/>
          <p:cNvSpPr/>
          <p:nvPr/>
        </p:nvSpPr>
        <p:spPr>
          <a:xfrm>
            <a:off x="7863840" y="713232"/>
            <a:ext cx="65837" cy="65837"/>
          </a:xfrm>
          <a:prstGeom prst="ellipse">
            <a:avLst/>
          </a:prstGeom>
          <a:solidFill>
            <a:srgbClr val="0B1F33">
              <a:alpha val="85000"/>
            </a:srgbClr>
          </a:solidFill>
          <a:ln>
            <a:noFill/>
          </a:ln>
        </p:spPr>
      </p:sp>
      <p:sp>
        <p:nvSpPr>
          <p:cNvPr id="414" name="Motif 414"/>
          <p:cNvSpPr/>
          <p:nvPr/>
        </p:nvSpPr>
        <p:spPr>
          <a:xfrm>
            <a:off x="8124444" y="458114"/>
            <a:ext cx="137160" cy="137160"/>
          </a:xfrm>
          <a:prstGeom prst="ellipse">
            <a:avLst/>
          </a:prstGeom>
          <a:solidFill>
            <a:srgbClr val="E63946">
              <a:alpha val="85000"/>
            </a:srgbClr>
          </a:solidFill>
          <a:ln>
            <a:noFill/>
          </a:ln>
        </p:spPr>
      </p:sp>
      <p:sp>
        <p:nvSpPr>
          <p:cNvPr id="415" name="Motif 415"/>
          <p:cNvSpPr/>
          <p:nvPr/>
        </p:nvSpPr>
        <p:spPr>
          <a:xfrm>
            <a:off x="8448142" y="277063"/>
            <a:ext cx="82296" cy="82296"/>
          </a:xfrm>
          <a:prstGeom prst="ellipse">
            <a:avLst/>
          </a:prstGeom>
          <a:solidFill>
            <a:srgbClr val="1FA2A6">
              <a:alpha val="85000"/>
            </a:srgbClr>
          </a:solidFill>
          <a:ln>
            <a:noFill/>
          </a:ln>
        </p:spPr>
      </p:sp>
      <p:sp>
        <p:nvSpPr>
          <p:cNvPr id="416" name="Motif 416"/>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Screenshots – Demo Portal</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13 / 20</a:t>
            </a:r>
            <a:endParaRPr lang="en-US" sz="900" dirty="0"/>
          </a:p>
        </p:txBody>
      </p:sp>
      <p:pic>
        <p:nvPicPr>
          <p:cNvPr id="300" name="Screenshot 300" descr="Figure 6.2"/>
          <p:cNvPicPr>
            <a:picLocks noChangeAspect="1"/>
          </p:cNvPicPr>
          <p:nvPr/>
        </p:nvPicPr>
        <p:blipFill>
          <a:blip r:embed="rId90"/>
          <a:stretch>
            <a:fillRect/>
          </a:stretch>
        </p:blipFill>
        <p:spPr>
          <a:xfrm>
            <a:off x="669471" y="1051560"/>
            <a:ext cx="3553097" cy="3108960"/>
          </a:xfrm>
          <a:prstGeom prst="rect">
            <a:avLst/>
          </a:prstGeom>
        </p:spPr>
      </p:pic>
      <p:sp>
        <p:nvSpPr>
          <p:cNvPr id="301" name="Caption 301"/>
          <p:cNvSpPr txBox="1"/>
          <p:nvPr/>
        </p:nvSpPr>
        <p:spPr>
          <a:xfrm>
            <a:off x="457200" y="4233672"/>
            <a:ext cx="3977640" cy="274320"/>
          </a:xfrm>
          <a:prstGeom prst="rect">
            <a:avLst/>
          </a:prstGeom>
          <a:noFill/>
        </p:spPr>
        <p:txBody>
          <a:bodyPr wrap="square" lIns="0" tIns="0" rIns="0" bIns="0" anchor="t"/>
          <a:lstStyle/>
          <a:p>
            <a:pPr algn="ctr"/>
            <a:r>
              <a:rPr lang="en-US" sz="1200" i="1" dirty="0">
                <a:solidFill>
                  <a:srgbClr val="5B6B7B"/>
                </a:solidFill>
                <a:latin typeface="Calibri"/>
              </a:rPr>
              <a:t>Demo login – every failed attempt is logged</a:t>
            </a:r>
          </a:p>
        </p:txBody>
      </p:sp>
      <p:pic>
        <p:nvPicPr>
          <p:cNvPr id="302" name="Screenshot 302" descr="Figure 6.3"/>
          <p:cNvPicPr>
            <a:picLocks noChangeAspect="1"/>
          </p:cNvPicPr>
          <p:nvPr/>
        </p:nvPicPr>
        <p:blipFill>
          <a:blip r:embed="rId91"/>
          <a:stretch>
            <a:fillRect/>
          </a:stretch>
        </p:blipFill>
        <p:spPr>
          <a:xfrm>
            <a:off x="4709160" y="1445895"/>
            <a:ext cx="3977640" cy="2320290"/>
          </a:xfrm>
          <a:prstGeom prst="rect">
            <a:avLst/>
          </a:prstGeom>
        </p:spPr>
      </p:pic>
      <p:sp>
        <p:nvSpPr>
          <p:cNvPr id="303" name="Caption 303"/>
          <p:cNvSpPr txBox="1"/>
          <p:nvPr/>
        </p:nvSpPr>
        <p:spPr>
          <a:xfrm>
            <a:off x="4709160" y="4233672"/>
            <a:ext cx="3977640" cy="274320"/>
          </a:xfrm>
          <a:prstGeom prst="rect">
            <a:avLst/>
          </a:prstGeom>
          <a:noFill/>
        </p:spPr>
        <p:txBody>
          <a:bodyPr wrap="square" lIns="0" tIns="0" rIns="0" bIns="0" anchor="t"/>
          <a:lstStyle/>
          <a:p>
            <a:pPr algn="ctr"/>
            <a:r>
              <a:rPr lang="en-US" sz="1200" i="1" dirty="0">
                <a:solidFill>
                  <a:srgbClr val="5B6B7B"/>
                </a:solidFill>
                <a:latin typeface="Calibri"/>
              </a:rPr>
              <a:t>Search page – XSS payload reflected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cxnSp>
        <p:nvCxnSpPr>
          <p:cNvPr id="402" name="Motif 402"/>
          <p:cNvCxnSpPr/>
          <p:nvPr/>
        </p:nvCxnSpPr>
        <p:spPr>
          <a:xfrm flipV="1">
            <a:off x="7501738" y="340157"/>
            <a:ext cx="320954" cy="263347"/>
          </a:xfrm>
          <a:prstGeom prst="line">
            <a:avLst/>
          </a:prstGeom>
          <a:ln w="9525">
            <a:solidFill>
              <a:srgbClr val="0B1F33">
                <a:alpha val="40000"/>
              </a:srgbClr>
            </a:solidFill>
          </a:ln>
        </p:spPr>
      </p:cxnSp>
      <p:cxnSp>
        <p:nvCxnSpPr>
          <p:cNvPr id="403" name="Motif 403"/>
          <p:cNvCxnSpPr/>
          <p:nvPr/>
        </p:nvCxnSpPr>
        <p:spPr>
          <a:xfrm>
            <a:off x="7501738" y="603504"/>
            <a:ext cx="395021" cy="142646"/>
          </a:xfrm>
          <a:prstGeom prst="line">
            <a:avLst/>
          </a:prstGeom>
          <a:ln w="9525">
            <a:solidFill>
              <a:srgbClr val="0B1F33">
                <a:alpha val="40000"/>
              </a:srgbClr>
            </a:solidFill>
          </a:ln>
        </p:spPr>
      </p:cxnSp>
      <p:cxnSp>
        <p:nvCxnSpPr>
          <p:cNvPr id="404" name="Motif 404"/>
          <p:cNvCxnSpPr/>
          <p:nvPr/>
        </p:nvCxnSpPr>
        <p:spPr>
          <a:xfrm>
            <a:off x="7822692" y="340157"/>
            <a:ext cx="370332" cy="186538"/>
          </a:xfrm>
          <a:prstGeom prst="line">
            <a:avLst/>
          </a:prstGeom>
          <a:ln w="9525">
            <a:solidFill>
              <a:srgbClr val="0B1F33">
                <a:alpha val="40000"/>
              </a:srgbClr>
            </a:solidFill>
          </a:ln>
        </p:spPr>
      </p:cxnSp>
      <p:cxnSp>
        <p:nvCxnSpPr>
          <p:cNvPr id="405" name="Motif 405"/>
          <p:cNvCxnSpPr/>
          <p:nvPr/>
        </p:nvCxnSpPr>
        <p:spPr>
          <a:xfrm flipV="1">
            <a:off x="7896758" y="526694"/>
            <a:ext cx="296266" cy="219456"/>
          </a:xfrm>
          <a:prstGeom prst="line">
            <a:avLst/>
          </a:prstGeom>
          <a:ln w="9525">
            <a:solidFill>
              <a:srgbClr val="0B1F33">
                <a:alpha val="40000"/>
              </a:srgbClr>
            </a:solidFill>
          </a:ln>
        </p:spPr>
      </p:cxnSp>
      <p:cxnSp>
        <p:nvCxnSpPr>
          <p:cNvPr id="406" name="Motif 406"/>
          <p:cNvCxnSpPr/>
          <p:nvPr/>
        </p:nvCxnSpPr>
        <p:spPr>
          <a:xfrm flipV="1">
            <a:off x="8193024" y="318211"/>
            <a:ext cx="296266" cy="208483"/>
          </a:xfrm>
          <a:prstGeom prst="line">
            <a:avLst/>
          </a:prstGeom>
          <a:ln w="9525">
            <a:solidFill>
              <a:srgbClr val="0B1F33">
                <a:alpha val="40000"/>
              </a:srgbClr>
            </a:solidFill>
          </a:ln>
        </p:spPr>
      </p:cxnSp>
      <p:cxnSp>
        <p:nvCxnSpPr>
          <p:cNvPr id="407" name="Motif 407"/>
          <p:cNvCxnSpPr/>
          <p:nvPr/>
        </p:nvCxnSpPr>
        <p:spPr>
          <a:xfrm>
            <a:off x="8193024" y="526694"/>
            <a:ext cx="456743" cy="142646"/>
          </a:xfrm>
          <a:prstGeom prst="line">
            <a:avLst/>
          </a:prstGeom>
          <a:ln w="9525">
            <a:solidFill>
              <a:srgbClr val="0B1F33">
                <a:alpha val="40000"/>
              </a:srgbClr>
            </a:solidFill>
          </a:ln>
        </p:spPr>
      </p:cxnSp>
      <p:cxnSp>
        <p:nvCxnSpPr>
          <p:cNvPr id="408" name="Motif 408"/>
          <p:cNvCxnSpPr/>
          <p:nvPr/>
        </p:nvCxnSpPr>
        <p:spPr>
          <a:xfrm>
            <a:off x="8489290" y="318211"/>
            <a:ext cx="160477" cy="351130"/>
          </a:xfrm>
          <a:prstGeom prst="line">
            <a:avLst/>
          </a:prstGeom>
          <a:ln w="9525">
            <a:solidFill>
              <a:srgbClr val="0B1F33">
                <a:alpha val="40000"/>
              </a:srgbClr>
            </a:solidFill>
          </a:ln>
        </p:spPr>
      </p:cxnSp>
      <p:sp>
        <p:nvSpPr>
          <p:cNvPr id="409" name="Motif 409"/>
          <p:cNvSpPr/>
          <p:nvPr/>
        </p:nvSpPr>
        <p:spPr>
          <a:xfrm>
            <a:off x="7452360" y="554126"/>
            <a:ext cx="98755" cy="98755"/>
          </a:xfrm>
          <a:prstGeom prst="ellipse">
            <a:avLst/>
          </a:prstGeom>
          <a:solidFill>
            <a:srgbClr val="1FA2A6">
              <a:alpha val="85000"/>
            </a:srgbClr>
          </a:solidFill>
          <a:ln>
            <a:noFill/>
          </a:ln>
        </p:spPr>
      </p:sp>
      <p:sp>
        <p:nvSpPr>
          <p:cNvPr id="410" name="Motif 410"/>
          <p:cNvSpPr/>
          <p:nvPr/>
        </p:nvSpPr>
        <p:spPr>
          <a:xfrm>
            <a:off x="7784287" y="301752"/>
            <a:ext cx="76810" cy="76810"/>
          </a:xfrm>
          <a:prstGeom prst="ellipse">
            <a:avLst/>
          </a:prstGeom>
          <a:solidFill>
            <a:srgbClr val="0B1F33">
              <a:alpha val="85000"/>
            </a:srgbClr>
          </a:solidFill>
          <a:ln>
            <a:noFill/>
          </a:ln>
        </p:spPr>
      </p:sp>
      <p:sp>
        <p:nvSpPr>
          <p:cNvPr id="411" name="Motif 411"/>
          <p:cNvSpPr/>
          <p:nvPr/>
        </p:nvSpPr>
        <p:spPr>
          <a:xfrm>
            <a:off x="7863840" y="713232"/>
            <a:ext cx="65837" cy="65837"/>
          </a:xfrm>
          <a:prstGeom prst="ellipse">
            <a:avLst/>
          </a:prstGeom>
          <a:solidFill>
            <a:srgbClr val="0B1F33">
              <a:alpha val="85000"/>
            </a:srgbClr>
          </a:solidFill>
          <a:ln>
            <a:noFill/>
          </a:ln>
        </p:spPr>
      </p:sp>
      <p:sp>
        <p:nvSpPr>
          <p:cNvPr id="412" name="Motif 412"/>
          <p:cNvSpPr/>
          <p:nvPr/>
        </p:nvSpPr>
        <p:spPr>
          <a:xfrm>
            <a:off x="8124444" y="458114"/>
            <a:ext cx="137160" cy="137160"/>
          </a:xfrm>
          <a:prstGeom prst="ellipse">
            <a:avLst/>
          </a:prstGeom>
          <a:solidFill>
            <a:srgbClr val="E63946">
              <a:alpha val="85000"/>
            </a:srgbClr>
          </a:solidFill>
          <a:ln>
            <a:noFill/>
          </a:ln>
        </p:spPr>
      </p:sp>
      <p:sp>
        <p:nvSpPr>
          <p:cNvPr id="413" name="Motif 413"/>
          <p:cNvSpPr/>
          <p:nvPr/>
        </p:nvSpPr>
        <p:spPr>
          <a:xfrm>
            <a:off x="8448142" y="277063"/>
            <a:ext cx="82296" cy="82296"/>
          </a:xfrm>
          <a:prstGeom prst="ellipse">
            <a:avLst/>
          </a:prstGeom>
          <a:solidFill>
            <a:srgbClr val="1FA2A6">
              <a:alpha val="85000"/>
            </a:srgbClr>
          </a:solidFill>
          <a:ln>
            <a:noFill/>
          </a:ln>
        </p:spPr>
      </p:sp>
      <p:sp>
        <p:nvSpPr>
          <p:cNvPr id="414" name="Motif 414"/>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Screenshots – Admin Dashboard</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14 / 20</a:t>
            </a:r>
            <a:endParaRPr lang="en-US" sz="900" dirty="0"/>
          </a:p>
        </p:txBody>
      </p:sp>
      <p:pic>
        <p:nvPicPr>
          <p:cNvPr id="300" name="Screenshot 300" descr="Figure 7.1"/>
          <p:cNvPicPr>
            <a:picLocks noChangeAspect="1"/>
          </p:cNvPicPr>
          <p:nvPr/>
        </p:nvPicPr>
        <p:blipFill>
          <a:blip r:embed="rId90"/>
          <a:stretch>
            <a:fillRect/>
          </a:stretch>
        </p:blipFill>
        <p:spPr>
          <a:xfrm>
            <a:off x="1423686" y="1051560"/>
            <a:ext cx="6296628" cy="3108960"/>
          </a:xfrm>
          <a:prstGeom prst="rect">
            <a:avLst/>
          </a:prstGeom>
        </p:spPr>
      </p:pic>
      <p:sp>
        <p:nvSpPr>
          <p:cNvPr id="301" name="Caption 301"/>
          <p:cNvSpPr txBox="1"/>
          <p:nvPr/>
        </p:nvSpPr>
        <p:spPr>
          <a:xfrm>
            <a:off x="457200" y="4233672"/>
            <a:ext cx="8229600" cy="274320"/>
          </a:xfrm>
          <a:prstGeom prst="rect">
            <a:avLst/>
          </a:prstGeom>
          <a:noFill/>
        </p:spPr>
        <p:txBody>
          <a:bodyPr wrap="square" lIns="0" tIns="0" rIns="0" bIns="0" anchor="t"/>
          <a:lstStyle/>
          <a:p>
            <a:pPr algn="ctr"/>
            <a:r>
              <a:rPr lang="en-US" sz="1200" i="1" dirty="0">
                <a:solidFill>
                  <a:srgbClr val="5B6B7B"/>
                </a:solidFill>
                <a:latin typeface="Calibri"/>
              </a:rPr>
              <a:t>Admin dashboard after the attack simulation – red: brute force / XSS, blue: suspicious login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cxnSp>
        <p:nvCxnSpPr>
          <p:cNvPr id="404" name="Motif 404"/>
          <p:cNvCxnSpPr/>
          <p:nvPr/>
        </p:nvCxnSpPr>
        <p:spPr>
          <a:xfrm flipV="1">
            <a:off x="7501738" y="340157"/>
            <a:ext cx="320954" cy="263347"/>
          </a:xfrm>
          <a:prstGeom prst="line">
            <a:avLst/>
          </a:prstGeom>
          <a:ln w="9525">
            <a:solidFill>
              <a:srgbClr val="0B1F33">
                <a:alpha val="40000"/>
              </a:srgbClr>
            </a:solidFill>
          </a:ln>
        </p:spPr>
      </p:cxnSp>
      <p:cxnSp>
        <p:nvCxnSpPr>
          <p:cNvPr id="405" name="Motif 405"/>
          <p:cNvCxnSpPr/>
          <p:nvPr/>
        </p:nvCxnSpPr>
        <p:spPr>
          <a:xfrm>
            <a:off x="7501738" y="603504"/>
            <a:ext cx="395021" cy="142646"/>
          </a:xfrm>
          <a:prstGeom prst="line">
            <a:avLst/>
          </a:prstGeom>
          <a:ln w="9525">
            <a:solidFill>
              <a:srgbClr val="0B1F33">
                <a:alpha val="40000"/>
              </a:srgbClr>
            </a:solidFill>
          </a:ln>
        </p:spPr>
      </p:cxnSp>
      <p:cxnSp>
        <p:nvCxnSpPr>
          <p:cNvPr id="406" name="Motif 406"/>
          <p:cNvCxnSpPr/>
          <p:nvPr/>
        </p:nvCxnSpPr>
        <p:spPr>
          <a:xfrm>
            <a:off x="7822692" y="340157"/>
            <a:ext cx="370332" cy="186538"/>
          </a:xfrm>
          <a:prstGeom prst="line">
            <a:avLst/>
          </a:prstGeom>
          <a:ln w="9525">
            <a:solidFill>
              <a:srgbClr val="0B1F33">
                <a:alpha val="40000"/>
              </a:srgbClr>
            </a:solidFill>
          </a:ln>
        </p:spPr>
      </p:cxnSp>
      <p:cxnSp>
        <p:nvCxnSpPr>
          <p:cNvPr id="407" name="Motif 407"/>
          <p:cNvCxnSpPr/>
          <p:nvPr/>
        </p:nvCxnSpPr>
        <p:spPr>
          <a:xfrm flipV="1">
            <a:off x="7896758" y="526694"/>
            <a:ext cx="296266" cy="219456"/>
          </a:xfrm>
          <a:prstGeom prst="line">
            <a:avLst/>
          </a:prstGeom>
          <a:ln w="9525">
            <a:solidFill>
              <a:srgbClr val="0B1F33">
                <a:alpha val="40000"/>
              </a:srgbClr>
            </a:solidFill>
          </a:ln>
        </p:spPr>
      </p:cxnSp>
      <p:cxnSp>
        <p:nvCxnSpPr>
          <p:cNvPr id="408" name="Motif 408"/>
          <p:cNvCxnSpPr/>
          <p:nvPr/>
        </p:nvCxnSpPr>
        <p:spPr>
          <a:xfrm flipV="1">
            <a:off x="8193024" y="318211"/>
            <a:ext cx="296266" cy="208483"/>
          </a:xfrm>
          <a:prstGeom prst="line">
            <a:avLst/>
          </a:prstGeom>
          <a:ln w="9525">
            <a:solidFill>
              <a:srgbClr val="0B1F33">
                <a:alpha val="40000"/>
              </a:srgbClr>
            </a:solidFill>
          </a:ln>
        </p:spPr>
      </p:cxnSp>
      <p:cxnSp>
        <p:nvCxnSpPr>
          <p:cNvPr id="409" name="Motif 409"/>
          <p:cNvCxnSpPr/>
          <p:nvPr/>
        </p:nvCxnSpPr>
        <p:spPr>
          <a:xfrm>
            <a:off x="8193024" y="526694"/>
            <a:ext cx="456743" cy="142646"/>
          </a:xfrm>
          <a:prstGeom prst="line">
            <a:avLst/>
          </a:prstGeom>
          <a:ln w="9525">
            <a:solidFill>
              <a:srgbClr val="0B1F33">
                <a:alpha val="40000"/>
              </a:srgbClr>
            </a:solidFill>
          </a:ln>
        </p:spPr>
      </p:cxnSp>
      <p:cxnSp>
        <p:nvCxnSpPr>
          <p:cNvPr id="410" name="Motif 410"/>
          <p:cNvCxnSpPr/>
          <p:nvPr/>
        </p:nvCxnSpPr>
        <p:spPr>
          <a:xfrm>
            <a:off x="8489290" y="318211"/>
            <a:ext cx="160477" cy="351130"/>
          </a:xfrm>
          <a:prstGeom prst="line">
            <a:avLst/>
          </a:prstGeom>
          <a:ln w="9525">
            <a:solidFill>
              <a:srgbClr val="0B1F33">
                <a:alpha val="40000"/>
              </a:srgbClr>
            </a:solidFill>
          </a:ln>
        </p:spPr>
      </p:cxnSp>
      <p:sp>
        <p:nvSpPr>
          <p:cNvPr id="411" name="Motif 411"/>
          <p:cNvSpPr/>
          <p:nvPr/>
        </p:nvSpPr>
        <p:spPr>
          <a:xfrm>
            <a:off x="7452360" y="554126"/>
            <a:ext cx="98755" cy="98755"/>
          </a:xfrm>
          <a:prstGeom prst="ellipse">
            <a:avLst/>
          </a:prstGeom>
          <a:solidFill>
            <a:srgbClr val="1FA2A6">
              <a:alpha val="85000"/>
            </a:srgbClr>
          </a:solidFill>
          <a:ln>
            <a:noFill/>
          </a:ln>
        </p:spPr>
      </p:sp>
      <p:sp>
        <p:nvSpPr>
          <p:cNvPr id="412" name="Motif 412"/>
          <p:cNvSpPr/>
          <p:nvPr/>
        </p:nvSpPr>
        <p:spPr>
          <a:xfrm>
            <a:off x="7784287" y="301752"/>
            <a:ext cx="76810" cy="76810"/>
          </a:xfrm>
          <a:prstGeom prst="ellipse">
            <a:avLst/>
          </a:prstGeom>
          <a:solidFill>
            <a:srgbClr val="0B1F33">
              <a:alpha val="85000"/>
            </a:srgbClr>
          </a:solidFill>
          <a:ln>
            <a:noFill/>
          </a:ln>
        </p:spPr>
      </p:sp>
      <p:sp>
        <p:nvSpPr>
          <p:cNvPr id="413" name="Motif 413"/>
          <p:cNvSpPr/>
          <p:nvPr/>
        </p:nvSpPr>
        <p:spPr>
          <a:xfrm>
            <a:off x="7863840" y="713232"/>
            <a:ext cx="65837" cy="65837"/>
          </a:xfrm>
          <a:prstGeom prst="ellipse">
            <a:avLst/>
          </a:prstGeom>
          <a:solidFill>
            <a:srgbClr val="0B1F33">
              <a:alpha val="85000"/>
            </a:srgbClr>
          </a:solidFill>
          <a:ln>
            <a:noFill/>
          </a:ln>
        </p:spPr>
      </p:sp>
      <p:sp>
        <p:nvSpPr>
          <p:cNvPr id="414" name="Motif 414"/>
          <p:cNvSpPr/>
          <p:nvPr/>
        </p:nvSpPr>
        <p:spPr>
          <a:xfrm>
            <a:off x="8124444" y="458114"/>
            <a:ext cx="137160" cy="137160"/>
          </a:xfrm>
          <a:prstGeom prst="ellipse">
            <a:avLst/>
          </a:prstGeom>
          <a:solidFill>
            <a:srgbClr val="E63946">
              <a:alpha val="85000"/>
            </a:srgbClr>
          </a:solidFill>
          <a:ln>
            <a:noFill/>
          </a:ln>
        </p:spPr>
      </p:sp>
      <p:sp>
        <p:nvSpPr>
          <p:cNvPr id="415" name="Motif 415"/>
          <p:cNvSpPr/>
          <p:nvPr/>
        </p:nvSpPr>
        <p:spPr>
          <a:xfrm>
            <a:off x="8448142" y="277063"/>
            <a:ext cx="82296" cy="82296"/>
          </a:xfrm>
          <a:prstGeom prst="ellipse">
            <a:avLst/>
          </a:prstGeom>
          <a:solidFill>
            <a:srgbClr val="1FA2A6">
              <a:alpha val="85000"/>
            </a:srgbClr>
          </a:solidFill>
          <a:ln>
            <a:noFill/>
          </a:ln>
        </p:spPr>
      </p:sp>
      <p:sp>
        <p:nvSpPr>
          <p:cNvPr id="416" name="Motif 416"/>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Screenshots – Alerts &amp; Response</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15 / 20</a:t>
            </a:r>
            <a:endParaRPr lang="en-US" sz="900" dirty="0"/>
          </a:p>
        </p:txBody>
      </p:sp>
      <p:pic>
        <p:nvPicPr>
          <p:cNvPr id="300" name="Screenshot 300" descr="Figure 6.7"/>
          <p:cNvPicPr>
            <a:picLocks noChangeAspect="1"/>
          </p:cNvPicPr>
          <p:nvPr/>
        </p:nvPicPr>
        <p:blipFill>
          <a:blip r:embed="rId90"/>
          <a:stretch>
            <a:fillRect/>
          </a:stretch>
        </p:blipFill>
        <p:spPr>
          <a:xfrm>
            <a:off x="731520" y="1076983"/>
            <a:ext cx="7680960" cy="1412194"/>
          </a:xfrm>
          <a:prstGeom prst="rect">
            <a:avLst/>
          </a:prstGeom>
        </p:spPr>
      </p:pic>
      <p:sp>
        <p:nvSpPr>
          <p:cNvPr id="301" name="Caption 301"/>
          <p:cNvSpPr txBox="1"/>
          <p:nvPr/>
        </p:nvSpPr>
        <p:spPr>
          <a:xfrm>
            <a:off x="731520" y="2587752"/>
            <a:ext cx="7680960" cy="274320"/>
          </a:xfrm>
          <a:prstGeom prst="rect">
            <a:avLst/>
          </a:prstGeom>
          <a:noFill/>
        </p:spPr>
        <p:txBody>
          <a:bodyPr wrap="square" lIns="0" tIns="0" rIns="0" bIns="0" anchor="t"/>
          <a:lstStyle/>
          <a:p>
            <a:pPr algn="ctr"/>
            <a:r>
              <a:rPr lang="en-US" sz="1200" i="1" dirty="0">
                <a:solidFill>
                  <a:srgbClr val="5B6B7B"/>
                </a:solidFill>
                <a:latin typeface="Calibri"/>
              </a:rPr>
              <a:t>Active alerts grouped by source IP with MITRE / CWE ID</a:t>
            </a:r>
          </a:p>
        </p:txBody>
      </p:sp>
      <p:pic>
        <p:nvPicPr>
          <p:cNvPr id="302" name="Screenshot 302" descr="Figure 6.8"/>
          <p:cNvPicPr>
            <a:picLocks noChangeAspect="1"/>
          </p:cNvPicPr>
          <p:nvPr/>
        </p:nvPicPr>
        <p:blipFill>
          <a:blip r:embed="rId91"/>
          <a:stretch>
            <a:fillRect/>
          </a:stretch>
        </p:blipFill>
        <p:spPr>
          <a:xfrm>
            <a:off x="3260309" y="2880360"/>
            <a:ext cx="2623382" cy="1463040"/>
          </a:xfrm>
          <a:prstGeom prst="rect">
            <a:avLst/>
          </a:prstGeom>
        </p:spPr>
      </p:pic>
      <p:sp>
        <p:nvSpPr>
          <p:cNvPr id="303" name="Caption 303"/>
          <p:cNvSpPr txBox="1"/>
          <p:nvPr/>
        </p:nvSpPr>
        <p:spPr>
          <a:xfrm>
            <a:off x="457200" y="4416552"/>
            <a:ext cx="8229600" cy="274320"/>
          </a:xfrm>
          <a:prstGeom prst="rect">
            <a:avLst/>
          </a:prstGeom>
          <a:noFill/>
        </p:spPr>
        <p:txBody>
          <a:bodyPr wrap="square" lIns="0" tIns="0" rIns="0" bIns="0" anchor="t"/>
          <a:lstStyle/>
          <a:p>
            <a:pPr algn="ctr"/>
            <a:r>
              <a:rPr lang="en-US" sz="1200" i="1" dirty="0">
                <a:solidFill>
                  <a:srgbClr val="5B6B7B"/>
                </a:solidFill>
                <a:latin typeface="Calibri"/>
              </a:rPr>
              <a:t>Blocking is planned for a future version – 'Coming Soon' pop-up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cxnSp>
        <p:nvCxnSpPr>
          <p:cNvPr id="119" name="Motif 119"/>
          <p:cNvCxnSpPr/>
          <p:nvPr/>
        </p:nvCxnSpPr>
        <p:spPr>
          <a:xfrm flipV="1">
            <a:off x="7501738" y="340157"/>
            <a:ext cx="320954" cy="263347"/>
          </a:xfrm>
          <a:prstGeom prst="line">
            <a:avLst/>
          </a:prstGeom>
          <a:ln w="9525">
            <a:solidFill>
              <a:srgbClr val="0B1F33">
                <a:alpha val="40000"/>
              </a:srgbClr>
            </a:solidFill>
          </a:ln>
        </p:spPr>
      </p:cxnSp>
      <p:cxnSp>
        <p:nvCxnSpPr>
          <p:cNvPr id="120" name="Motif 120"/>
          <p:cNvCxnSpPr/>
          <p:nvPr/>
        </p:nvCxnSpPr>
        <p:spPr>
          <a:xfrm>
            <a:off x="7501738" y="603504"/>
            <a:ext cx="395021" cy="142646"/>
          </a:xfrm>
          <a:prstGeom prst="line">
            <a:avLst/>
          </a:prstGeom>
          <a:ln w="9525">
            <a:solidFill>
              <a:srgbClr val="0B1F33">
                <a:alpha val="40000"/>
              </a:srgbClr>
            </a:solidFill>
          </a:ln>
        </p:spPr>
      </p:cxnSp>
      <p:cxnSp>
        <p:nvCxnSpPr>
          <p:cNvPr id="121" name="Motif 121"/>
          <p:cNvCxnSpPr/>
          <p:nvPr/>
        </p:nvCxnSpPr>
        <p:spPr>
          <a:xfrm>
            <a:off x="7822692" y="340157"/>
            <a:ext cx="370332" cy="186538"/>
          </a:xfrm>
          <a:prstGeom prst="line">
            <a:avLst/>
          </a:prstGeom>
          <a:ln w="9525">
            <a:solidFill>
              <a:srgbClr val="0B1F33">
                <a:alpha val="40000"/>
              </a:srgbClr>
            </a:solidFill>
          </a:ln>
        </p:spPr>
      </p:cxnSp>
      <p:cxnSp>
        <p:nvCxnSpPr>
          <p:cNvPr id="122" name="Motif 122"/>
          <p:cNvCxnSpPr/>
          <p:nvPr/>
        </p:nvCxnSpPr>
        <p:spPr>
          <a:xfrm flipV="1">
            <a:off x="7896758" y="526694"/>
            <a:ext cx="296266" cy="219456"/>
          </a:xfrm>
          <a:prstGeom prst="line">
            <a:avLst/>
          </a:prstGeom>
          <a:ln w="9525">
            <a:solidFill>
              <a:srgbClr val="0B1F33">
                <a:alpha val="40000"/>
              </a:srgbClr>
            </a:solidFill>
          </a:ln>
        </p:spPr>
      </p:cxnSp>
      <p:cxnSp>
        <p:nvCxnSpPr>
          <p:cNvPr id="123" name="Motif 123"/>
          <p:cNvCxnSpPr/>
          <p:nvPr/>
        </p:nvCxnSpPr>
        <p:spPr>
          <a:xfrm flipV="1">
            <a:off x="8193024" y="318211"/>
            <a:ext cx="296266" cy="208483"/>
          </a:xfrm>
          <a:prstGeom prst="line">
            <a:avLst/>
          </a:prstGeom>
          <a:ln w="9525">
            <a:solidFill>
              <a:srgbClr val="0B1F33">
                <a:alpha val="40000"/>
              </a:srgbClr>
            </a:solidFill>
          </a:ln>
        </p:spPr>
      </p:cxnSp>
      <p:cxnSp>
        <p:nvCxnSpPr>
          <p:cNvPr id="124" name="Motif 124"/>
          <p:cNvCxnSpPr/>
          <p:nvPr/>
        </p:nvCxnSpPr>
        <p:spPr>
          <a:xfrm>
            <a:off x="8193024" y="526694"/>
            <a:ext cx="456743" cy="142646"/>
          </a:xfrm>
          <a:prstGeom prst="line">
            <a:avLst/>
          </a:prstGeom>
          <a:ln w="9525">
            <a:solidFill>
              <a:srgbClr val="0B1F33">
                <a:alpha val="40000"/>
              </a:srgbClr>
            </a:solidFill>
          </a:ln>
        </p:spPr>
      </p:cxnSp>
      <p:cxnSp>
        <p:nvCxnSpPr>
          <p:cNvPr id="125" name="Motif 125"/>
          <p:cNvCxnSpPr/>
          <p:nvPr/>
        </p:nvCxnSpPr>
        <p:spPr>
          <a:xfrm>
            <a:off x="8489290" y="318211"/>
            <a:ext cx="160477" cy="351130"/>
          </a:xfrm>
          <a:prstGeom prst="line">
            <a:avLst/>
          </a:prstGeom>
          <a:ln w="9525">
            <a:solidFill>
              <a:srgbClr val="0B1F33">
                <a:alpha val="40000"/>
              </a:srgbClr>
            </a:solidFill>
          </a:ln>
        </p:spPr>
      </p:cxnSp>
      <p:sp>
        <p:nvSpPr>
          <p:cNvPr id="126" name="Motif 126"/>
          <p:cNvSpPr/>
          <p:nvPr/>
        </p:nvSpPr>
        <p:spPr>
          <a:xfrm>
            <a:off x="7452360" y="554126"/>
            <a:ext cx="98755" cy="98755"/>
          </a:xfrm>
          <a:prstGeom prst="ellipse">
            <a:avLst/>
          </a:prstGeom>
          <a:solidFill>
            <a:srgbClr val="1FA2A6">
              <a:alpha val="85000"/>
            </a:srgbClr>
          </a:solidFill>
          <a:ln>
            <a:noFill/>
          </a:ln>
        </p:spPr>
      </p:sp>
      <p:sp>
        <p:nvSpPr>
          <p:cNvPr id="127" name="Motif 127"/>
          <p:cNvSpPr/>
          <p:nvPr/>
        </p:nvSpPr>
        <p:spPr>
          <a:xfrm>
            <a:off x="7784287" y="301752"/>
            <a:ext cx="76810" cy="76810"/>
          </a:xfrm>
          <a:prstGeom prst="ellipse">
            <a:avLst/>
          </a:prstGeom>
          <a:solidFill>
            <a:srgbClr val="0B1F33">
              <a:alpha val="85000"/>
            </a:srgbClr>
          </a:solidFill>
          <a:ln>
            <a:noFill/>
          </a:ln>
        </p:spPr>
      </p:sp>
      <p:sp>
        <p:nvSpPr>
          <p:cNvPr id="128" name="Motif 128"/>
          <p:cNvSpPr/>
          <p:nvPr/>
        </p:nvSpPr>
        <p:spPr>
          <a:xfrm>
            <a:off x="7863840" y="713232"/>
            <a:ext cx="65837" cy="65837"/>
          </a:xfrm>
          <a:prstGeom prst="ellipse">
            <a:avLst/>
          </a:prstGeom>
          <a:solidFill>
            <a:srgbClr val="0B1F33">
              <a:alpha val="85000"/>
            </a:srgbClr>
          </a:solidFill>
          <a:ln>
            <a:noFill/>
          </a:ln>
        </p:spPr>
      </p:sp>
      <p:sp>
        <p:nvSpPr>
          <p:cNvPr id="129" name="Motif 129"/>
          <p:cNvSpPr/>
          <p:nvPr/>
        </p:nvSpPr>
        <p:spPr>
          <a:xfrm>
            <a:off x="8124444" y="458114"/>
            <a:ext cx="137160" cy="137160"/>
          </a:xfrm>
          <a:prstGeom prst="ellipse">
            <a:avLst/>
          </a:prstGeom>
          <a:solidFill>
            <a:srgbClr val="E63946">
              <a:alpha val="85000"/>
            </a:srgbClr>
          </a:solidFill>
          <a:ln>
            <a:noFill/>
          </a:ln>
        </p:spPr>
      </p:sp>
      <p:sp>
        <p:nvSpPr>
          <p:cNvPr id="130" name="Motif 130"/>
          <p:cNvSpPr/>
          <p:nvPr/>
        </p:nvSpPr>
        <p:spPr>
          <a:xfrm>
            <a:off x="8448142" y="277063"/>
            <a:ext cx="82296" cy="82296"/>
          </a:xfrm>
          <a:prstGeom prst="ellipse">
            <a:avLst/>
          </a:prstGeom>
          <a:solidFill>
            <a:srgbClr val="1FA2A6">
              <a:alpha val="85000"/>
            </a:srgbClr>
          </a:solidFill>
          <a:ln>
            <a:noFill/>
          </a:ln>
        </p:spPr>
      </p:sp>
      <p:sp>
        <p:nvSpPr>
          <p:cNvPr id="131" name="Motif 131"/>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Testing</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16 / 20</a:t>
            </a:r>
            <a:endParaRPr lang="en-US" sz="900" dirty="0"/>
          </a:p>
        </p:txBody>
      </p:sp>
      <p:sp>
        <p:nvSpPr>
          <p:cNvPr id="6" name="Shape 3"/>
          <p:cNvSpPr/>
          <p:nvPr/>
        </p:nvSpPr>
        <p:spPr>
          <a:xfrm>
            <a:off x="457200" y="1051560"/>
            <a:ext cx="2606040" cy="1234440"/>
          </a:xfrm>
          <a:prstGeom prst="roundRect">
            <a:avLst>
              <a:gd name="adj" fmla="val 5926"/>
            </a:avLst>
          </a:prstGeom>
          <a:solidFill>
            <a:srgbClr val="F2F6F9"/>
          </a:solidFill>
          <a:ln w="12700">
            <a:solidFill>
              <a:srgbClr val="F2F6F9"/>
            </a:solidFill>
            <a:prstDash val="solid"/>
          </a:ln>
        </p:spPr>
      </p:sp>
      <p:sp>
        <p:nvSpPr>
          <p:cNvPr id="7" name="Text 4"/>
          <p:cNvSpPr txBox="1"/>
          <p:nvPr/>
        </p:nvSpPr>
        <p:spPr>
          <a:xfrm>
            <a:off x="457200" y="1097280"/>
            <a:ext cx="2606040" cy="731520"/>
          </a:xfrm>
          <a:prstGeom prst="rect">
            <a:avLst/>
          </a:prstGeom>
          <a:noFill/>
          <a:ln/>
        </p:spPr>
        <p:txBody>
          <a:bodyPr wrap="square" lIns="0" tIns="0" rIns="0" bIns="0" rtlCol="0" anchor="ctr"/>
          <a:lstStyle/>
          <a:p>
            <a:pPr algn="ctr" indent="0" marL="0">
              <a:buNone/>
            </a:pPr>
            <a:r>
              <a:rPr lang="en-US" sz="4000" b="1" dirty="0">
                <a:solidFill>
                  <a:srgbClr val="0B1F33"/>
                </a:solidFill>
                <a:latin typeface="Cambria" pitchFamily="34" charset="0"/>
                <a:ea typeface="Cambria" pitchFamily="34" charset="-122"/>
                <a:cs typeface="Cambria" pitchFamily="34" charset="-120"/>
              </a:rPr>
              <a:t>19</a:t>
            </a:r>
            <a:endParaRPr lang="en-US" sz="4000" dirty="0"/>
          </a:p>
        </p:txBody>
      </p:sp>
      <p:sp>
        <p:nvSpPr>
          <p:cNvPr id="8" name="Text 5"/>
          <p:cNvSpPr txBox="1"/>
          <p:nvPr/>
        </p:nvSpPr>
        <p:spPr>
          <a:xfrm>
            <a:off x="457200" y="1783080"/>
            <a:ext cx="2606040"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test cases</a:t>
            </a:r>
            <a:endParaRPr lang="en-US" sz="1400" dirty="0"/>
          </a:p>
        </p:txBody>
      </p:sp>
      <p:sp>
        <p:nvSpPr>
          <p:cNvPr id="9" name="Shape 6"/>
          <p:cNvSpPr/>
          <p:nvPr/>
        </p:nvSpPr>
        <p:spPr>
          <a:xfrm>
            <a:off x="3246120" y="1051560"/>
            <a:ext cx="2606040" cy="1234440"/>
          </a:xfrm>
          <a:prstGeom prst="roundRect">
            <a:avLst>
              <a:gd name="adj" fmla="val 5926"/>
            </a:avLst>
          </a:prstGeom>
          <a:solidFill>
            <a:srgbClr val="F2F6F9"/>
          </a:solidFill>
          <a:ln w="12700">
            <a:solidFill>
              <a:srgbClr val="F2F6F9"/>
            </a:solidFill>
            <a:prstDash val="solid"/>
          </a:ln>
        </p:spPr>
      </p:sp>
      <p:sp>
        <p:nvSpPr>
          <p:cNvPr id="10" name="Text 7"/>
          <p:cNvSpPr txBox="1"/>
          <p:nvPr/>
        </p:nvSpPr>
        <p:spPr>
          <a:xfrm>
            <a:off x="3246120" y="1097280"/>
            <a:ext cx="2606040" cy="731520"/>
          </a:xfrm>
          <a:prstGeom prst="rect">
            <a:avLst/>
          </a:prstGeom>
          <a:noFill/>
          <a:ln/>
        </p:spPr>
        <p:txBody>
          <a:bodyPr wrap="square" lIns="0" tIns="0" rIns="0" bIns="0" rtlCol="0" anchor="ctr"/>
          <a:lstStyle/>
          <a:p>
            <a:pPr algn="ctr" indent="0" marL="0">
              <a:buNone/>
            </a:pPr>
            <a:r>
              <a:rPr lang="en-US" sz="4000" b="1" dirty="0">
                <a:solidFill>
                  <a:srgbClr val="E63946"/>
                </a:solidFill>
                <a:latin typeface="Cambria" pitchFamily="34" charset="0"/>
                <a:ea typeface="Cambria" pitchFamily="34" charset="-122"/>
                <a:cs typeface="Cambria" pitchFamily="34" charset="-120"/>
              </a:rPr>
              <a:t>3</a:t>
            </a:r>
            <a:endParaRPr lang="en-US" sz="4000" dirty="0"/>
          </a:p>
        </p:txBody>
      </p:sp>
      <p:sp>
        <p:nvSpPr>
          <p:cNvPr id="11" name="Text 8"/>
          <p:cNvSpPr txBox="1"/>
          <p:nvPr/>
        </p:nvSpPr>
        <p:spPr>
          <a:xfrm>
            <a:off x="3246120" y="1783080"/>
            <a:ext cx="2606040"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attack simulations</a:t>
            </a:r>
            <a:endParaRPr lang="en-US" sz="1400" dirty="0"/>
          </a:p>
        </p:txBody>
      </p:sp>
      <p:sp>
        <p:nvSpPr>
          <p:cNvPr id="12" name="Shape 9"/>
          <p:cNvSpPr/>
          <p:nvPr/>
        </p:nvSpPr>
        <p:spPr>
          <a:xfrm>
            <a:off x="6035040" y="1051560"/>
            <a:ext cx="2606040" cy="1234440"/>
          </a:xfrm>
          <a:prstGeom prst="roundRect">
            <a:avLst>
              <a:gd name="adj" fmla="val 5926"/>
            </a:avLst>
          </a:prstGeom>
          <a:solidFill>
            <a:srgbClr val="F2F6F9"/>
          </a:solidFill>
          <a:ln w="12700">
            <a:solidFill>
              <a:srgbClr val="F2F6F9"/>
            </a:solidFill>
            <a:prstDash val="solid"/>
          </a:ln>
        </p:spPr>
      </p:sp>
      <p:sp>
        <p:nvSpPr>
          <p:cNvPr id="13" name="Text 10"/>
          <p:cNvSpPr txBox="1"/>
          <p:nvPr/>
        </p:nvSpPr>
        <p:spPr>
          <a:xfrm>
            <a:off x="6035040" y="1097280"/>
            <a:ext cx="2606040" cy="731520"/>
          </a:xfrm>
          <a:prstGeom prst="rect">
            <a:avLst/>
          </a:prstGeom>
          <a:noFill/>
          <a:ln/>
        </p:spPr>
        <p:txBody>
          <a:bodyPr wrap="square" lIns="0" tIns="0" rIns="0" bIns="0" rtlCol="0" anchor="ctr"/>
          <a:lstStyle/>
          <a:p>
            <a:pPr algn="ctr" indent="0" marL="0">
              <a:buNone/>
            </a:pPr>
            <a:r>
              <a:rPr lang="en-US" sz="4000" b="1" dirty="0">
                <a:solidFill>
                  <a:srgbClr val="1FA2A6"/>
                </a:solidFill>
                <a:latin typeface="Cambria" pitchFamily="34" charset="0"/>
                <a:ea typeface="Cambria" pitchFamily="34" charset="-122"/>
                <a:cs typeface="Cambria" pitchFamily="34" charset="-120"/>
              </a:rPr>
              <a:t>8</a:t>
            </a:r>
            <a:endParaRPr lang="en-US" sz="4000" dirty="0"/>
          </a:p>
        </p:txBody>
      </p:sp>
      <p:sp>
        <p:nvSpPr>
          <p:cNvPr id="14" name="Text 11"/>
          <p:cNvSpPr txBox="1"/>
          <p:nvPr/>
        </p:nvSpPr>
        <p:spPr>
          <a:xfrm>
            <a:off x="6035040" y="1783080"/>
            <a:ext cx="2606040"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bugs fixed</a:t>
            </a:r>
            <a:endParaRPr lang="en-US" sz="1400" dirty="0"/>
          </a:p>
        </p:txBody>
      </p:sp>
      <p:sp>
        <p:nvSpPr>
          <p:cNvPr id="15" name="Text 12"/>
          <p:cNvSpPr txBox="1"/>
          <p:nvPr/>
        </p:nvSpPr>
        <p:spPr>
          <a:xfrm>
            <a:off x="457200" y="2514600"/>
            <a:ext cx="3931920" cy="365760"/>
          </a:xfrm>
          <a:prstGeom prst="rect">
            <a:avLst/>
          </a:prstGeom>
          <a:noFill/>
          <a:ln/>
        </p:spPr>
        <p:txBody>
          <a:bodyPr wrap="square" lIns="0" tIns="0" rIns="0" bIns="0" rtlCol="0" anchor="ctr"/>
          <a:lstStyle/>
          <a:p>
            <a:pPr indent="0" marL="0">
              <a:buNone/>
            </a:pPr>
            <a:r>
              <a:rPr lang="en-US" sz="1800" b="1" dirty="0">
                <a:solidFill>
                  <a:srgbClr val="0B1F33"/>
                </a:solidFill>
                <a:latin typeface="Cambria" pitchFamily="34" charset="0"/>
                <a:ea typeface="Cambria" pitchFamily="34" charset="-122"/>
                <a:cs typeface="Cambria" pitchFamily="34" charset="-120"/>
              </a:rPr>
              <a:t>Levels</a:t>
            </a:r>
            <a:endParaRPr lang="en-US" sz="1800" dirty="0"/>
          </a:p>
        </p:txBody>
      </p:sp>
      <p:sp>
        <p:nvSpPr>
          <p:cNvPr id="16" name="Text 13"/>
          <p:cNvSpPr txBox="1"/>
          <p:nvPr/>
        </p:nvSpPr>
        <p:spPr>
          <a:xfrm>
            <a:off x="457200" y="2880360"/>
            <a:ext cx="393192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Unit – rule logic, sessions, IP checks</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Integration – API → Vector → OpenSearch</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System – full stack in the browser</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Security – attacks and role checks</a:t>
            </a:r>
            <a:endParaRPr lang="en-US" sz="1300" dirty="0"/>
          </a:p>
        </p:txBody>
      </p:sp>
      <p:sp>
        <p:nvSpPr>
          <p:cNvPr id="17" name="Text 14"/>
          <p:cNvSpPr txBox="1"/>
          <p:nvPr/>
        </p:nvSpPr>
        <p:spPr>
          <a:xfrm>
            <a:off x="4754880" y="2514600"/>
            <a:ext cx="3931920" cy="365760"/>
          </a:xfrm>
          <a:prstGeom prst="rect">
            <a:avLst/>
          </a:prstGeom>
          <a:noFill/>
          <a:ln/>
        </p:spPr>
        <p:txBody>
          <a:bodyPr wrap="square" lIns="0" tIns="0" rIns="0" bIns="0" rtlCol="0" anchor="ctr"/>
          <a:lstStyle/>
          <a:p>
            <a:pPr indent="0" marL="0">
              <a:buNone/>
            </a:pPr>
            <a:r>
              <a:rPr lang="en-US" sz="1800" b="1" dirty="0">
                <a:solidFill>
                  <a:srgbClr val="E63946"/>
                </a:solidFill>
                <a:latin typeface="Cambria" pitchFamily="34" charset="0"/>
                <a:ea typeface="Cambria" pitchFamily="34" charset="-122"/>
                <a:cs typeface="Cambria" pitchFamily="34" charset="-120"/>
              </a:rPr>
              <a:t>Attack simulations</a:t>
            </a:r>
            <a:endParaRPr lang="en-US" sz="1800" dirty="0"/>
          </a:p>
        </p:txBody>
      </p:sp>
      <p:sp>
        <p:nvSpPr>
          <p:cNvPr id="18" name="Text 15"/>
          <p:cNvSpPr txBox="1"/>
          <p:nvPr/>
        </p:nvSpPr>
        <p:spPr>
          <a:xfrm>
            <a:off x="4754880" y="2880360"/>
            <a:ext cx="393192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6 wrong logins → Brute Force alert (T1110)</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Failures then success → Suspicious Login (T1078)</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&lt;script&gt; in search → XSS alert (CWE-79)</a:t>
            </a:r>
            <a:endParaRPr lang="en-US" sz="1300" dirty="0"/>
          </a:p>
          <a:p>
            <a:pPr marL="177800" indent="-1778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Viewer calling block → HTTP 403</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cxnSp>
        <p:nvCxnSpPr>
          <p:cNvPr id="136" name="Motif 136"/>
          <p:cNvCxnSpPr/>
          <p:nvPr/>
        </p:nvCxnSpPr>
        <p:spPr>
          <a:xfrm flipV="1">
            <a:off x="7501738" y="340157"/>
            <a:ext cx="320954" cy="263347"/>
          </a:xfrm>
          <a:prstGeom prst="line">
            <a:avLst/>
          </a:prstGeom>
          <a:ln w="9525">
            <a:solidFill>
              <a:srgbClr val="0B1F33">
                <a:alpha val="40000"/>
              </a:srgbClr>
            </a:solidFill>
          </a:ln>
        </p:spPr>
      </p:cxnSp>
      <p:cxnSp>
        <p:nvCxnSpPr>
          <p:cNvPr id="137" name="Motif 137"/>
          <p:cNvCxnSpPr/>
          <p:nvPr/>
        </p:nvCxnSpPr>
        <p:spPr>
          <a:xfrm>
            <a:off x="7501738" y="603504"/>
            <a:ext cx="395021" cy="142646"/>
          </a:xfrm>
          <a:prstGeom prst="line">
            <a:avLst/>
          </a:prstGeom>
          <a:ln w="9525">
            <a:solidFill>
              <a:srgbClr val="0B1F33">
                <a:alpha val="40000"/>
              </a:srgbClr>
            </a:solidFill>
          </a:ln>
        </p:spPr>
      </p:cxnSp>
      <p:cxnSp>
        <p:nvCxnSpPr>
          <p:cNvPr id="138" name="Motif 138"/>
          <p:cNvCxnSpPr/>
          <p:nvPr/>
        </p:nvCxnSpPr>
        <p:spPr>
          <a:xfrm>
            <a:off x="7822692" y="340157"/>
            <a:ext cx="370332" cy="186538"/>
          </a:xfrm>
          <a:prstGeom prst="line">
            <a:avLst/>
          </a:prstGeom>
          <a:ln w="9525">
            <a:solidFill>
              <a:srgbClr val="0B1F33">
                <a:alpha val="40000"/>
              </a:srgbClr>
            </a:solidFill>
          </a:ln>
        </p:spPr>
      </p:cxnSp>
      <p:cxnSp>
        <p:nvCxnSpPr>
          <p:cNvPr id="139" name="Motif 139"/>
          <p:cNvCxnSpPr/>
          <p:nvPr/>
        </p:nvCxnSpPr>
        <p:spPr>
          <a:xfrm flipV="1">
            <a:off x="7896758" y="526694"/>
            <a:ext cx="296266" cy="219456"/>
          </a:xfrm>
          <a:prstGeom prst="line">
            <a:avLst/>
          </a:prstGeom>
          <a:ln w="9525">
            <a:solidFill>
              <a:srgbClr val="0B1F33">
                <a:alpha val="40000"/>
              </a:srgbClr>
            </a:solidFill>
          </a:ln>
        </p:spPr>
      </p:cxnSp>
      <p:cxnSp>
        <p:nvCxnSpPr>
          <p:cNvPr id="140" name="Motif 140"/>
          <p:cNvCxnSpPr/>
          <p:nvPr/>
        </p:nvCxnSpPr>
        <p:spPr>
          <a:xfrm flipV="1">
            <a:off x="8193024" y="318211"/>
            <a:ext cx="296266" cy="208483"/>
          </a:xfrm>
          <a:prstGeom prst="line">
            <a:avLst/>
          </a:prstGeom>
          <a:ln w="9525">
            <a:solidFill>
              <a:srgbClr val="0B1F33">
                <a:alpha val="40000"/>
              </a:srgbClr>
            </a:solidFill>
          </a:ln>
        </p:spPr>
      </p:cxnSp>
      <p:cxnSp>
        <p:nvCxnSpPr>
          <p:cNvPr id="141" name="Motif 141"/>
          <p:cNvCxnSpPr/>
          <p:nvPr/>
        </p:nvCxnSpPr>
        <p:spPr>
          <a:xfrm>
            <a:off x="8193024" y="526694"/>
            <a:ext cx="456743" cy="142646"/>
          </a:xfrm>
          <a:prstGeom prst="line">
            <a:avLst/>
          </a:prstGeom>
          <a:ln w="9525">
            <a:solidFill>
              <a:srgbClr val="0B1F33">
                <a:alpha val="40000"/>
              </a:srgbClr>
            </a:solidFill>
          </a:ln>
        </p:spPr>
      </p:cxnSp>
      <p:cxnSp>
        <p:nvCxnSpPr>
          <p:cNvPr id="142" name="Motif 142"/>
          <p:cNvCxnSpPr/>
          <p:nvPr/>
        </p:nvCxnSpPr>
        <p:spPr>
          <a:xfrm>
            <a:off x="8489290" y="318211"/>
            <a:ext cx="160477" cy="351130"/>
          </a:xfrm>
          <a:prstGeom prst="line">
            <a:avLst/>
          </a:prstGeom>
          <a:ln w="9525">
            <a:solidFill>
              <a:srgbClr val="0B1F33">
                <a:alpha val="40000"/>
              </a:srgbClr>
            </a:solidFill>
          </a:ln>
        </p:spPr>
      </p:cxnSp>
      <p:sp>
        <p:nvSpPr>
          <p:cNvPr id="143" name="Motif 143"/>
          <p:cNvSpPr/>
          <p:nvPr/>
        </p:nvSpPr>
        <p:spPr>
          <a:xfrm>
            <a:off x="7452360" y="554126"/>
            <a:ext cx="98755" cy="98755"/>
          </a:xfrm>
          <a:prstGeom prst="ellipse">
            <a:avLst/>
          </a:prstGeom>
          <a:solidFill>
            <a:srgbClr val="1FA2A6">
              <a:alpha val="85000"/>
            </a:srgbClr>
          </a:solidFill>
          <a:ln>
            <a:noFill/>
          </a:ln>
        </p:spPr>
      </p:sp>
      <p:sp>
        <p:nvSpPr>
          <p:cNvPr id="144" name="Motif 144"/>
          <p:cNvSpPr/>
          <p:nvPr/>
        </p:nvSpPr>
        <p:spPr>
          <a:xfrm>
            <a:off x="7784287" y="301752"/>
            <a:ext cx="76810" cy="76810"/>
          </a:xfrm>
          <a:prstGeom prst="ellipse">
            <a:avLst/>
          </a:prstGeom>
          <a:solidFill>
            <a:srgbClr val="0B1F33">
              <a:alpha val="85000"/>
            </a:srgbClr>
          </a:solidFill>
          <a:ln>
            <a:noFill/>
          </a:ln>
        </p:spPr>
      </p:sp>
      <p:sp>
        <p:nvSpPr>
          <p:cNvPr id="145" name="Motif 145"/>
          <p:cNvSpPr/>
          <p:nvPr/>
        </p:nvSpPr>
        <p:spPr>
          <a:xfrm>
            <a:off x="7863840" y="713232"/>
            <a:ext cx="65837" cy="65837"/>
          </a:xfrm>
          <a:prstGeom prst="ellipse">
            <a:avLst/>
          </a:prstGeom>
          <a:solidFill>
            <a:srgbClr val="0B1F33">
              <a:alpha val="85000"/>
            </a:srgbClr>
          </a:solidFill>
          <a:ln>
            <a:noFill/>
          </a:ln>
        </p:spPr>
      </p:sp>
      <p:sp>
        <p:nvSpPr>
          <p:cNvPr id="146" name="Motif 146"/>
          <p:cNvSpPr/>
          <p:nvPr/>
        </p:nvSpPr>
        <p:spPr>
          <a:xfrm>
            <a:off x="8124444" y="458114"/>
            <a:ext cx="137160" cy="137160"/>
          </a:xfrm>
          <a:prstGeom prst="ellipse">
            <a:avLst/>
          </a:prstGeom>
          <a:solidFill>
            <a:srgbClr val="E63946">
              <a:alpha val="85000"/>
            </a:srgbClr>
          </a:solidFill>
          <a:ln>
            <a:noFill/>
          </a:ln>
        </p:spPr>
      </p:sp>
      <p:sp>
        <p:nvSpPr>
          <p:cNvPr id="147" name="Motif 147"/>
          <p:cNvSpPr/>
          <p:nvPr/>
        </p:nvSpPr>
        <p:spPr>
          <a:xfrm>
            <a:off x="8448142" y="277063"/>
            <a:ext cx="82296" cy="82296"/>
          </a:xfrm>
          <a:prstGeom prst="ellipse">
            <a:avLst/>
          </a:prstGeom>
          <a:solidFill>
            <a:srgbClr val="1FA2A6">
              <a:alpha val="85000"/>
            </a:srgbClr>
          </a:solidFill>
          <a:ln>
            <a:noFill/>
          </a:ln>
        </p:spPr>
      </p:sp>
      <p:sp>
        <p:nvSpPr>
          <p:cNvPr id="148" name="Motif 14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Limitations</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17 / 20</a:t>
            </a:r>
            <a:endParaRPr lang="en-US" sz="900" dirty="0"/>
          </a:p>
        </p:txBody>
      </p:sp>
      <p:sp>
        <p:nvSpPr>
          <p:cNvPr id="6" name="Shape 3"/>
          <p:cNvSpPr/>
          <p:nvPr/>
        </p:nvSpPr>
        <p:spPr>
          <a:xfrm>
            <a:off x="457200" y="1051560"/>
            <a:ext cx="4023360" cy="1024128"/>
          </a:xfrm>
          <a:prstGeom prst="roundRect">
            <a:avLst>
              <a:gd name="adj" fmla="val 7143"/>
            </a:avLst>
          </a:prstGeom>
          <a:solidFill>
            <a:srgbClr val="F2F6F9"/>
          </a:solidFill>
          <a:ln w="12700">
            <a:solidFill>
              <a:srgbClr val="F2F6F9"/>
            </a:solidFill>
            <a:prstDash val="solid"/>
          </a:ln>
        </p:spPr>
      </p:sp>
      <p:sp>
        <p:nvSpPr>
          <p:cNvPr id="7" name="Shape 4"/>
          <p:cNvSpPr/>
          <p:nvPr/>
        </p:nvSpPr>
        <p:spPr>
          <a:xfrm>
            <a:off x="640080" y="1353312"/>
            <a:ext cx="384048" cy="384048"/>
          </a:xfrm>
          <a:prstGeom prst="ellipse">
            <a:avLst/>
          </a:prstGeom>
          <a:solidFill>
            <a:srgbClr val="E63946"/>
          </a:solidFill>
          <a:ln w="12700">
            <a:solidFill>
              <a:srgbClr val="E63946"/>
            </a:solidFill>
            <a:prstDash val="solid"/>
          </a:ln>
        </p:spPr>
      </p:sp>
      <p:sp>
        <p:nvSpPr>
          <p:cNvPr id="8" name="Text 5"/>
          <p:cNvSpPr txBox="1"/>
          <p:nvPr/>
        </p:nvSpPr>
        <p:spPr>
          <a:xfrm>
            <a:off x="640080"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188720" y="1143000"/>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Detection trigger</a:t>
            </a:r>
            <a:endParaRPr lang="en-US" sz="1400" dirty="0"/>
          </a:p>
        </p:txBody>
      </p:sp>
      <p:sp>
        <p:nvSpPr>
          <p:cNvPr id="10" name="Text 7"/>
          <p:cNvSpPr txBox="1"/>
          <p:nvPr/>
        </p:nvSpPr>
        <p:spPr>
          <a:xfrm>
            <a:off x="1188720" y="1463040"/>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Runs when the dashboard asks for alerts, not as a separate background service</a:t>
            </a:r>
            <a:endParaRPr lang="en-US" sz="1200" dirty="0"/>
          </a:p>
        </p:txBody>
      </p:sp>
      <p:sp>
        <p:nvSpPr>
          <p:cNvPr id="11" name="Shape 8"/>
          <p:cNvSpPr/>
          <p:nvPr/>
        </p:nvSpPr>
        <p:spPr>
          <a:xfrm>
            <a:off x="4663440" y="1051560"/>
            <a:ext cx="4023360" cy="1024128"/>
          </a:xfrm>
          <a:prstGeom prst="roundRect">
            <a:avLst>
              <a:gd name="adj" fmla="val 7143"/>
            </a:avLst>
          </a:prstGeom>
          <a:solidFill>
            <a:srgbClr val="F2F6F9"/>
          </a:solidFill>
          <a:ln w="12700">
            <a:solidFill>
              <a:srgbClr val="F2F6F9"/>
            </a:solidFill>
            <a:prstDash val="solid"/>
          </a:ln>
        </p:spPr>
      </p:sp>
      <p:sp>
        <p:nvSpPr>
          <p:cNvPr id="12" name="Shape 9"/>
          <p:cNvSpPr/>
          <p:nvPr/>
        </p:nvSpPr>
        <p:spPr>
          <a:xfrm>
            <a:off x="4846320" y="1353312"/>
            <a:ext cx="384048" cy="384048"/>
          </a:xfrm>
          <a:prstGeom prst="ellipse">
            <a:avLst/>
          </a:prstGeom>
          <a:solidFill>
            <a:srgbClr val="E63946"/>
          </a:solidFill>
          <a:ln w="12700">
            <a:solidFill>
              <a:srgbClr val="E63946"/>
            </a:solidFill>
            <a:prstDash val="solid"/>
          </a:ln>
        </p:spPr>
      </p:sp>
      <p:sp>
        <p:nvSpPr>
          <p:cNvPr id="13" name="Text 10"/>
          <p:cNvSpPr txBox="1"/>
          <p:nvPr/>
        </p:nvSpPr>
        <p:spPr>
          <a:xfrm>
            <a:off x="4846320"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5394960" y="1143000"/>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Duplicate alerts</a:t>
            </a:r>
            <a:endParaRPr lang="en-US" sz="1400" dirty="0"/>
          </a:p>
        </p:txBody>
      </p:sp>
      <p:sp>
        <p:nvSpPr>
          <p:cNvPr id="15" name="Text 12"/>
          <p:cNvSpPr txBox="1"/>
          <p:nvPr/>
        </p:nvSpPr>
        <p:spPr>
          <a:xfrm>
            <a:off x="5394960" y="1463040"/>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Brute-force alerts are not de-duplicated like XSS alerts</a:t>
            </a:r>
            <a:endParaRPr lang="en-US" sz="1200" dirty="0"/>
          </a:p>
        </p:txBody>
      </p:sp>
      <p:sp>
        <p:nvSpPr>
          <p:cNvPr id="16" name="Shape 13"/>
          <p:cNvSpPr/>
          <p:nvPr/>
        </p:nvSpPr>
        <p:spPr>
          <a:xfrm>
            <a:off x="457200" y="2221992"/>
            <a:ext cx="4023360" cy="1024128"/>
          </a:xfrm>
          <a:prstGeom prst="roundRect">
            <a:avLst>
              <a:gd name="adj" fmla="val 7143"/>
            </a:avLst>
          </a:prstGeom>
          <a:solidFill>
            <a:srgbClr val="F2F6F9"/>
          </a:solidFill>
          <a:ln w="12700">
            <a:solidFill>
              <a:srgbClr val="F2F6F9"/>
            </a:solidFill>
            <a:prstDash val="solid"/>
          </a:ln>
        </p:spPr>
      </p:sp>
      <p:sp>
        <p:nvSpPr>
          <p:cNvPr id="17" name="Shape 14"/>
          <p:cNvSpPr/>
          <p:nvPr/>
        </p:nvSpPr>
        <p:spPr>
          <a:xfrm>
            <a:off x="640080" y="2523744"/>
            <a:ext cx="384048" cy="384048"/>
          </a:xfrm>
          <a:prstGeom prst="ellipse">
            <a:avLst/>
          </a:prstGeom>
          <a:solidFill>
            <a:srgbClr val="E63946"/>
          </a:solidFill>
          <a:ln w="12700">
            <a:solidFill>
              <a:srgbClr val="E63946"/>
            </a:solidFill>
            <a:prstDash val="solid"/>
          </a:ln>
        </p:spPr>
      </p:sp>
      <p:sp>
        <p:nvSpPr>
          <p:cNvPr id="18" name="Text 15"/>
          <p:cNvSpPr txBox="1"/>
          <p:nvPr/>
        </p:nvSpPr>
        <p:spPr>
          <a:xfrm>
            <a:off x="64008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188720" y="2313432"/>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Client IP source</a:t>
            </a:r>
            <a:endParaRPr lang="en-US" sz="1400" dirty="0"/>
          </a:p>
        </p:txBody>
      </p:sp>
      <p:sp>
        <p:nvSpPr>
          <p:cNvPr id="20" name="Text 17"/>
          <p:cNvSpPr txBox="1"/>
          <p:nvPr/>
        </p:nvSpPr>
        <p:spPr>
          <a:xfrm>
            <a:off x="1188720" y="2633472"/>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Taken from the X-Forwarded-For header, which a client can set</a:t>
            </a:r>
            <a:endParaRPr lang="en-US" sz="1200" dirty="0"/>
          </a:p>
        </p:txBody>
      </p:sp>
      <p:sp>
        <p:nvSpPr>
          <p:cNvPr id="21" name="Shape 18"/>
          <p:cNvSpPr/>
          <p:nvPr/>
        </p:nvSpPr>
        <p:spPr>
          <a:xfrm>
            <a:off x="4663440" y="2221992"/>
            <a:ext cx="4023360" cy="1024128"/>
          </a:xfrm>
          <a:prstGeom prst="roundRect">
            <a:avLst>
              <a:gd name="adj" fmla="val 7143"/>
            </a:avLst>
          </a:prstGeom>
          <a:solidFill>
            <a:srgbClr val="F2F6F9"/>
          </a:solidFill>
          <a:ln w="12700">
            <a:solidFill>
              <a:srgbClr val="F2F6F9"/>
            </a:solidFill>
            <a:prstDash val="solid"/>
          </a:ln>
        </p:spPr>
      </p:sp>
      <p:sp>
        <p:nvSpPr>
          <p:cNvPr id="22" name="Shape 19"/>
          <p:cNvSpPr/>
          <p:nvPr/>
        </p:nvSpPr>
        <p:spPr>
          <a:xfrm>
            <a:off x="4846320" y="2523744"/>
            <a:ext cx="384048" cy="384048"/>
          </a:xfrm>
          <a:prstGeom prst="ellipse">
            <a:avLst/>
          </a:prstGeom>
          <a:solidFill>
            <a:srgbClr val="E63946"/>
          </a:solidFill>
          <a:ln w="12700">
            <a:solidFill>
              <a:srgbClr val="E63946"/>
            </a:solidFill>
            <a:prstDash val="solid"/>
          </a:ln>
        </p:spPr>
      </p:sp>
      <p:sp>
        <p:nvSpPr>
          <p:cNvPr id="23" name="Text 20"/>
          <p:cNvSpPr txBox="1"/>
          <p:nvPr/>
        </p:nvSpPr>
        <p:spPr>
          <a:xfrm>
            <a:off x="484632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5394960" y="2313432"/>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Response actions</a:t>
            </a:r>
            <a:endParaRPr lang="en-US" sz="1400" dirty="0"/>
          </a:p>
        </p:txBody>
      </p:sp>
      <p:sp>
        <p:nvSpPr>
          <p:cNvPr id="25" name="Text 22"/>
          <p:cNvSpPr txBox="1"/>
          <p:nvPr/>
        </p:nvSpPr>
        <p:spPr>
          <a:xfrm>
            <a:off x="5394960" y="2633472"/>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IP and account blocking are disabled in this version</a:t>
            </a:r>
            <a:endParaRPr lang="en-US" sz="1200" dirty="0"/>
          </a:p>
        </p:txBody>
      </p:sp>
      <p:sp>
        <p:nvSpPr>
          <p:cNvPr id="26" name="Shape 23"/>
          <p:cNvSpPr/>
          <p:nvPr/>
        </p:nvSpPr>
        <p:spPr>
          <a:xfrm>
            <a:off x="457200" y="3392424"/>
            <a:ext cx="4023360" cy="1024128"/>
          </a:xfrm>
          <a:prstGeom prst="roundRect">
            <a:avLst>
              <a:gd name="adj" fmla="val 7143"/>
            </a:avLst>
          </a:prstGeom>
          <a:solidFill>
            <a:srgbClr val="F2F6F9"/>
          </a:solidFill>
          <a:ln w="12700">
            <a:solidFill>
              <a:srgbClr val="F2F6F9"/>
            </a:solidFill>
            <a:prstDash val="solid"/>
          </a:ln>
        </p:spPr>
      </p:sp>
      <p:sp>
        <p:nvSpPr>
          <p:cNvPr id="27" name="Shape 24"/>
          <p:cNvSpPr/>
          <p:nvPr/>
        </p:nvSpPr>
        <p:spPr>
          <a:xfrm>
            <a:off x="640080" y="3694176"/>
            <a:ext cx="384048" cy="384048"/>
          </a:xfrm>
          <a:prstGeom prst="ellipse">
            <a:avLst/>
          </a:prstGeom>
          <a:solidFill>
            <a:srgbClr val="E63946"/>
          </a:solidFill>
          <a:ln w="12700">
            <a:solidFill>
              <a:srgbClr val="E63946"/>
            </a:solidFill>
            <a:prstDash val="solid"/>
          </a:ln>
        </p:spPr>
      </p:sp>
      <p:sp>
        <p:nvSpPr>
          <p:cNvPr id="28" name="Text 25"/>
          <p:cNvSpPr txBox="1"/>
          <p:nvPr/>
        </p:nvSpPr>
        <p:spPr>
          <a:xfrm>
            <a:off x="64008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txBox="1"/>
          <p:nvPr/>
        </p:nvSpPr>
        <p:spPr>
          <a:xfrm>
            <a:off x="1188720" y="3483864"/>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Lab security</a:t>
            </a:r>
            <a:endParaRPr lang="en-US" sz="1400" dirty="0"/>
          </a:p>
        </p:txBody>
      </p:sp>
      <p:sp>
        <p:nvSpPr>
          <p:cNvPr id="30" name="Text 27"/>
          <p:cNvSpPr txBox="1"/>
          <p:nvPr/>
        </p:nvSpPr>
        <p:spPr>
          <a:xfrm>
            <a:off x="1188720" y="3803904"/>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OpenSearch security plugin off; fixed demo credentials</a:t>
            </a:r>
            <a:endParaRPr lang="en-US" sz="1200" dirty="0"/>
          </a:p>
        </p:txBody>
      </p:sp>
      <p:sp>
        <p:nvSpPr>
          <p:cNvPr id="31" name="Shape 28"/>
          <p:cNvSpPr/>
          <p:nvPr/>
        </p:nvSpPr>
        <p:spPr>
          <a:xfrm>
            <a:off x="4663440" y="3392424"/>
            <a:ext cx="4023360" cy="1024128"/>
          </a:xfrm>
          <a:prstGeom prst="roundRect">
            <a:avLst>
              <a:gd name="adj" fmla="val 7143"/>
            </a:avLst>
          </a:prstGeom>
          <a:solidFill>
            <a:srgbClr val="F2F6F9"/>
          </a:solidFill>
          <a:ln w="12700">
            <a:solidFill>
              <a:srgbClr val="F2F6F9"/>
            </a:solidFill>
            <a:prstDash val="solid"/>
          </a:ln>
        </p:spPr>
      </p:sp>
      <p:sp>
        <p:nvSpPr>
          <p:cNvPr id="32" name="Shape 29"/>
          <p:cNvSpPr/>
          <p:nvPr/>
        </p:nvSpPr>
        <p:spPr>
          <a:xfrm>
            <a:off x="4846320" y="3694176"/>
            <a:ext cx="384048" cy="384048"/>
          </a:xfrm>
          <a:prstGeom prst="ellipse">
            <a:avLst/>
          </a:prstGeom>
          <a:solidFill>
            <a:srgbClr val="E63946"/>
          </a:solidFill>
          <a:ln w="12700">
            <a:solidFill>
              <a:srgbClr val="E63946"/>
            </a:solidFill>
            <a:prstDash val="solid"/>
          </a:ln>
        </p:spPr>
      </p:sp>
      <p:sp>
        <p:nvSpPr>
          <p:cNvPr id="33" name="Text 30"/>
          <p:cNvSpPr txBox="1"/>
          <p:nvPr/>
        </p:nvSpPr>
        <p:spPr>
          <a:xfrm>
            <a:off x="484632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1"/>
          <p:cNvSpPr txBox="1"/>
          <p:nvPr/>
        </p:nvSpPr>
        <p:spPr>
          <a:xfrm>
            <a:off x="5394960" y="3483864"/>
            <a:ext cx="3154680" cy="320040"/>
          </a:xfrm>
          <a:prstGeom prst="rect">
            <a:avLst/>
          </a:prstGeom>
          <a:noFill/>
          <a:ln/>
        </p:spPr>
        <p:txBody>
          <a:bodyPr wrap="square" lIns="0" tIns="0" rIns="0" bIns="0" rtlCol="0" anchor="ctr"/>
          <a:lstStyle/>
          <a:p>
            <a:pPr indent="0" marL="0">
              <a:buNone/>
            </a:pPr>
            <a:r>
              <a:rPr lang="en-US" sz="1400" b="1" dirty="0">
                <a:solidFill>
                  <a:srgbClr val="0B1F33"/>
                </a:solidFill>
                <a:latin typeface="Calibri" pitchFamily="34" charset="0"/>
                <a:ea typeface="Calibri" pitchFamily="34" charset="-122"/>
                <a:cs typeface="Calibri" pitchFamily="34" charset="-120"/>
              </a:rPr>
              <a:t>Internet needed</a:t>
            </a:r>
            <a:endParaRPr lang="en-US" sz="1400" dirty="0"/>
          </a:p>
        </p:txBody>
      </p:sp>
      <p:sp>
        <p:nvSpPr>
          <p:cNvPr id="35" name="Text 32"/>
          <p:cNvSpPr txBox="1"/>
          <p:nvPr/>
        </p:nvSpPr>
        <p:spPr>
          <a:xfrm>
            <a:off x="5394960" y="3803904"/>
            <a:ext cx="3154680" cy="54864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Dashboards load Tailwind and Chart.js from a CDN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cxnSp>
        <p:nvCxnSpPr>
          <p:cNvPr id="146" name="Motif 146"/>
          <p:cNvCxnSpPr/>
          <p:nvPr/>
        </p:nvCxnSpPr>
        <p:spPr>
          <a:xfrm flipV="1">
            <a:off x="7501738" y="340157"/>
            <a:ext cx="320954" cy="263347"/>
          </a:xfrm>
          <a:prstGeom prst="line">
            <a:avLst/>
          </a:prstGeom>
          <a:ln w="9525">
            <a:solidFill>
              <a:srgbClr val="0B1F33">
                <a:alpha val="40000"/>
              </a:srgbClr>
            </a:solidFill>
          </a:ln>
        </p:spPr>
      </p:cxnSp>
      <p:cxnSp>
        <p:nvCxnSpPr>
          <p:cNvPr id="147" name="Motif 147"/>
          <p:cNvCxnSpPr/>
          <p:nvPr/>
        </p:nvCxnSpPr>
        <p:spPr>
          <a:xfrm>
            <a:off x="7501738" y="603504"/>
            <a:ext cx="395021" cy="142646"/>
          </a:xfrm>
          <a:prstGeom prst="line">
            <a:avLst/>
          </a:prstGeom>
          <a:ln w="9525">
            <a:solidFill>
              <a:srgbClr val="0B1F33">
                <a:alpha val="40000"/>
              </a:srgbClr>
            </a:solidFill>
          </a:ln>
        </p:spPr>
      </p:cxnSp>
      <p:cxnSp>
        <p:nvCxnSpPr>
          <p:cNvPr id="148" name="Motif 148"/>
          <p:cNvCxnSpPr/>
          <p:nvPr/>
        </p:nvCxnSpPr>
        <p:spPr>
          <a:xfrm>
            <a:off x="7822692" y="340157"/>
            <a:ext cx="370332" cy="186538"/>
          </a:xfrm>
          <a:prstGeom prst="line">
            <a:avLst/>
          </a:prstGeom>
          <a:ln w="9525">
            <a:solidFill>
              <a:srgbClr val="0B1F33">
                <a:alpha val="40000"/>
              </a:srgbClr>
            </a:solidFill>
          </a:ln>
        </p:spPr>
      </p:cxnSp>
      <p:cxnSp>
        <p:nvCxnSpPr>
          <p:cNvPr id="149" name="Motif 149"/>
          <p:cNvCxnSpPr/>
          <p:nvPr/>
        </p:nvCxnSpPr>
        <p:spPr>
          <a:xfrm flipV="1">
            <a:off x="7896758" y="526694"/>
            <a:ext cx="296266" cy="219456"/>
          </a:xfrm>
          <a:prstGeom prst="line">
            <a:avLst/>
          </a:prstGeom>
          <a:ln w="9525">
            <a:solidFill>
              <a:srgbClr val="0B1F33">
                <a:alpha val="40000"/>
              </a:srgbClr>
            </a:solidFill>
          </a:ln>
        </p:spPr>
      </p:cxnSp>
      <p:cxnSp>
        <p:nvCxnSpPr>
          <p:cNvPr id="150" name="Motif 150"/>
          <p:cNvCxnSpPr/>
          <p:nvPr/>
        </p:nvCxnSpPr>
        <p:spPr>
          <a:xfrm flipV="1">
            <a:off x="8193024" y="318211"/>
            <a:ext cx="296266" cy="208483"/>
          </a:xfrm>
          <a:prstGeom prst="line">
            <a:avLst/>
          </a:prstGeom>
          <a:ln w="9525">
            <a:solidFill>
              <a:srgbClr val="0B1F33">
                <a:alpha val="40000"/>
              </a:srgbClr>
            </a:solidFill>
          </a:ln>
        </p:spPr>
      </p:cxnSp>
      <p:cxnSp>
        <p:nvCxnSpPr>
          <p:cNvPr id="151" name="Motif 151"/>
          <p:cNvCxnSpPr/>
          <p:nvPr/>
        </p:nvCxnSpPr>
        <p:spPr>
          <a:xfrm>
            <a:off x="8193024" y="526694"/>
            <a:ext cx="456743" cy="142646"/>
          </a:xfrm>
          <a:prstGeom prst="line">
            <a:avLst/>
          </a:prstGeom>
          <a:ln w="9525">
            <a:solidFill>
              <a:srgbClr val="0B1F33">
                <a:alpha val="40000"/>
              </a:srgbClr>
            </a:solidFill>
          </a:ln>
        </p:spPr>
      </p:cxnSp>
      <p:cxnSp>
        <p:nvCxnSpPr>
          <p:cNvPr id="152" name="Motif 152"/>
          <p:cNvCxnSpPr/>
          <p:nvPr/>
        </p:nvCxnSpPr>
        <p:spPr>
          <a:xfrm>
            <a:off x="8489290" y="318211"/>
            <a:ext cx="160477" cy="351130"/>
          </a:xfrm>
          <a:prstGeom prst="line">
            <a:avLst/>
          </a:prstGeom>
          <a:ln w="9525">
            <a:solidFill>
              <a:srgbClr val="0B1F33">
                <a:alpha val="40000"/>
              </a:srgbClr>
            </a:solidFill>
          </a:ln>
        </p:spPr>
      </p:cxnSp>
      <p:sp>
        <p:nvSpPr>
          <p:cNvPr id="153" name="Motif 153"/>
          <p:cNvSpPr/>
          <p:nvPr/>
        </p:nvSpPr>
        <p:spPr>
          <a:xfrm>
            <a:off x="7452360" y="554126"/>
            <a:ext cx="98755" cy="98755"/>
          </a:xfrm>
          <a:prstGeom prst="ellipse">
            <a:avLst/>
          </a:prstGeom>
          <a:solidFill>
            <a:srgbClr val="1FA2A6">
              <a:alpha val="85000"/>
            </a:srgbClr>
          </a:solidFill>
          <a:ln>
            <a:noFill/>
          </a:ln>
        </p:spPr>
      </p:sp>
      <p:sp>
        <p:nvSpPr>
          <p:cNvPr id="154" name="Motif 154"/>
          <p:cNvSpPr/>
          <p:nvPr/>
        </p:nvSpPr>
        <p:spPr>
          <a:xfrm>
            <a:off x="7784287" y="301752"/>
            <a:ext cx="76810" cy="76810"/>
          </a:xfrm>
          <a:prstGeom prst="ellipse">
            <a:avLst/>
          </a:prstGeom>
          <a:solidFill>
            <a:srgbClr val="0B1F33">
              <a:alpha val="85000"/>
            </a:srgbClr>
          </a:solidFill>
          <a:ln>
            <a:noFill/>
          </a:ln>
        </p:spPr>
      </p:sp>
      <p:sp>
        <p:nvSpPr>
          <p:cNvPr id="155" name="Motif 155"/>
          <p:cNvSpPr/>
          <p:nvPr/>
        </p:nvSpPr>
        <p:spPr>
          <a:xfrm>
            <a:off x="7863840" y="713232"/>
            <a:ext cx="65837" cy="65837"/>
          </a:xfrm>
          <a:prstGeom prst="ellipse">
            <a:avLst/>
          </a:prstGeom>
          <a:solidFill>
            <a:srgbClr val="0B1F33">
              <a:alpha val="85000"/>
            </a:srgbClr>
          </a:solidFill>
          <a:ln>
            <a:noFill/>
          </a:ln>
        </p:spPr>
      </p:sp>
      <p:sp>
        <p:nvSpPr>
          <p:cNvPr id="156" name="Motif 156"/>
          <p:cNvSpPr/>
          <p:nvPr/>
        </p:nvSpPr>
        <p:spPr>
          <a:xfrm>
            <a:off x="8124444" y="458114"/>
            <a:ext cx="137160" cy="137160"/>
          </a:xfrm>
          <a:prstGeom prst="ellipse">
            <a:avLst/>
          </a:prstGeom>
          <a:solidFill>
            <a:srgbClr val="E63946">
              <a:alpha val="85000"/>
            </a:srgbClr>
          </a:solidFill>
          <a:ln>
            <a:noFill/>
          </a:ln>
        </p:spPr>
      </p:sp>
      <p:sp>
        <p:nvSpPr>
          <p:cNvPr id="157" name="Motif 157"/>
          <p:cNvSpPr/>
          <p:nvPr/>
        </p:nvSpPr>
        <p:spPr>
          <a:xfrm>
            <a:off x="8448142" y="277063"/>
            <a:ext cx="82296" cy="82296"/>
          </a:xfrm>
          <a:prstGeom prst="ellipse">
            <a:avLst/>
          </a:prstGeom>
          <a:solidFill>
            <a:srgbClr val="1FA2A6">
              <a:alpha val="85000"/>
            </a:srgbClr>
          </a:solidFill>
          <a:ln>
            <a:noFill/>
          </a:ln>
        </p:spPr>
      </p:sp>
      <p:sp>
        <p:nvSpPr>
          <p:cNvPr id="158" name="Motif 158"/>
          <p:cNvSpPr/>
          <p:nvPr/>
        </p:nvSpPr>
        <p:spPr>
          <a:xfrm>
            <a:off x="8603132" y="622706"/>
            <a:ext cx="93269" cy="93269"/>
          </a:xfrm>
          <a:prstGeom prst="ellipse">
            <a:avLst/>
          </a:prstGeom>
          <a:solidFill>
            <a:srgbClr val="1FA2A6">
              <a:alpha val="85000"/>
            </a:srgbClr>
          </a:solidFill>
          <a:ln>
            <a:noFill/>
          </a:ln>
        </p:spPr>
      </p:sp>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Future Scope</a:t>
            </a:r>
            <a:endParaRPr lang="en-US" sz="28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Micro-SIEM  |  Minor Project (BC05001081)</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18 / 20</a:t>
            </a:r>
            <a:endParaRPr lang="en-US" sz="900" dirty="0"/>
          </a:p>
        </p:txBody>
      </p:sp>
      <p:sp>
        <p:nvSpPr>
          <p:cNvPr id="6" name="Shape 3"/>
          <p:cNvSpPr/>
          <p:nvPr/>
        </p:nvSpPr>
        <p:spPr>
          <a:xfrm>
            <a:off x="457200" y="1051560"/>
            <a:ext cx="1938528" cy="1627632"/>
          </a:xfrm>
          <a:prstGeom prst="roundRect">
            <a:avLst>
              <a:gd name="adj" fmla="val 4494"/>
            </a:avLst>
          </a:prstGeom>
          <a:solidFill>
            <a:srgbClr val="F2F6F9"/>
          </a:solidFill>
          <a:ln w="12700">
            <a:solidFill>
              <a:srgbClr val="F2F6F9"/>
            </a:solidFill>
            <a:prstDash val="solid"/>
          </a:ln>
        </p:spPr>
      </p:sp>
      <p:sp>
        <p:nvSpPr>
          <p:cNvPr id="7" name="Shape 4"/>
          <p:cNvSpPr/>
          <p:nvPr/>
        </p:nvSpPr>
        <p:spPr>
          <a:xfrm>
            <a:off x="621792" y="1216152"/>
            <a:ext cx="384048" cy="384048"/>
          </a:xfrm>
          <a:prstGeom prst="ellipse">
            <a:avLst/>
          </a:prstGeom>
          <a:solidFill>
            <a:srgbClr val="0B1F33"/>
          </a:solidFill>
          <a:ln w="12700">
            <a:solidFill>
              <a:srgbClr val="0B1F33"/>
            </a:solidFill>
            <a:prstDash val="solid"/>
          </a:ln>
        </p:spPr>
      </p:sp>
      <p:sp>
        <p:nvSpPr>
          <p:cNvPr id="8" name="Text 5"/>
          <p:cNvSpPr txBox="1"/>
          <p:nvPr/>
        </p:nvSpPr>
        <p:spPr>
          <a:xfrm>
            <a:off x="621792" y="1216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621792" y="167335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Response actions</a:t>
            </a:r>
            <a:endParaRPr lang="en-US" sz="1300" dirty="0"/>
          </a:p>
        </p:txBody>
      </p:sp>
      <p:sp>
        <p:nvSpPr>
          <p:cNvPr id="10" name="Text 7"/>
          <p:cNvSpPr txBox="1"/>
          <p:nvPr/>
        </p:nvSpPr>
        <p:spPr>
          <a:xfrm>
            <a:off x="621792" y="201168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Enable IP and account blocking</a:t>
            </a:r>
            <a:endParaRPr lang="en-US" sz="1200" dirty="0"/>
          </a:p>
        </p:txBody>
      </p:sp>
      <p:sp>
        <p:nvSpPr>
          <p:cNvPr id="11" name="Shape 8"/>
          <p:cNvSpPr/>
          <p:nvPr/>
        </p:nvSpPr>
        <p:spPr>
          <a:xfrm>
            <a:off x="2542032" y="1051560"/>
            <a:ext cx="1938528" cy="1627632"/>
          </a:xfrm>
          <a:prstGeom prst="roundRect">
            <a:avLst>
              <a:gd name="adj" fmla="val 4494"/>
            </a:avLst>
          </a:prstGeom>
          <a:solidFill>
            <a:srgbClr val="F2F6F9"/>
          </a:solidFill>
          <a:ln w="12700">
            <a:solidFill>
              <a:srgbClr val="F2F6F9"/>
            </a:solidFill>
            <a:prstDash val="solid"/>
          </a:ln>
        </p:spPr>
      </p:sp>
      <p:sp>
        <p:nvSpPr>
          <p:cNvPr id="12" name="Shape 9"/>
          <p:cNvSpPr/>
          <p:nvPr/>
        </p:nvSpPr>
        <p:spPr>
          <a:xfrm>
            <a:off x="2706624" y="1216152"/>
            <a:ext cx="384048" cy="384048"/>
          </a:xfrm>
          <a:prstGeom prst="ellipse">
            <a:avLst/>
          </a:prstGeom>
          <a:solidFill>
            <a:srgbClr val="1FA2A6"/>
          </a:solidFill>
          <a:ln w="12700">
            <a:solidFill>
              <a:srgbClr val="1FA2A6"/>
            </a:solidFill>
            <a:prstDash val="solid"/>
          </a:ln>
        </p:spPr>
      </p:sp>
      <p:sp>
        <p:nvSpPr>
          <p:cNvPr id="13" name="Text 10"/>
          <p:cNvSpPr txBox="1"/>
          <p:nvPr/>
        </p:nvSpPr>
        <p:spPr>
          <a:xfrm>
            <a:off x="2706624" y="1216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2706624" y="167335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Password spraying</a:t>
            </a:r>
            <a:endParaRPr lang="en-US" sz="1300" dirty="0"/>
          </a:p>
        </p:txBody>
      </p:sp>
      <p:sp>
        <p:nvSpPr>
          <p:cNvPr id="15" name="Text 12"/>
          <p:cNvSpPr txBox="1"/>
          <p:nvPr/>
        </p:nvSpPr>
        <p:spPr>
          <a:xfrm>
            <a:off x="2706624" y="201168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Many usernames from one IP (T1110.003)</a:t>
            </a:r>
            <a:endParaRPr lang="en-US" sz="1200" dirty="0"/>
          </a:p>
        </p:txBody>
      </p:sp>
      <p:sp>
        <p:nvSpPr>
          <p:cNvPr id="16" name="Shape 13"/>
          <p:cNvSpPr/>
          <p:nvPr/>
        </p:nvSpPr>
        <p:spPr>
          <a:xfrm>
            <a:off x="4626864" y="1051560"/>
            <a:ext cx="1938528" cy="1627632"/>
          </a:xfrm>
          <a:prstGeom prst="roundRect">
            <a:avLst>
              <a:gd name="adj" fmla="val 4494"/>
            </a:avLst>
          </a:prstGeom>
          <a:solidFill>
            <a:srgbClr val="F2F6F9"/>
          </a:solidFill>
          <a:ln w="12700">
            <a:solidFill>
              <a:srgbClr val="F2F6F9"/>
            </a:solidFill>
            <a:prstDash val="solid"/>
          </a:ln>
        </p:spPr>
      </p:sp>
      <p:sp>
        <p:nvSpPr>
          <p:cNvPr id="17" name="Shape 14"/>
          <p:cNvSpPr/>
          <p:nvPr/>
        </p:nvSpPr>
        <p:spPr>
          <a:xfrm>
            <a:off x="4791456" y="1216152"/>
            <a:ext cx="384048" cy="384048"/>
          </a:xfrm>
          <a:prstGeom prst="ellipse">
            <a:avLst/>
          </a:prstGeom>
          <a:solidFill>
            <a:srgbClr val="0B1F33"/>
          </a:solidFill>
          <a:ln w="12700">
            <a:solidFill>
              <a:srgbClr val="0B1F33"/>
            </a:solidFill>
            <a:prstDash val="solid"/>
          </a:ln>
        </p:spPr>
      </p:sp>
      <p:sp>
        <p:nvSpPr>
          <p:cNvPr id="18" name="Text 15"/>
          <p:cNvSpPr txBox="1"/>
          <p:nvPr/>
        </p:nvSpPr>
        <p:spPr>
          <a:xfrm>
            <a:off x="4791456" y="1216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4791456" y="167335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Scan detection</a:t>
            </a:r>
            <a:endParaRPr lang="en-US" sz="1300" dirty="0"/>
          </a:p>
        </p:txBody>
      </p:sp>
      <p:sp>
        <p:nvSpPr>
          <p:cNvPr id="20" name="Text 17"/>
          <p:cNvSpPr txBox="1"/>
          <p:nvPr/>
        </p:nvSpPr>
        <p:spPr>
          <a:xfrm>
            <a:off x="4791456" y="201168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Many paths hit quickly by one IP</a:t>
            </a:r>
            <a:endParaRPr lang="en-US" sz="1200" dirty="0"/>
          </a:p>
        </p:txBody>
      </p:sp>
      <p:sp>
        <p:nvSpPr>
          <p:cNvPr id="21" name="Shape 18"/>
          <p:cNvSpPr/>
          <p:nvPr/>
        </p:nvSpPr>
        <p:spPr>
          <a:xfrm>
            <a:off x="6711696" y="1051560"/>
            <a:ext cx="1938528" cy="1627632"/>
          </a:xfrm>
          <a:prstGeom prst="roundRect">
            <a:avLst>
              <a:gd name="adj" fmla="val 4494"/>
            </a:avLst>
          </a:prstGeom>
          <a:solidFill>
            <a:srgbClr val="F2F6F9"/>
          </a:solidFill>
          <a:ln w="12700">
            <a:solidFill>
              <a:srgbClr val="F2F6F9"/>
            </a:solidFill>
            <a:prstDash val="solid"/>
          </a:ln>
        </p:spPr>
      </p:sp>
      <p:sp>
        <p:nvSpPr>
          <p:cNvPr id="22" name="Shape 19"/>
          <p:cNvSpPr/>
          <p:nvPr/>
        </p:nvSpPr>
        <p:spPr>
          <a:xfrm>
            <a:off x="6876288" y="1216152"/>
            <a:ext cx="384048" cy="384048"/>
          </a:xfrm>
          <a:prstGeom prst="ellipse">
            <a:avLst/>
          </a:prstGeom>
          <a:solidFill>
            <a:srgbClr val="1FA2A6"/>
          </a:solidFill>
          <a:ln w="12700">
            <a:solidFill>
              <a:srgbClr val="1FA2A6"/>
            </a:solidFill>
            <a:prstDash val="solid"/>
          </a:ln>
        </p:spPr>
      </p:sp>
      <p:sp>
        <p:nvSpPr>
          <p:cNvPr id="23" name="Text 20"/>
          <p:cNvSpPr txBox="1"/>
          <p:nvPr/>
        </p:nvSpPr>
        <p:spPr>
          <a:xfrm>
            <a:off x="6876288" y="1216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876288" y="167335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Scheduler</a:t>
            </a:r>
            <a:endParaRPr lang="en-US" sz="1300" dirty="0"/>
          </a:p>
        </p:txBody>
      </p:sp>
      <p:sp>
        <p:nvSpPr>
          <p:cNvPr id="25" name="Text 22"/>
          <p:cNvSpPr txBox="1"/>
          <p:nvPr/>
        </p:nvSpPr>
        <p:spPr>
          <a:xfrm>
            <a:off x="6876288" y="201168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Background detection with de-duplication</a:t>
            </a:r>
            <a:endParaRPr lang="en-US" sz="1200" dirty="0"/>
          </a:p>
        </p:txBody>
      </p:sp>
      <p:sp>
        <p:nvSpPr>
          <p:cNvPr id="26" name="Shape 23"/>
          <p:cNvSpPr/>
          <p:nvPr/>
        </p:nvSpPr>
        <p:spPr>
          <a:xfrm>
            <a:off x="457200" y="2834640"/>
            <a:ext cx="1938528" cy="1627632"/>
          </a:xfrm>
          <a:prstGeom prst="roundRect">
            <a:avLst>
              <a:gd name="adj" fmla="val 4494"/>
            </a:avLst>
          </a:prstGeom>
          <a:solidFill>
            <a:srgbClr val="F2F6F9"/>
          </a:solidFill>
          <a:ln w="12700">
            <a:solidFill>
              <a:srgbClr val="F2F6F9"/>
            </a:solidFill>
            <a:prstDash val="solid"/>
          </a:ln>
        </p:spPr>
      </p:sp>
      <p:sp>
        <p:nvSpPr>
          <p:cNvPr id="27" name="Shape 24"/>
          <p:cNvSpPr/>
          <p:nvPr/>
        </p:nvSpPr>
        <p:spPr>
          <a:xfrm>
            <a:off x="621792" y="2999232"/>
            <a:ext cx="384048" cy="384048"/>
          </a:xfrm>
          <a:prstGeom prst="ellipse">
            <a:avLst/>
          </a:prstGeom>
          <a:solidFill>
            <a:srgbClr val="0B1F33"/>
          </a:solidFill>
          <a:ln w="12700">
            <a:solidFill>
              <a:srgbClr val="0B1F33"/>
            </a:solidFill>
            <a:prstDash val="solid"/>
          </a:ln>
        </p:spPr>
      </p:sp>
      <p:sp>
        <p:nvSpPr>
          <p:cNvPr id="28" name="Text 25"/>
          <p:cNvSpPr txBox="1"/>
          <p:nvPr/>
        </p:nvSpPr>
        <p:spPr>
          <a:xfrm>
            <a:off x="621792"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txBox="1"/>
          <p:nvPr/>
        </p:nvSpPr>
        <p:spPr>
          <a:xfrm>
            <a:off x="621792" y="345643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More log sources</a:t>
            </a:r>
            <a:endParaRPr lang="en-US" sz="1300" dirty="0"/>
          </a:p>
        </p:txBody>
      </p:sp>
      <p:sp>
        <p:nvSpPr>
          <p:cNvPr id="30" name="Text 27"/>
          <p:cNvSpPr txBox="1"/>
          <p:nvPr/>
        </p:nvSpPr>
        <p:spPr>
          <a:xfrm>
            <a:off x="621792" y="379476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Windows, firewall and DNS logs</a:t>
            </a:r>
            <a:endParaRPr lang="en-US" sz="1200" dirty="0"/>
          </a:p>
        </p:txBody>
      </p:sp>
      <p:sp>
        <p:nvSpPr>
          <p:cNvPr id="31" name="Shape 28"/>
          <p:cNvSpPr/>
          <p:nvPr/>
        </p:nvSpPr>
        <p:spPr>
          <a:xfrm>
            <a:off x="2542032" y="2834640"/>
            <a:ext cx="1938528" cy="1627632"/>
          </a:xfrm>
          <a:prstGeom prst="roundRect">
            <a:avLst>
              <a:gd name="adj" fmla="val 4494"/>
            </a:avLst>
          </a:prstGeom>
          <a:solidFill>
            <a:srgbClr val="F2F6F9"/>
          </a:solidFill>
          <a:ln w="12700">
            <a:solidFill>
              <a:srgbClr val="F2F6F9"/>
            </a:solidFill>
            <a:prstDash val="solid"/>
          </a:ln>
        </p:spPr>
      </p:sp>
      <p:sp>
        <p:nvSpPr>
          <p:cNvPr id="32" name="Shape 29"/>
          <p:cNvSpPr/>
          <p:nvPr/>
        </p:nvSpPr>
        <p:spPr>
          <a:xfrm>
            <a:off x="2706624" y="2999232"/>
            <a:ext cx="384048" cy="384048"/>
          </a:xfrm>
          <a:prstGeom prst="ellipse">
            <a:avLst/>
          </a:prstGeom>
          <a:solidFill>
            <a:srgbClr val="1FA2A6"/>
          </a:solidFill>
          <a:ln w="12700">
            <a:solidFill>
              <a:srgbClr val="1FA2A6"/>
            </a:solidFill>
            <a:prstDash val="solid"/>
          </a:ln>
        </p:spPr>
      </p:sp>
      <p:sp>
        <p:nvSpPr>
          <p:cNvPr id="33" name="Text 30"/>
          <p:cNvSpPr txBox="1"/>
          <p:nvPr/>
        </p:nvSpPr>
        <p:spPr>
          <a:xfrm>
            <a:off x="2706624"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1"/>
          <p:cNvSpPr txBox="1"/>
          <p:nvPr/>
        </p:nvSpPr>
        <p:spPr>
          <a:xfrm>
            <a:off x="2706624" y="345643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Notifications</a:t>
            </a:r>
            <a:endParaRPr lang="en-US" sz="1300" dirty="0"/>
          </a:p>
        </p:txBody>
      </p:sp>
      <p:sp>
        <p:nvSpPr>
          <p:cNvPr id="35" name="Text 32"/>
          <p:cNvSpPr txBox="1"/>
          <p:nvPr/>
        </p:nvSpPr>
        <p:spPr>
          <a:xfrm>
            <a:off x="2706624" y="379476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E-mail / Telegram alerts</a:t>
            </a:r>
            <a:endParaRPr lang="en-US" sz="1200" dirty="0"/>
          </a:p>
        </p:txBody>
      </p:sp>
      <p:sp>
        <p:nvSpPr>
          <p:cNvPr id="36" name="Shape 33"/>
          <p:cNvSpPr/>
          <p:nvPr/>
        </p:nvSpPr>
        <p:spPr>
          <a:xfrm>
            <a:off x="4626864" y="2834640"/>
            <a:ext cx="1938528" cy="1627632"/>
          </a:xfrm>
          <a:prstGeom prst="roundRect">
            <a:avLst>
              <a:gd name="adj" fmla="val 4494"/>
            </a:avLst>
          </a:prstGeom>
          <a:solidFill>
            <a:srgbClr val="F2F6F9"/>
          </a:solidFill>
          <a:ln w="12700">
            <a:solidFill>
              <a:srgbClr val="F2F6F9"/>
            </a:solidFill>
            <a:prstDash val="solid"/>
          </a:ln>
        </p:spPr>
      </p:sp>
      <p:sp>
        <p:nvSpPr>
          <p:cNvPr id="37" name="Shape 34"/>
          <p:cNvSpPr/>
          <p:nvPr/>
        </p:nvSpPr>
        <p:spPr>
          <a:xfrm>
            <a:off x="4791456" y="2999232"/>
            <a:ext cx="384048" cy="384048"/>
          </a:xfrm>
          <a:prstGeom prst="ellipse">
            <a:avLst/>
          </a:prstGeom>
          <a:solidFill>
            <a:srgbClr val="0B1F33"/>
          </a:solidFill>
          <a:ln w="12700">
            <a:solidFill>
              <a:srgbClr val="0B1F33"/>
            </a:solidFill>
            <a:prstDash val="solid"/>
          </a:ln>
        </p:spPr>
      </p:sp>
      <p:sp>
        <p:nvSpPr>
          <p:cNvPr id="38" name="Text 35"/>
          <p:cNvSpPr txBox="1"/>
          <p:nvPr/>
        </p:nvSpPr>
        <p:spPr>
          <a:xfrm>
            <a:off x="4791456"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Text 36"/>
          <p:cNvSpPr txBox="1"/>
          <p:nvPr/>
        </p:nvSpPr>
        <p:spPr>
          <a:xfrm>
            <a:off x="4791456" y="345643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Threat intel</a:t>
            </a:r>
            <a:endParaRPr lang="en-US" sz="1300" dirty="0"/>
          </a:p>
        </p:txBody>
      </p:sp>
      <p:sp>
        <p:nvSpPr>
          <p:cNvPr id="40" name="Text 37"/>
          <p:cNvSpPr txBox="1"/>
          <p:nvPr/>
        </p:nvSpPr>
        <p:spPr>
          <a:xfrm>
            <a:off x="4791456" y="379476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GeoIP and IP reputation</a:t>
            </a:r>
            <a:endParaRPr lang="en-US" sz="1200" dirty="0"/>
          </a:p>
        </p:txBody>
      </p:sp>
      <p:sp>
        <p:nvSpPr>
          <p:cNvPr id="41" name="Shape 38"/>
          <p:cNvSpPr/>
          <p:nvPr/>
        </p:nvSpPr>
        <p:spPr>
          <a:xfrm>
            <a:off x="6711696" y="2834640"/>
            <a:ext cx="1938528" cy="1627632"/>
          </a:xfrm>
          <a:prstGeom prst="roundRect">
            <a:avLst>
              <a:gd name="adj" fmla="val 4494"/>
            </a:avLst>
          </a:prstGeom>
          <a:solidFill>
            <a:srgbClr val="F2F6F9"/>
          </a:solidFill>
          <a:ln w="12700">
            <a:solidFill>
              <a:srgbClr val="F2F6F9"/>
            </a:solidFill>
            <a:prstDash val="solid"/>
          </a:ln>
        </p:spPr>
      </p:sp>
      <p:sp>
        <p:nvSpPr>
          <p:cNvPr id="42" name="Shape 39"/>
          <p:cNvSpPr/>
          <p:nvPr/>
        </p:nvSpPr>
        <p:spPr>
          <a:xfrm>
            <a:off x="6876288" y="2999232"/>
            <a:ext cx="384048" cy="384048"/>
          </a:xfrm>
          <a:prstGeom prst="ellipse">
            <a:avLst/>
          </a:prstGeom>
          <a:solidFill>
            <a:srgbClr val="1FA2A6"/>
          </a:solidFill>
          <a:ln w="12700">
            <a:solidFill>
              <a:srgbClr val="1FA2A6"/>
            </a:solidFill>
            <a:prstDash val="solid"/>
          </a:ln>
        </p:spPr>
      </p:sp>
      <p:sp>
        <p:nvSpPr>
          <p:cNvPr id="43" name="Text 40"/>
          <p:cNvSpPr txBox="1"/>
          <p:nvPr/>
        </p:nvSpPr>
        <p:spPr>
          <a:xfrm>
            <a:off x="6876288"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4" name="Text 41"/>
          <p:cNvSpPr txBox="1"/>
          <p:nvPr/>
        </p:nvSpPr>
        <p:spPr>
          <a:xfrm>
            <a:off x="6876288" y="3456432"/>
            <a:ext cx="1691640" cy="320040"/>
          </a:xfrm>
          <a:prstGeom prst="rect">
            <a:avLst/>
          </a:prstGeom>
          <a:noFill/>
          <a:ln/>
        </p:spPr>
        <p:txBody>
          <a:bodyPr wrap="square" lIns="0" tIns="0" rIns="0" bIns="0" rtlCol="0" anchor="ctr"/>
          <a:lstStyle/>
          <a:p>
            <a:pPr indent="0" marL="0">
              <a:buNone/>
            </a:pPr>
            <a:r>
              <a:rPr lang="en-US" sz="1300" b="1" dirty="0">
                <a:solidFill>
                  <a:srgbClr val="0B1F33"/>
                </a:solidFill>
                <a:latin typeface="Calibri" pitchFamily="34" charset="0"/>
                <a:ea typeface="Calibri" pitchFamily="34" charset="-122"/>
                <a:cs typeface="Calibri" pitchFamily="34" charset="-120"/>
              </a:rPr>
              <a:t>Hardening</a:t>
            </a:r>
            <a:endParaRPr lang="en-US" sz="1300" dirty="0"/>
          </a:p>
        </p:txBody>
      </p:sp>
      <p:sp>
        <p:nvSpPr>
          <p:cNvPr id="45" name="Text 42"/>
          <p:cNvSpPr txBox="1"/>
          <p:nvPr/>
        </p:nvSpPr>
        <p:spPr>
          <a:xfrm>
            <a:off x="6876288" y="3794760"/>
            <a:ext cx="164592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TLS, auth plugin, rate limiting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3"/>
        </a:solidFill>
      </p:bgPr>
    </p:bg>
    <p:spTree>
      <p:nvGrpSpPr>
        <p:cNvPr id="1" name=""/>
        <p:cNvGrpSpPr/>
        <p:nvPr/>
      </p:nvGrpSpPr>
      <p:grpSpPr>
        <a:xfrm>
          <a:off x="0" y="0"/>
          <a:ext cx="0" cy="0"/>
          <a:chOff x="0" y="0"/>
          <a:chExt cx="0" cy="0"/>
        </a:xfrm>
      </p:grpSpPr>
      <p:sp>
        <p:nvSpPr>
          <p:cNvPr id="116" name="Motif 116"/>
          <p:cNvSpPr/>
          <p:nvPr/>
        </p:nvSpPr>
        <p:spPr>
          <a:xfrm>
            <a:off x="8549640" y="4526280"/>
            <a:ext cx="1645920" cy="1645920"/>
          </a:xfrm>
          <a:prstGeom prst="ellipse">
            <a:avLst/>
          </a:prstGeom>
          <a:noFill/>
          <a:ln w="12700">
            <a:solidFill>
              <a:srgbClr val="1FA2A6">
                <a:alpha val="35000"/>
              </a:srgbClr>
            </a:solidFill>
          </a:ln>
        </p:spPr>
      </p:sp>
      <p:sp>
        <p:nvSpPr>
          <p:cNvPr id="117" name="Motif 117"/>
          <p:cNvSpPr/>
          <p:nvPr/>
        </p:nvSpPr>
        <p:spPr>
          <a:xfrm>
            <a:off x="8001000" y="3977640"/>
            <a:ext cx="2743200" cy="2743200"/>
          </a:xfrm>
          <a:prstGeom prst="ellipse">
            <a:avLst/>
          </a:prstGeom>
          <a:noFill/>
          <a:ln w="12700">
            <a:solidFill>
              <a:srgbClr val="1FA2A6">
                <a:alpha val="25000"/>
              </a:srgbClr>
            </a:solidFill>
          </a:ln>
        </p:spPr>
      </p:sp>
      <p:sp>
        <p:nvSpPr>
          <p:cNvPr id="118" name="Motif 118"/>
          <p:cNvSpPr/>
          <p:nvPr/>
        </p:nvSpPr>
        <p:spPr>
          <a:xfrm>
            <a:off x="7452360" y="3429000"/>
            <a:ext cx="3840480" cy="3840480"/>
          </a:xfrm>
          <a:prstGeom prst="ellipse">
            <a:avLst/>
          </a:prstGeom>
          <a:noFill/>
          <a:ln w="12700">
            <a:solidFill>
              <a:srgbClr val="1FA2A6">
                <a:alpha val="16000"/>
              </a:srgbClr>
            </a:solidFill>
          </a:ln>
        </p:spPr>
      </p:sp>
      <p:sp>
        <p:nvSpPr>
          <p:cNvPr id="119" name="Motif 119"/>
          <p:cNvSpPr/>
          <p:nvPr/>
        </p:nvSpPr>
        <p:spPr>
          <a:xfrm>
            <a:off x="6903720" y="2880360"/>
            <a:ext cx="4937760" cy="4937760"/>
          </a:xfrm>
          <a:prstGeom prst="ellipse">
            <a:avLst/>
          </a:prstGeom>
          <a:noFill/>
          <a:ln w="12700">
            <a:solidFill>
              <a:srgbClr val="1FA2A6">
                <a:alpha val="10000"/>
              </a:srgbClr>
            </a:solidFill>
          </a:ln>
        </p:spPr>
      </p:sp>
      <p:cxnSp>
        <p:nvCxnSpPr>
          <p:cNvPr id="120" name="Motif 120"/>
          <p:cNvCxnSpPr/>
          <p:nvPr/>
        </p:nvCxnSpPr>
        <p:spPr>
          <a:xfrm flipV="1">
            <a:off x="7413955" y="360639"/>
            <a:ext cx="344729" cy="272125"/>
          </a:xfrm>
          <a:prstGeom prst="line">
            <a:avLst/>
          </a:prstGeom>
          <a:ln w="9525">
            <a:solidFill>
              <a:srgbClr val="1FA2A6">
                <a:alpha val="55000"/>
              </a:srgbClr>
            </a:solidFill>
          </a:ln>
        </p:spPr>
      </p:cxnSp>
      <p:cxnSp>
        <p:nvCxnSpPr>
          <p:cNvPr id="121" name="Motif 121"/>
          <p:cNvCxnSpPr/>
          <p:nvPr/>
        </p:nvCxnSpPr>
        <p:spPr>
          <a:xfrm>
            <a:off x="7413955" y="632765"/>
            <a:ext cx="424282" cy="147401"/>
          </a:xfrm>
          <a:prstGeom prst="line">
            <a:avLst/>
          </a:prstGeom>
          <a:ln w="9525">
            <a:solidFill>
              <a:srgbClr val="1FA2A6">
                <a:alpha val="55000"/>
              </a:srgbClr>
            </a:solidFill>
          </a:ln>
        </p:spPr>
      </p:cxnSp>
      <p:cxnSp>
        <p:nvCxnSpPr>
          <p:cNvPr id="122" name="Motif 122"/>
          <p:cNvCxnSpPr/>
          <p:nvPr/>
        </p:nvCxnSpPr>
        <p:spPr>
          <a:xfrm>
            <a:off x="7758684" y="360639"/>
            <a:ext cx="397764" cy="192756"/>
          </a:xfrm>
          <a:prstGeom prst="line">
            <a:avLst/>
          </a:prstGeom>
          <a:ln w="9525">
            <a:solidFill>
              <a:srgbClr val="1FA2A6">
                <a:alpha val="55000"/>
              </a:srgbClr>
            </a:solidFill>
          </a:ln>
        </p:spPr>
      </p:cxnSp>
      <p:cxnSp>
        <p:nvCxnSpPr>
          <p:cNvPr id="123" name="Motif 123"/>
          <p:cNvCxnSpPr/>
          <p:nvPr/>
        </p:nvCxnSpPr>
        <p:spPr>
          <a:xfrm flipV="1">
            <a:off x="7838237" y="553395"/>
            <a:ext cx="318211" cy="226771"/>
          </a:xfrm>
          <a:prstGeom prst="line">
            <a:avLst/>
          </a:prstGeom>
          <a:ln w="9525">
            <a:solidFill>
              <a:srgbClr val="1FA2A6">
                <a:alpha val="55000"/>
              </a:srgbClr>
            </a:solidFill>
          </a:ln>
        </p:spPr>
      </p:cxnSp>
      <p:cxnSp>
        <p:nvCxnSpPr>
          <p:cNvPr id="124" name="Motif 124"/>
          <p:cNvCxnSpPr/>
          <p:nvPr/>
        </p:nvCxnSpPr>
        <p:spPr>
          <a:xfrm flipV="1">
            <a:off x="8156448" y="337962"/>
            <a:ext cx="318211" cy="215433"/>
          </a:xfrm>
          <a:prstGeom prst="line">
            <a:avLst/>
          </a:prstGeom>
          <a:ln w="9525">
            <a:solidFill>
              <a:srgbClr val="1FA2A6">
                <a:alpha val="55000"/>
              </a:srgbClr>
            </a:solidFill>
          </a:ln>
        </p:spPr>
      </p:cxnSp>
      <p:cxnSp>
        <p:nvCxnSpPr>
          <p:cNvPr id="125" name="Motif 125"/>
          <p:cNvCxnSpPr/>
          <p:nvPr/>
        </p:nvCxnSpPr>
        <p:spPr>
          <a:xfrm>
            <a:off x="8156448" y="553395"/>
            <a:ext cx="490576" cy="147401"/>
          </a:xfrm>
          <a:prstGeom prst="line">
            <a:avLst/>
          </a:prstGeom>
          <a:ln w="9525">
            <a:solidFill>
              <a:srgbClr val="1FA2A6">
                <a:alpha val="55000"/>
              </a:srgbClr>
            </a:solidFill>
          </a:ln>
        </p:spPr>
      </p:cxnSp>
      <p:cxnSp>
        <p:nvCxnSpPr>
          <p:cNvPr id="126" name="Motif 126"/>
          <p:cNvCxnSpPr/>
          <p:nvPr/>
        </p:nvCxnSpPr>
        <p:spPr>
          <a:xfrm>
            <a:off x="8474659" y="337962"/>
            <a:ext cx="172364" cy="362834"/>
          </a:xfrm>
          <a:prstGeom prst="line">
            <a:avLst/>
          </a:prstGeom>
          <a:ln w="9525">
            <a:solidFill>
              <a:srgbClr val="1FA2A6">
                <a:alpha val="55000"/>
              </a:srgbClr>
            </a:solidFill>
          </a:ln>
        </p:spPr>
      </p:cxnSp>
      <p:sp>
        <p:nvSpPr>
          <p:cNvPr id="127" name="Motif 127"/>
          <p:cNvSpPr/>
          <p:nvPr/>
        </p:nvSpPr>
        <p:spPr>
          <a:xfrm>
            <a:off x="7360463" y="579272"/>
            <a:ext cx="106985" cy="106985"/>
          </a:xfrm>
          <a:prstGeom prst="ellipse">
            <a:avLst/>
          </a:prstGeom>
          <a:solidFill>
            <a:srgbClr val="1FA2A6">
              <a:alpha val="90000"/>
            </a:srgbClr>
          </a:solidFill>
          <a:ln>
            <a:noFill/>
          </a:ln>
        </p:spPr>
      </p:sp>
      <p:sp>
        <p:nvSpPr>
          <p:cNvPr id="128" name="Motif 128"/>
          <p:cNvSpPr/>
          <p:nvPr/>
        </p:nvSpPr>
        <p:spPr>
          <a:xfrm>
            <a:off x="7717079" y="319034"/>
            <a:ext cx="83210" cy="83210"/>
          </a:xfrm>
          <a:prstGeom prst="ellipse">
            <a:avLst/>
          </a:prstGeom>
          <a:solidFill>
            <a:srgbClr val="B8C7D6">
              <a:alpha val="90000"/>
            </a:srgbClr>
          </a:solidFill>
          <a:ln>
            <a:noFill/>
          </a:ln>
        </p:spPr>
      </p:sp>
      <p:sp>
        <p:nvSpPr>
          <p:cNvPr id="129" name="Motif 129"/>
          <p:cNvSpPr/>
          <p:nvPr/>
        </p:nvSpPr>
        <p:spPr>
          <a:xfrm>
            <a:off x="7802575" y="744504"/>
            <a:ext cx="71323" cy="71323"/>
          </a:xfrm>
          <a:prstGeom prst="ellipse">
            <a:avLst/>
          </a:prstGeom>
          <a:solidFill>
            <a:srgbClr val="B8C7D6">
              <a:alpha val="90000"/>
            </a:srgbClr>
          </a:solidFill>
          <a:ln>
            <a:noFill/>
          </a:ln>
        </p:spPr>
      </p:sp>
      <p:sp>
        <p:nvSpPr>
          <p:cNvPr id="130" name="Motif 130"/>
          <p:cNvSpPr/>
          <p:nvPr/>
        </p:nvSpPr>
        <p:spPr>
          <a:xfrm>
            <a:off x="8082153" y="479100"/>
            <a:ext cx="148590" cy="148590"/>
          </a:xfrm>
          <a:prstGeom prst="ellipse">
            <a:avLst/>
          </a:prstGeom>
          <a:solidFill>
            <a:srgbClr val="E63946">
              <a:alpha val="90000"/>
            </a:srgbClr>
          </a:solidFill>
          <a:ln>
            <a:noFill/>
          </a:ln>
        </p:spPr>
      </p:sp>
      <p:sp>
        <p:nvSpPr>
          <p:cNvPr id="131" name="Motif 131"/>
          <p:cNvSpPr/>
          <p:nvPr/>
        </p:nvSpPr>
        <p:spPr>
          <a:xfrm>
            <a:off x="8430082" y="293385"/>
            <a:ext cx="89154" cy="89154"/>
          </a:xfrm>
          <a:prstGeom prst="ellipse">
            <a:avLst/>
          </a:prstGeom>
          <a:solidFill>
            <a:srgbClr val="1FA2A6">
              <a:alpha val="90000"/>
            </a:srgbClr>
          </a:solidFill>
          <a:ln>
            <a:noFill/>
          </a:ln>
        </p:spPr>
      </p:sp>
      <p:sp>
        <p:nvSpPr>
          <p:cNvPr id="132" name="Motif 132"/>
          <p:cNvSpPr/>
          <p:nvPr/>
        </p:nvSpPr>
        <p:spPr>
          <a:xfrm>
            <a:off x="8596503" y="650276"/>
            <a:ext cx="101041" cy="101041"/>
          </a:xfrm>
          <a:prstGeom prst="ellipse">
            <a:avLst/>
          </a:prstGeom>
          <a:solidFill>
            <a:srgbClr val="1FA2A6">
              <a:alpha val="90000"/>
            </a:srgbClr>
          </a:solidFill>
          <a:ln>
            <a:noFill/>
          </a:ln>
        </p:spPr>
      </p:sp>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188720"/>
            <a:ext cx="384048" cy="384048"/>
          </a:xfrm>
          <a:prstGeom prst="ellipse">
            <a:avLst/>
          </a:prstGeom>
          <a:solidFill>
            <a:srgbClr val="1FA2A6"/>
          </a:solidFill>
          <a:ln w="12700">
            <a:solidFill>
              <a:srgbClr val="1FA2A6"/>
            </a:solidFill>
            <a:prstDash val="solid"/>
          </a:ln>
        </p:spPr>
      </p:sp>
      <p:sp>
        <p:nvSpPr>
          <p:cNvPr id="4" name="Text 2"/>
          <p:cNvSpPr txBox="1"/>
          <p:nvPr/>
        </p:nvSpPr>
        <p:spPr>
          <a:xfrm>
            <a:off x="548640" y="1188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43000" y="1097280"/>
            <a:ext cx="749808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Built a complete, working SIEM pipeline from scratch – collect, parse, store, detect, alert and visualise.</a:t>
            </a:r>
            <a:endParaRPr lang="en-US" sz="1500" dirty="0"/>
          </a:p>
        </p:txBody>
      </p:sp>
      <p:sp>
        <p:nvSpPr>
          <p:cNvPr id="6" name="Shape 4"/>
          <p:cNvSpPr/>
          <p:nvPr/>
        </p:nvSpPr>
        <p:spPr>
          <a:xfrm>
            <a:off x="548640" y="2057400"/>
            <a:ext cx="384048" cy="384048"/>
          </a:xfrm>
          <a:prstGeom prst="ellipse">
            <a:avLst/>
          </a:prstGeom>
          <a:solidFill>
            <a:srgbClr val="E63946"/>
          </a:solidFill>
          <a:ln w="12700">
            <a:solidFill>
              <a:srgbClr val="E63946"/>
            </a:solidFill>
            <a:prstDash val="solid"/>
          </a:ln>
        </p:spPr>
      </p:sp>
      <p:sp>
        <p:nvSpPr>
          <p:cNvPr id="7" name="Text 5"/>
          <p:cNvSpPr txBox="1"/>
          <p:nvPr/>
        </p:nvSpPr>
        <p:spPr>
          <a:xfrm>
            <a:off x="548640" y="2057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txBox="1"/>
          <p:nvPr/>
        </p:nvSpPr>
        <p:spPr>
          <a:xfrm>
            <a:off x="1143000" y="1965960"/>
            <a:ext cx="749808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Detects brute force, credential compromise and XSS from real log data, honestly mapped to MITRE ATT&amp;CK and OWASP / CWE.</a:t>
            </a:r>
            <a:endParaRPr lang="en-US" sz="1500" dirty="0"/>
          </a:p>
        </p:txBody>
      </p:sp>
      <p:sp>
        <p:nvSpPr>
          <p:cNvPr id="9" name="Shape 7"/>
          <p:cNvSpPr/>
          <p:nvPr/>
        </p:nvSpPr>
        <p:spPr>
          <a:xfrm>
            <a:off x="548640" y="2926080"/>
            <a:ext cx="384048" cy="384048"/>
          </a:xfrm>
          <a:prstGeom prst="ellipse">
            <a:avLst/>
          </a:prstGeom>
          <a:solidFill>
            <a:srgbClr val="1FA2A6"/>
          </a:solidFill>
          <a:ln w="12700">
            <a:solidFill>
              <a:srgbClr val="1FA2A6"/>
            </a:solidFill>
            <a:prstDash val="solid"/>
          </a:ln>
        </p:spPr>
      </p:sp>
      <p:sp>
        <p:nvSpPr>
          <p:cNvPr id="10" name="Text 8"/>
          <p:cNvSpPr txBox="1"/>
          <p:nvPr/>
        </p:nvSpPr>
        <p:spPr>
          <a:xfrm>
            <a:off x="54864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143000" y="2834640"/>
            <a:ext cx="749808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Role-based live dashboards with server-side session security, deployed with a single Docker Compose command.</a:t>
            </a:r>
            <a:endParaRPr lang="en-US" sz="1500" dirty="0"/>
          </a:p>
        </p:txBody>
      </p:sp>
      <p:sp>
        <p:nvSpPr>
          <p:cNvPr id="12" name="Shape 10"/>
          <p:cNvSpPr/>
          <p:nvPr/>
        </p:nvSpPr>
        <p:spPr>
          <a:xfrm>
            <a:off x="548640" y="3794760"/>
            <a:ext cx="384048" cy="384048"/>
          </a:xfrm>
          <a:prstGeom prst="ellipse">
            <a:avLst/>
          </a:prstGeom>
          <a:solidFill>
            <a:srgbClr val="E63946"/>
          </a:solidFill>
          <a:ln w="12700">
            <a:solidFill>
              <a:srgbClr val="E63946"/>
            </a:solidFill>
            <a:prstDash val="solid"/>
          </a:ln>
        </p:spPr>
      </p:sp>
      <p:sp>
        <p:nvSpPr>
          <p:cNvPr id="13" name="Text 11"/>
          <p:cNvSpPr txBox="1"/>
          <p:nvPr/>
        </p:nvSpPr>
        <p:spPr>
          <a:xfrm>
            <a:off x="54864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1143000" y="3703320"/>
            <a:ext cx="749808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Hands-on skills gained in log management, detection engineering, APIs, search engines and containers – directly relevant to a SOC.</a:t>
            </a:r>
            <a:endParaRPr lang="en-US" sz="1500" dirty="0"/>
          </a:p>
        </p:txBody>
      </p:sp>
      <p:sp>
        <p:nvSpPr>
          <p:cNvPr id="15" name="Text 13"/>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B8C7D6"/>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3"/>
        </a:solidFill>
      </p:bgPr>
    </p:bg>
    <p:spTree>
      <p:nvGrpSpPr>
        <p:cNvPr id="1" name=""/>
        <p:cNvGrpSpPr/>
        <p:nvPr/>
      </p:nvGrpSpPr>
      <p:grpSpPr>
        <a:xfrm>
          <a:off x="0" y="0"/>
          <a:ext cx="0" cy="0"/>
          <a:chOff x="0" y="0"/>
          <a:chExt cx="0" cy="0"/>
        </a:xfrm>
      </p:grpSpPr>
      <p:sp>
        <p:nvSpPr>
          <p:cNvPr id="106" name="Motif 106"/>
          <p:cNvSpPr/>
          <p:nvPr/>
        </p:nvSpPr>
        <p:spPr>
          <a:xfrm>
            <a:off x="8549640" y="4526280"/>
            <a:ext cx="1645920" cy="1645920"/>
          </a:xfrm>
          <a:prstGeom prst="ellipse">
            <a:avLst/>
          </a:prstGeom>
          <a:noFill/>
          <a:ln w="12700">
            <a:solidFill>
              <a:srgbClr val="1FA2A6">
                <a:alpha val="35000"/>
              </a:srgbClr>
            </a:solidFill>
          </a:ln>
        </p:spPr>
      </p:sp>
      <p:sp>
        <p:nvSpPr>
          <p:cNvPr id="107" name="Motif 107"/>
          <p:cNvSpPr/>
          <p:nvPr/>
        </p:nvSpPr>
        <p:spPr>
          <a:xfrm>
            <a:off x="8001000" y="3977640"/>
            <a:ext cx="2743200" cy="2743200"/>
          </a:xfrm>
          <a:prstGeom prst="ellipse">
            <a:avLst/>
          </a:prstGeom>
          <a:noFill/>
          <a:ln w="12700">
            <a:solidFill>
              <a:srgbClr val="1FA2A6">
                <a:alpha val="25000"/>
              </a:srgbClr>
            </a:solidFill>
          </a:ln>
        </p:spPr>
      </p:sp>
      <p:sp>
        <p:nvSpPr>
          <p:cNvPr id="108" name="Motif 108"/>
          <p:cNvSpPr/>
          <p:nvPr/>
        </p:nvSpPr>
        <p:spPr>
          <a:xfrm>
            <a:off x="7452360" y="3429000"/>
            <a:ext cx="3840480" cy="3840480"/>
          </a:xfrm>
          <a:prstGeom prst="ellipse">
            <a:avLst/>
          </a:prstGeom>
          <a:noFill/>
          <a:ln w="12700">
            <a:solidFill>
              <a:srgbClr val="1FA2A6">
                <a:alpha val="16000"/>
              </a:srgbClr>
            </a:solidFill>
          </a:ln>
        </p:spPr>
      </p:sp>
      <p:sp>
        <p:nvSpPr>
          <p:cNvPr id="109" name="Motif 109"/>
          <p:cNvSpPr/>
          <p:nvPr/>
        </p:nvSpPr>
        <p:spPr>
          <a:xfrm>
            <a:off x="6903720" y="2880360"/>
            <a:ext cx="4937760" cy="4937760"/>
          </a:xfrm>
          <a:prstGeom prst="ellipse">
            <a:avLst/>
          </a:prstGeom>
          <a:noFill/>
          <a:ln w="12700">
            <a:solidFill>
              <a:srgbClr val="1FA2A6">
                <a:alpha val="10000"/>
              </a:srgbClr>
            </a:solidFill>
          </a:ln>
        </p:spPr>
      </p:sp>
      <p:sp>
        <p:nvSpPr>
          <p:cNvPr id="110" name="Motif 110"/>
          <p:cNvSpPr/>
          <p:nvPr/>
        </p:nvSpPr>
        <p:spPr>
          <a:xfrm>
            <a:off x="-1051560" y="-1005840"/>
            <a:ext cx="1645920" cy="1645920"/>
          </a:xfrm>
          <a:prstGeom prst="ellipse">
            <a:avLst/>
          </a:prstGeom>
          <a:noFill/>
          <a:ln w="12700">
            <a:solidFill>
              <a:srgbClr val="1FA2A6">
                <a:alpha val="35000"/>
              </a:srgbClr>
            </a:solidFill>
          </a:ln>
        </p:spPr>
      </p:sp>
      <p:sp>
        <p:nvSpPr>
          <p:cNvPr id="111" name="Motif 111"/>
          <p:cNvSpPr/>
          <p:nvPr/>
        </p:nvSpPr>
        <p:spPr>
          <a:xfrm>
            <a:off x="-1600200" y="-1554480"/>
            <a:ext cx="2743200" cy="2743200"/>
          </a:xfrm>
          <a:prstGeom prst="ellipse">
            <a:avLst/>
          </a:prstGeom>
          <a:noFill/>
          <a:ln w="12700">
            <a:solidFill>
              <a:srgbClr val="1FA2A6">
                <a:alpha val="25000"/>
              </a:srgbClr>
            </a:solidFill>
          </a:ln>
        </p:spPr>
      </p:sp>
      <p:sp>
        <p:nvSpPr>
          <p:cNvPr id="112" name="Motif 112"/>
          <p:cNvSpPr/>
          <p:nvPr/>
        </p:nvSpPr>
        <p:spPr>
          <a:xfrm>
            <a:off x="-2148840" y="-2103120"/>
            <a:ext cx="3840480" cy="3840480"/>
          </a:xfrm>
          <a:prstGeom prst="ellipse">
            <a:avLst/>
          </a:prstGeom>
          <a:noFill/>
          <a:ln w="12700">
            <a:solidFill>
              <a:srgbClr val="1FA2A6">
                <a:alpha val="16000"/>
              </a:srgbClr>
            </a:solidFill>
          </a:ln>
        </p:spPr>
      </p:sp>
      <p:sp>
        <p:nvSpPr>
          <p:cNvPr id="113" name="Motif 113"/>
          <p:cNvSpPr/>
          <p:nvPr/>
        </p:nvSpPr>
        <p:spPr>
          <a:xfrm>
            <a:off x="-2697480" y="-2651760"/>
            <a:ext cx="4937760" cy="4937760"/>
          </a:xfrm>
          <a:prstGeom prst="ellipse">
            <a:avLst/>
          </a:prstGeom>
          <a:noFill/>
          <a:ln w="12700">
            <a:solidFill>
              <a:srgbClr val="1FA2A6">
                <a:alpha val="10000"/>
              </a:srgbClr>
            </a:solidFill>
          </a:ln>
        </p:spPr>
      </p:sp>
      <p:cxnSp>
        <p:nvCxnSpPr>
          <p:cNvPr id="114" name="Motif 114"/>
          <p:cNvCxnSpPr/>
          <p:nvPr/>
        </p:nvCxnSpPr>
        <p:spPr>
          <a:xfrm flipV="1">
            <a:off x="557784" y="4411431"/>
            <a:ext cx="356616" cy="272125"/>
          </a:xfrm>
          <a:prstGeom prst="line">
            <a:avLst/>
          </a:prstGeom>
          <a:ln w="9525">
            <a:solidFill>
              <a:srgbClr val="1FA2A6">
                <a:alpha val="45000"/>
              </a:srgbClr>
            </a:solidFill>
          </a:ln>
        </p:spPr>
      </p:cxnSp>
      <p:cxnSp>
        <p:nvCxnSpPr>
          <p:cNvPr id="115" name="Motif 115"/>
          <p:cNvCxnSpPr/>
          <p:nvPr/>
        </p:nvCxnSpPr>
        <p:spPr>
          <a:xfrm>
            <a:off x="557784" y="4683557"/>
            <a:ext cx="438912" cy="147401"/>
          </a:xfrm>
          <a:prstGeom prst="line">
            <a:avLst/>
          </a:prstGeom>
          <a:ln w="9525">
            <a:solidFill>
              <a:srgbClr val="1FA2A6">
                <a:alpha val="45000"/>
              </a:srgbClr>
            </a:solidFill>
          </a:ln>
        </p:spPr>
      </p:cxnSp>
      <p:cxnSp>
        <p:nvCxnSpPr>
          <p:cNvPr id="116" name="Motif 116"/>
          <p:cNvCxnSpPr/>
          <p:nvPr/>
        </p:nvCxnSpPr>
        <p:spPr>
          <a:xfrm>
            <a:off x="914400" y="4411431"/>
            <a:ext cx="411480" cy="192756"/>
          </a:xfrm>
          <a:prstGeom prst="line">
            <a:avLst/>
          </a:prstGeom>
          <a:ln w="9525">
            <a:solidFill>
              <a:srgbClr val="1FA2A6">
                <a:alpha val="45000"/>
              </a:srgbClr>
            </a:solidFill>
          </a:ln>
        </p:spPr>
      </p:cxnSp>
      <p:cxnSp>
        <p:nvCxnSpPr>
          <p:cNvPr id="117" name="Motif 117"/>
          <p:cNvCxnSpPr/>
          <p:nvPr/>
        </p:nvCxnSpPr>
        <p:spPr>
          <a:xfrm flipV="1">
            <a:off x="996696" y="4604187"/>
            <a:ext cx="329184" cy="226771"/>
          </a:xfrm>
          <a:prstGeom prst="line">
            <a:avLst/>
          </a:prstGeom>
          <a:ln w="9525">
            <a:solidFill>
              <a:srgbClr val="1FA2A6">
                <a:alpha val="45000"/>
              </a:srgbClr>
            </a:solidFill>
          </a:ln>
        </p:spPr>
      </p:cxnSp>
      <p:cxnSp>
        <p:nvCxnSpPr>
          <p:cNvPr id="118" name="Motif 118"/>
          <p:cNvCxnSpPr/>
          <p:nvPr/>
        </p:nvCxnSpPr>
        <p:spPr>
          <a:xfrm flipV="1">
            <a:off x="1325880" y="4388754"/>
            <a:ext cx="329184" cy="215433"/>
          </a:xfrm>
          <a:prstGeom prst="line">
            <a:avLst/>
          </a:prstGeom>
          <a:ln w="9525">
            <a:solidFill>
              <a:srgbClr val="1FA2A6">
                <a:alpha val="45000"/>
              </a:srgbClr>
            </a:solidFill>
          </a:ln>
        </p:spPr>
      </p:cxnSp>
      <p:cxnSp>
        <p:nvCxnSpPr>
          <p:cNvPr id="119" name="Motif 119"/>
          <p:cNvCxnSpPr/>
          <p:nvPr/>
        </p:nvCxnSpPr>
        <p:spPr>
          <a:xfrm>
            <a:off x="1325880" y="4604187"/>
            <a:ext cx="507492" cy="147401"/>
          </a:xfrm>
          <a:prstGeom prst="line">
            <a:avLst/>
          </a:prstGeom>
          <a:ln w="9525">
            <a:solidFill>
              <a:srgbClr val="1FA2A6">
                <a:alpha val="45000"/>
              </a:srgbClr>
            </a:solidFill>
          </a:ln>
        </p:spPr>
      </p:cxnSp>
      <p:cxnSp>
        <p:nvCxnSpPr>
          <p:cNvPr id="120" name="Motif 120"/>
          <p:cNvCxnSpPr/>
          <p:nvPr/>
        </p:nvCxnSpPr>
        <p:spPr>
          <a:xfrm>
            <a:off x="1655064" y="4388754"/>
            <a:ext cx="178308" cy="362834"/>
          </a:xfrm>
          <a:prstGeom prst="line">
            <a:avLst/>
          </a:prstGeom>
          <a:ln w="9525">
            <a:solidFill>
              <a:srgbClr val="1FA2A6">
                <a:alpha val="45000"/>
              </a:srgbClr>
            </a:solidFill>
          </a:ln>
        </p:spPr>
      </p:cxnSp>
      <p:sp>
        <p:nvSpPr>
          <p:cNvPr id="121" name="Motif 121"/>
          <p:cNvSpPr/>
          <p:nvPr/>
        </p:nvSpPr>
        <p:spPr>
          <a:xfrm>
            <a:off x="508406" y="4634179"/>
            <a:ext cx="98755" cy="98755"/>
          </a:xfrm>
          <a:prstGeom prst="ellipse">
            <a:avLst/>
          </a:prstGeom>
          <a:solidFill>
            <a:srgbClr val="1FA2A6">
              <a:alpha val="80000"/>
            </a:srgbClr>
          </a:solidFill>
          <a:ln>
            <a:noFill/>
          </a:ln>
        </p:spPr>
      </p:sp>
      <p:sp>
        <p:nvSpPr>
          <p:cNvPr id="122" name="Motif 122"/>
          <p:cNvSpPr/>
          <p:nvPr/>
        </p:nvSpPr>
        <p:spPr>
          <a:xfrm>
            <a:off x="875995" y="4373027"/>
            <a:ext cx="76810" cy="76810"/>
          </a:xfrm>
          <a:prstGeom prst="ellipse">
            <a:avLst/>
          </a:prstGeom>
          <a:solidFill>
            <a:srgbClr val="B8C7D6">
              <a:alpha val="80000"/>
            </a:srgbClr>
          </a:solidFill>
          <a:ln>
            <a:noFill/>
          </a:ln>
        </p:spPr>
      </p:sp>
      <p:sp>
        <p:nvSpPr>
          <p:cNvPr id="123" name="Motif 123"/>
          <p:cNvSpPr/>
          <p:nvPr/>
        </p:nvSpPr>
        <p:spPr>
          <a:xfrm>
            <a:off x="963778" y="4798040"/>
            <a:ext cx="65837" cy="65837"/>
          </a:xfrm>
          <a:prstGeom prst="ellipse">
            <a:avLst/>
          </a:prstGeom>
          <a:solidFill>
            <a:srgbClr val="B8C7D6">
              <a:alpha val="80000"/>
            </a:srgbClr>
          </a:solidFill>
          <a:ln>
            <a:noFill/>
          </a:ln>
        </p:spPr>
      </p:sp>
      <p:sp>
        <p:nvSpPr>
          <p:cNvPr id="124" name="Motif 124"/>
          <p:cNvSpPr/>
          <p:nvPr/>
        </p:nvSpPr>
        <p:spPr>
          <a:xfrm>
            <a:off x="1257300" y="4535607"/>
            <a:ext cx="137160" cy="137160"/>
          </a:xfrm>
          <a:prstGeom prst="ellipse">
            <a:avLst/>
          </a:prstGeom>
          <a:solidFill>
            <a:srgbClr val="E63946">
              <a:alpha val="80000"/>
            </a:srgbClr>
          </a:solidFill>
          <a:ln>
            <a:noFill/>
          </a:ln>
        </p:spPr>
      </p:sp>
      <p:sp>
        <p:nvSpPr>
          <p:cNvPr id="125" name="Motif 125"/>
          <p:cNvSpPr/>
          <p:nvPr/>
        </p:nvSpPr>
        <p:spPr>
          <a:xfrm>
            <a:off x="1613916" y="4347606"/>
            <a:ext cx="82296" cy="82296"/>
          </a:xfrm>
          <a:prstGeom prst="ellipse">
            <a:avLst/>
          </a:prstGeom>
          <a:solidFill>
            <a:srgbClr val="1FA2A6">
              <a:alpha val="80000"/>
            </a:srgbClr>
          </a:solidFill>
          <a:ln>
            <a:noFill/>
          </a:ln>
        </p:spPr>
      </p:sp>
      <p:sp>
        <p:nvSpPr>
          <p:cNvPr id="126" name="Motif 126"/>
          <p:cNvSpPr/>
          <p:nvPr/>
        </p:nvSpPr>
        <p:spPr>
          <a:xfrm>
            <a:off x="1786738" y="4704954"/>
            <a:ext cx="93269" cy="93269"/>
          </a:xfrm>
          <a:prstGeom prst="ellipse">
            <a:avLst/>
          </a:prstGeom>
          <a:solidFill>
            <a:srgbClr val="1FA2A6">
              <a:alpha val="80000"/>
            </a:srgbClr>
          </a:solidFill>
          <a:ln>
            <a:noFill/>
          </a:ln>
        </p:spPr>
      </p:sp>
      <p:sp>
        <p:nvSpPr>
          <p:cNvPr id="2" name="Text 0"/>
          <p:cNvSpPr txBox="1"/>
          <p:nvPr/>
        </p:nvSpPr>
        <p:spPr>
          <a:xfrm>
            <a:off x="457200" y="1371600"/>
            <a:ext cx="822960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286000"/>
            <a:ext cx="8229600" cy="457200"/>
          </a:xfrm>
          <a:prstGeom prst="rect">
            <a:avLst/>
          </a:prstGeom>
          <a:noFill/>
          <a:ln/>
        </p:spPr>
        <p:txBody>
          <a:bodyPr wrap="square" lIns="0" tIns="0" rIns="0" bIns="0" rtlCol="0" anchor="ctr"/>
          <a:lstStyle/>
          <a:p>
            <a:pPr algn="ctr" indent="0" marL="0">
              <a:buNone/>
            </a:pPr>
            <a:r>
              <a:rPr lang="en-US" sz="2200" dirty="0">
                <a:solidFill>
                  <a:srgbClr val="1FA2A6"/>
                </a:solidFill>
                <a:latin typeface="Calibri" pitchFamily="34" charset="0"/>
                <a:ea typeface="Calibri" pitchFamily="34" charset="-122"/>
                <a:cs typeface="Calibri" pitchFamily="34" charset="-120"/>
              </a:rPr>
              <a:t>Questions &amp; Live Demo</a:t>
            </a:r>
            <a:endParaRPr lang="en-US" sz="2200" dirty="0"/>
          </a:p>
        </p:txBody>
      </p:sp>
      <p:sp>
        <p:nvSpPr>
          <p:cNvPr id="4" name="Text 2"/>
          <p:cNvSpPr txBox="1"/>
          <p:nvPr/>
        </p:nvSpPr>
        <p:spPr>
          <a:xfrm>
            <a:off x="457200" y="3291840"/>
            <a:ext cx="8229600" cy="365760"/>
          </a:xfrm>
          <a:prstGeom prst="rect">
            <a:avLst/>
          </a:prstGeom>
          <a:noFill/>
          <a:ln/>
        </p:spPr>
        <p:txBody>
          <a:bodyPr wrap="square" lIns="0" tIns="0" rIns="0" bIns="0" rtlCol="0" anchor="ctr"/>
          <a:lstStyle/>
          <a:p>
            <a:pPr algn="ctr" indent="0" marL="0">
              <a:buNone/>
            </a:pPr>
            <a:r>
              <a:rPr lang="en-US" sz="1300" dirty="0">
                <a:solidFill>
                  <a:srgbClr val="B8C7D6"/>
                </a:solidFill>
                <a:latin typeface="Calibri" pitchFamily="34" charset="0"/>
                <a:ea typeface="Calibri" pitchFamily="34" charset="-122"/>
                <a:cs typeface="Calibri" pitchFamily="34" charset="-120"/>
              </a:rPr>
              <a:t>Student Name  •  (Enrollment No)  •  Guide: Internal Guide Name</a:t>
            </a:r>
            <a:endParaRPr lang="en-US" sz="1300" dirty="0"/>
          </a:p>
        </p:txBody>
      </p:sp>
      <p:sp>
        <p:nvSpPr>
          <p:cNvPr id="5" name="Text 3"/>
          <p:cNvSpPr txBox="1"/>
          <p:nvPr/>
        </p:nvSpPr>
        <p:spPr>
          <a:xfrm>
            <a:off x="457200" y="3657600"/>
            <a:ext cx="8229600" cy="320040"/>
          </a:xfrm>
          <a:prstGeom prst="rect">
            <a:avLst/>
          </a:prstGeom>
          <a:noFill/>
          <a:ln/>
        </p:spPr>
        <p:txBody>
          <a:bodyPr wrap="square" lIns="0" tIns="0" rIns="0" bIns="0" rtlCol="0" anchor="ctr"/>
          <a:lstStyle/>
          <a:p>
            <a:pPr algn="ctr" indent="0" marL="0">
              <a:buNone/>
            </a:pPr>
            <a:r>
              <a:rPr lang="en-US" sz="1200" dirty="0">
                <a:solidFill>
                  <a:srgbClr val="B8C7D6"/>
                </a:solidFill>
                <a:latin typeface="Calibri" pitchFamily="34" charset="0"/>
                <a:ea typeface="Calibri" pitchFamily="34" charset="-122"/>
                <a:cs typeface="Calibri" pitchFamily="34" charset="-120"/>
              </a:rPr>
              <a:t>github.com/jay-sorathiya1/micro-siem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Micro-SIEM – Minor Project</dc:title>
  <dc:subject>PptxGenJS Presentation</dc:subject>
  <dc:creator>PptxGenJS</dc:creator>
  <cp:lastModifiedBy>PptxGenJS</cp:lastModifiedBy>
  <cp:revision>1</cp:revision>
  <dcterms:created xsi:type="dcterms:W3CDTF">2026-09-25T20:23:02Z</dcterms:created>
  <dcterms:modified xsi:type="dcterms:W3CDTF">2026-09-25T20:23:02Z</dcterms:modified>
</cp:coreProperties>
</file>